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5"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wini Kumar  chandravanshi" initials="AK" lastIdx="1" clrIdx="0">
    <p:extLst>
      <p:ext uri="{19B8F6BF-5375-455C-9EA6-DF929625EA0E}">
        <p15:presenceInfo xmlns:p15="http://schemas.microsoft.com/office/powerpoint/2012/main" userId="b78799a2d4b50b0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10" autoAdjust="0"/>
  </p:normalViewPr>
  <p:slideViewPr>
    <p:cSldViewPr snapToGrid="0" snapToObjects="1">
      <p:cViewPr varScale="1">
        <p:scale>
          <a:sx n="113" d="100"/>
          <a:sy n="113" d="100"/>
        </p:scale>
        <p:origin x="586" y="77"/>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06:08:40.165"/>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666459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816034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8675150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95B008-4C65-4304-B2CF-A4F8C49748C9}"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03756299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95B008-4C65-4304-B2CF-A4F8C49748C9}" type="datetimeFigureOut">
              <a:rPr lang="en-IN" smtClean="0"/>
              <a:t>28-04-2026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6638990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7932820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2372912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0715028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93692051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9713358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741209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63585768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7183793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29440006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54996516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49891699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72249156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048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E195B008-4C65-4304-B2CF-A4F8C49748C9}" type="datetimeFigureOut">
              <a:rPr lang="en-IN" smtClean="0"/>
              <a:t>28-04-2026</a:t>
            </a:fld>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FCB1FD86-1F7E-4E2F-8DA2-C349E414DEC5}" type="slidenum">
              <a:rPr lang="en-IN" smtClean="0"/>
              <a:t>‹#›</a:t>
            </a:fld>
            <a:endParaRPr lang="en-IN"/>
          </a:p>
        </p:txBody>
      </p:sp>
    </p:spTree>
    <p:extLst>
      <p:ext uri="{BB962C8B-B14F-4D97-AF65-F5344CB8AC3E}">
        <p14:creationId xmlns:p14="http://schemas.microsoft.com/office/powerpoint/2010/main" val="1577376186"/>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18.xml"/><Relationship Id="rId4" Type="http://schemas.openxmlformats.org/officeDocument/2006/relationships/hyperlink" Target="https://www.researchgate.net/publication/275540896_Bearing_Fault_Diagnosis_using_Wavelet_Packet_Transform_Hybrid_PSO_and_Support_Vector_Machin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0D2547"/>
          </a:solidFill>
          <a:ln w="12700">
            <a:solidFill>
              <a:srgbClr val="0D2547"/>
            </a:solidFill>
            <a:prstDash val="solid"/>
          </a:ln>
        </p:spPr>
      </p:sp>
      <p:sp>
        <p:nvSpPr>
          <p:cNvPr id="3" name="Shape 1"/>
          <p:cNvSpPr/>
          <p:nvPr/>
        </p:nvSpPr>
        <p:spPr>
          <a:xfrm>
            <a:off x="0" y="0"/>
            <a:ext cx="54864" cy="5143500"/>
          </a:xfrm>
          <a:prstGeom prst="rect">
            <a:avLst/>
          </a:prstGeom>
          <a:solidFill>
            <a:srgbClr val="00BCD4"/>
          </a:solidFill>
          <a:ln w="12700">
            <a:solidFill>
              <a:srgbClr val="00BCD4"/>
            </a:solidFill>
            <a:prstDash val="solid"/>
          </a:ln>
        </p:spPr>
      </p:sp>
      <p:sp>
        <p:nvSpPr>
          <p:cNvPr id="4" name="Shape 2"/>
          <p:cNvSpPr/>
          <p:nvPr/>
        </p:nvSpPr>
        <p:spPr>
          <a:xfrm>
            <a:off x="0" y="0"/>
            <a:ext cx="9144000" cy="54864"/>
          </a:xfrm>
          <a:prstGeom prst="rect">
            <a:avLst/>
          </a:prstGeom>
          <a:solidFill>
            <a:srgbClr val="00BCD4"/>
          </a:solidFill>
          <a:ln w="12700">
            <a:solidFill>
              <a:srgbClr val="00BCD4"/>
            </a:solidFill>
            <a:prstDash val="solid"/>
          </a:ln>
        </p:spPr>
      </p:sp>
      <p:sp>
        <p:nvSpPr>
          <p:cNvPr id="6" name="Text 4"/>
          <p:cNvSpPr/>
          <p:nvPr/>
        </p:nvSpPr>
        <p:spPr>
          <a:xfrm>
            <a:off x="365760" y="320040"/>
            <a:ext cx="640080" cy="548640"/>
          </a:xfrm>
          <a:prstGeom prst="rect">
            <a:avLst/>
          </a:prstGeom>
          <a:noFill/>
          <a:ln/>
        </p:spPr>
        <p:txBody>
          <a:bodyPr wrap="square" rtlCol="0" anchor="ctr"/>
          <a:lstStyle/>
          <a:p>
            <a:pPr marL="0" indent="0" algn="ctr">
              <a:buNone/>
            </a:pPr>
            <a:r>
              <a:rPr lang="en-US" sz="700" b="1" dirty="0">
                <a:solidFill>
                  <a:srgbClr val="FFFFFF"/>
                </a:solidFill>
              </a:rPr>
              <a:t>NIT</a:t>
            </a:r>
            <a:endParaRPr lang="en-US" sz="700" dirty="0"/>
          </a:p>
          <a:p>
            <a:pPr marL="0" indent="0" algn="ctr">
              <a:buNone/>
            </a:pPr>
            <a:r>
              <a:rPr lang="en-US" sz="700" b="1" dirty="0">
                <a:solidFill>
                  <a:srgbClr val="FFFFFF"/>
                </a:solidFill>
              </a:rPr>
              <a:t>JSR</a:t>
            </a:r>
            <a:endParaRPr lang="en-US" sz="700" dirty="0"/>
          </a:p>
        </p:txBody>
      </p:sp>
      <p:sp>
        <p:nvSpPr>
          <p:cNvPr id="7" name="Text 5"/>
          <p:cNvSpPr/>
          <p:nvPr/>
        </p:nvSpPr>
        <p:spPr>
          <a:xfrm>
            <a:off x="1097280" y="320040"/>
            <a:ext cx="4663440" cy="365760"/>
          </a:xfrm>
          <a:prstGeom prst="rect">
            <a:avLst/>
          </a:prstGeom>
          <a:noFill/>
          <a:ln/>
        </p:spPr>
        <p:txBody>
          <a:bodyPr wrap="square" rtlCol="0" anchor="ctr"/>
          <a:lstStyle/>
          <a:p>
            <a:pPr marL="0" indent="0">
              <a:buNone/>
            </a:pPr>
            <a:r>
              <a:rPr lang="en-US" sz="900" b="1" kern="0" spc="150" dirty="0">
                <a:solidFill>
                  <a:srgbClr val="00BCD4"/>
                </a:solidFill>
              </a:rPr>
              <a:t>NATIONAL INSTITUTE OF TECHNOLOGY JAMSHEDPUR</a:t>
            </a:r>
            <a:endParaRPr lang="en-US" sz="900" dirty="0"/>
          </a:p>
        </p:txBody>
      </p:sp>
      <p:sp>
        <p:nvSpPr>
          <p:cNvPr id="8" name="Text 6"/>
          <p:cNvSpPr/>
          <p:nvPr/>
        </p:nvSpPr>
        <p:spPr>
          <a:xfrm>
            <a:off x="1097280" y="658368"/>
            <a:ext cx="4663440" cy="274320"/>
          </a:xfrm>
          <a:prstGeom prst="rect">
            <a:avLst/>
          </a:prstGeom>
          <a:noFill/>
          <a:ln/>
        </p:spPr>
        <p:txBody>
          <a:bodyPr wrap="square" rtlCol="0" anchor="ctr"/>
          <a:lstStyle/>
          <a:p>
            <a:pPr marL="0" indent="0">
              <a:buNone/>
            </a:pPr>
            <a:r>
              <a:rPr lang="en-US" sz="900" dirty="0">
                <a:solidFill>
                  <a:srgbClr val="8ECAE6"/>
                </a:solidFill>
              </a:rPr>
              <a:t>Department of Mechanical Engineering</a:t>
            </a:r>
            <a:endParaRPr lang="en-US" sz="900" dirty="0"/>
          </a:p>
        </p:txBody>
      </p:sp>
      <p:sp>
        <p:nvSpPr>
          <p:cNvPr id="9" name="Text 7"/>
          <p:cNvSpPr/>
          <p:nvPr/>
        </p:nvSpPr>
        <p:spPr>
          <a:xfrm>
            <a:off x="365760" y="1097280"/>
            <a:ext cx="5486400" cy="7772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Intelligent Bearing</a:t>
            </a:r>
            <a:endParaRPr lang="en-US" sz="4400" dirty="0"/>
          </a:p>
        </p:txBody>
      </p:sp>
      <p:sp>
        <p:nvSpPr>
          <p:cNvPr id="10" name="Text 8"/>
          <p:cNvSpPr/>
          <p:nvPr/>
        </p:nvSpPr>
        <p:spPr>
          <a:xfrm>
            <a:off x="365760" y="1783080"/>
            <a:ext cx="5486400" cy="777240"/>
          </a:xfrm>
          <a:prstGeom prst="rect">
            <a:avLst/>
          </a:prstGeom>
          <a:noFill/>
          <a:ln/>
        </p:spPr>
        <p:txBody>
          <a:bodyPr wrap="square" rtlCol="0" anchor="ctr"/>
          <a:lstStyle/>
          <a:p>
            <a:pPr marL="0" indent="0">
              <a:buNone/>
            </a:pPr>
            <a:r>
              <a:rPr lang="en-US" sz="4400" b="1" dirty="0">
                <a:solidFill>
                  <a:srgbClr val="00BCD4"/>
                </a:solidFill>
                <a:latin typeface="Calibri" pitchFamily="34" charset="0"/>
                <a:ea typeface="Calibri" pitchFamily="34" charset="-122"/>
                <a:cs typeface="Calibri" pitchFamily="34" charset="-120"/>
              </a:rPr>
              <a:t>Fault Diagnosis</a:t>
            </a:r>
            <a:endParaRPr lang="en-US" sz="4400" dirty="0"/>
          </a:p>
        </p:txBody>
      </p:sp>
      <p:sp>
        <p:nvSpPr>
          <p:cNvPr id="11" name="Text 9"/>
          <p:cNvSpPr/>
          <p:nvPr/>
        </p:nvSpPr>
        <p:spPr>
          <a:xfrm>
            <a:off x="365760" y="2487168"/>
            <a:ext cx="5486400" cy="502920"/>
          </a:xfrm>
          <a:prstGeom prst="rect">
            <a:avLst/>
          </a:prstGeom>
          <a:noFill/>
          <a:ln/>
        </p:spPr>
        <p:txBody>
          <a:bodyPr wrap="square" rtlCol="0" anchor="ctr"/>
          <a:lstStyle/>
          <a:p>
            <a:pPr marL="0" indent="0">
              <a:buNone/>
            </a:pPr>
            <a:r>
              <a:rPr lang="en-US" sz="2200" dirty="0">
                <a:solidFill>
                  <a:srgbClr val="8ECAE6"/>
                </a:solidFill>
                <a:latin typeface="Calibri" pitchFamily="34" charset="0"/>
                <a:ea typeface="Calibri" pitchFamily="34" charset="-122"/>
                <a:cs typeface="Calibri" pitchFamily="34" charset="-120"/>
              </a:rPr>
              <a:t>for Predictive Maintenance</a:t>
            </a:r>
            <a:endParaRPr lang="en-US" sz="2200" dirty="0"/>
          </a:p>
        </p:txBody>
      </p:sp>
      <p:sp>
        <p:nvSpPr>
          <p:cNvPr id="12" name="Shape 10"/>
          <p:cNvSpPr/>
          <p:nvPr/>
        </p:nvSpPr>
        <p:spPr>
          <a:xfrm>
            <a:off x="365760" y="3090672"/>
            <a:ext cx="3657600" cy="36576"/>
          </a:xfrm>
          <a:prstGeom prst="rect">
            <a:avLst/>
          </a:prstGeom>
          <a:solidFill>
            <a:srgbClr val="00BCD4"/>
          </a:solidFill>
          <a:ln w="12700">
            <a:solidFill>
              <a:srgbClr val="00BCD4"/>
            </a:solidFill>
            <a:prstDash val="solid"/>
          </a:ln>
        </p:spPr>
      </p:sp>
      <p:sp>
        <p:nvSpPr>
          <p:cNvPr id="13" name="Shape 11"/>
          <p:cNvSpPr/>
          <p:nvPr/>
        </p:nvSpPr>
        <p:spPr>
          <a:xfrm>
            <a:off x="365760" y="3246120"/>
            <a:ext cx="2194560" cy="320040"/>
          </a:xfrm>
          <a:prstGeom prst="roundRect">
            <a:avLst>
              <a:gd name="adj" fmla="val 22857"/>
            </a:avLst>
          </a:prstGeom>
          <a:solidFill>
            <a:srgbClr val="1565C0"/>
          </a:solidFill>
          <a:ln w="12700">
            <a:solidFill>
              <a:srgbClr val="1E88E5"/>
            </a:solidFill>
            <a:prstDash val="solid"/>
          </a:ln>
        </p:spPr>
      </p:sp>
      <p:sp>
        <p:nvSpPr>
          <p:cNvPr id="14" name="Text 12"/>
          <p:cNvSpPr/>
          <p:nvPr/>
        </p:nvSpPr>
        <p:spPr>
          <a:xfrm>
            <a:off x="365760" y="3246120"/>
            <a:ext cx="2194560" cy="320040"/>
          </a:xfrm>
          <a:prstGeom prst="rect">
            <a:avLst/>
          </a:prstGeom>
          <a:noFill/>
          <a:ln/>
        </p:spPr>
        <p:txBody>
          <a:bodyPr wrap="square" rtlCol="0" anchor="ctr"/>
          <a:lstStyle/>
          <a:p>
            <a:pPr marL="0" indent="0" algn="ctr">
              <a:buNone/>
            </a:pPr>
            <a:r>
              <a:rPr lang="en-US" sz="1000" b="1" dirty="0">
                <a:solidFill>
                  <a:srgbClr val="FFFFFF"/>
                </a:solidFill>
              </a:rPr>
              <a:t>Project-II  |  CM1611</a:t>
            </a:r>
            <a:endParaRPr lang="en-US" sz="1000" dirty="0"/>
          </a:p>
        </p:txBody>
      </p:sp>
      <p:sp>
        <p:nvSpPr>
          <p:cNvPr id="15" name="Text 13"/>
          <p:cNvSpPr/>
          <p:nvPr/>
        </p:nvSpPr>
        <p:spPr>
          <a:xfrm>
            <a:off x="6217920" y="1005840"/>
            <a:ext cx="2651760" cy="274320"/>
          </a:xfrm>
          <a:prstGeom prst="rect">
            <a:avLst/>
          </a:prstGeom>
          <a:noFill/>
          <a:ln/>
        </p:spPr>
        <p:txBody>
          <a:bodyPr wrap="square" rtlCol="0" anchor="ctr"/>
          <a:lstStyle/>
          <a:p>
            <a:pPr marL="0" indent="0">
              <a:buNone/>
            </a:pPr>
            <a:r>
              <a:rPr lang="en-US" sz="900" b="1" kern="0" spc="200" dirty="0">
                <a:solidFill>
                  <a:srgbClr val="00BCD4"/>
                </a:solidFill>
              </a:rPr>
              <a:t>SUBMITTED BY</a:t>
            </a:r>
            <a:endParaRPr lang="en-US" sz="900" dirty="0"/>
          </a:p>
        </p:txBody>
      </p:sp>
      <p:sp>
        <p:nvSpPr>
          <p:cNvPr id="16" name="Shape 14"/>
          <p:cNvSpPr/>
          <p:nvPr/>
        </p:nvSpPr>
        <p:spPr>
          <a:xfrm>
            <a:off x="6217920" y="1261872"/>
            <a:ext cx="2651760" cy="36576"/>
          </a:xfrm>
          <a:prstGeom prst="rect">
            <a:avLst/>
          </a:prstGeom>
          <a:solidFill>
            <a:srgbClr val="00BCD4"/>
          </a:solidFill>
          <a:ln w="12700">
            <a:solidFill>
              <a:srgbClr val="00BCD4"/>
            </a:solidFill>
            <a:prstDash val="solid"/>
          </a:ln>
        </p:spPr>
      </p:sp>
      <p:sp>
        <p:nvSpPr>
          <p:cNvPr id="17" name="Text 15"/>
          <p:cNvSpPr/>
          <p:nvPr/>
        </p:nvSpPr>
        <p:spPr>
          <a:xfrm>
            <a:off x="6217920" y="132588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Pradeep Modak</a:t>
            </a:r>
            <a:endParaRPr lang="en-US" sz="1100" dirty="0"/>
          </a:p>
          <a:p>
            <a:pPr marL="0" indent="0">
              <a:lnSpc>
                <a:spcPct val="120000"/>
              </a:lnSpc>
              <a:buNone/>
            </a:pPr>
            <a:r>
              <a:rPr lang="en-US" sz="1100" dirty="0">
                <a:solidFill>
                  <a:srgbClr val="FFFFFF"/>
                </a:solidFill>
              </a:rPr>
              <a:t>2023UGCM026</a:t>
            </a:r>
            <a:endParaRPr lang="en-US" sz="1100" dirty="0"/>
          </a:p>
        </p:txBody>
      </p:sp>
      <p:sp>
        <p:nvSpPr>
          <p:cNvPr id="18" name="Text 16"/>
          <p:cNvSpPr/>
          <p:nvPr/>
        </p:nvSpPr>
        <p:spPr>
          <a:xfrm>
            <a:off x="6217920" y="192024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Ashwini Kumar</a:t>
            </a:r>
            <a:endParaRPr lang="en-US" sz="1100" dirty="0"/>
          </a:p>
          <a:p>
            <a:pPr marL="0" indent="0">
              <a:lnSpc>
                <a:spcPct val="120000"/>
              </a:lnSpc>
              <a:buNone/>
            </a:pPr>
            <a:r>
              <a:rPr lang="en-US" sz="1100" dirty="0">
                <a:solidFill>
                  <a:srgbClr val="FFFFFF"/>
                </a:solidFill>
              </a:rPr>
              <a:t>2023UGCM004</a:t>
            </a:r>
            <a:endParaRPr lang="en-US" sz="1100" dirty="0"/>
          </a:p>
        </p:txBody>
      </p:sp>
      <p:sp>
        <p:nvSpPr>
          <p:cNvPr id="19" name="Text 17"/>
          <p:cNvSpPr/>
          <p:nvPr/>
        </p:nvSpPr>
        <p:spPr>
          <a:xfrm>
            <a:off x="6217920" y="2651760"/>
            <a:ext cx="2651760" cy="274320"/>
          </a:xfrm>
          <a:prstGeom prst="rect">
            <a:avLst/>
          </a:prstGeom>
          <a:noFill/>
          <a:ln/>
        </p:spPr>
        <p:txBody>
          <a:bodyPr wrap="square" rtlCol="0" anchor="ctr"/>
          <a:lstStyle/>
          <a:p>
            <a:pPr marL="0" indent="0">
              <a:buNone/>
            </a:pPr>
            <a:r>
              <a:rPr lang="en-US" sz="900" b="1" kern="0" spc="200" dirty="0">
                <a:solidFill>
                  <a:srgbClr val="FF6F00"/>
                </a:solidFill>
              </a:rPr>
              <a:t>SUPERVISED BY</a:t>
            </a:r>
            <a:endParaRPr lang="en-US" sz="900" dirty="0"/>
          </a:p>
        </p:txBody>
      </p:sp>
      <p:sp>
        <p:nvSpPr>
          <p:cNvPr id="20" name="Shape 18"/>
          <p:cNvSpPr/>
          <p:nvPr/>
        </p:nvSpPr>
        <p:spPr>
          <a:xfrm>
            <a:off x="6217920" y="2907792"/>
            <a:ext cx="2651760" cy="36576"/>
          </a:xfrm>
          <a:prstGeom prst="rect">
            <a:avLst/>
          </a:prstGeom>
          <a:solidFill>
            <a:srgbClr val="FF6F00"/>
          </a:solidFill>
          <a:ln w="12700">
            <a:solidFill>
              <a:srgbClr val="FF6F00"/>
            </a:solidFill>
            <a:prstDash val="solid"/>
          </a:ln>
        </p:spPr>
      </p:sp>
      <p:sp>
        <p:nvSpPr>
          <p:cNvPr id="21" name="Text 19"/>
          <p:cNvSpPr/>
          <p:nvPr/>
        </p:nvSpPr>
        <p:spPr>
          <a:xfrm>
            <a:off x="6217920" y="2971800"/>
            <a:ext cx="2651760" cy="594360"/>
          </a:xfrm>
          <a:prstGeom prst="rect">
            <a:avLst/>
          </a:prstGeom>
          <a:noFill/>
          <a:ln/>
        </p:spPr>
        <p:txBody>
          <a:bodyPr wrap="square" rtlCol="0" anchor="ctr"/>
          <a:lstStyle/>
          <a:p>
            <a:pPr marL="0" indent="0">
              <a:lnSpc>
                <a:spcPct val="140000"/>
              </a:lnSpc>
              <a:buNone/>
            </a:pPr>
            <a:r>
              <a:rPr lang="en-US" sz="1100" dirty="0">
                <a:solidFill>
                  <a:srgbClr val="FFFFFF"/>
                </a:solidFill>
              </a:rPr>
              <a:t>Dr. Saroj Sarangi</a:t>
            </a:r>
            <a:endParaRPr lang="en-US" sz="1100" dirty="0"/>
          </a:p>
          <a:p>
            <a:pPr marL="0" indent="0">
              <a:lnSpc>
                <a:spcPct val="140000"/>
              </a:lnSpc>
              <a:buNone/>
            </a:pPr>
            <a:r>
              <a:rPr lang="en-US" sz="1100" dirty="0">
                <a:solidFill>
                  <a:srgbClr val="FFFFFF"/>
                </a:solidFill>
              </a:rPr>
              <a:t>Dr. Abhijit Dey</a:t>
            </a:r>
            <a:endParaRPr lang="en-US" sz="1100" dirty="0"/>
          </a:p>
        </p:txBody>
      </p:sp>
      <p:sp>
        <p:nvSpPr>
          <p:cNvPr id="22" name="Shape 20"/>
          <p:cNvSpPr/>
          <p:nvPr/>
        </p:nvSpPr>
        <p:spPr>
          <a:xfrm>
            <a:off x="0" y="4754880"/>
            <a:ext cx="9144000" cy="388620"/>
          </a:xfrm>
          <a:prstGeom prst="rect">
            <a:avLst/>
          </a:prstGeom>
          <a:solidFill>
            <a:srgbClr val="061020"/>
          </a:solidFill>
          <a:ln w="12700">
            <a:solidFill>
              <a:srgbClr val="061020"/>
            </a:solidFill>
            <a:prstDash val="solid"/>
          </a:ln>
        </p:spPr>
      </p:sp>
      <p:sp>
        <p:nvSpPr>
          <p:cNvPr id="23" name="Text 21"/>
          <p:cNvSpPr/>
          <p:nvPr/>
        </p:nvSpPr>
        <p:spPr>
          <a:xfrm>
            <a:off x="365760" y="4773168"/>
            <a:ext cx="8412480" cy="347472"/>
          </a:xfrm>
          <a:prstGeom prst="rect">
            <a:avLst/>
          </a:prstGeom>
          <a:noFill/>
          <a:ln/>
        </p:spPr>
        <p:txBody>
          <a:bodyPr wrap="square" rtlCol="0" anchor="ctr"/>
          <a:lstStyle/>
          <a:p>
            <a:pPr marL="0" indent="0" algn="r">
              <a:buNone/>
            </a:pPr>
            <a:r>
              <a:rPr lang="en-US" sz="1000" dirty="0">
                <a:solidFill>
                  <a:srgbClr val="8ECAE6"/>
                </a:solidFill>
              </a:rPr>
              <a:t>Spring Semester 2025-26  •  April 2026</a:t>
            </a:r>
            <a:endParaRPr lang="en-US" sz="1000" dirty="0"/>
          </a:p>
        </p:txBody>
      </p:sp>
      <p:pic>
        <p:nvPicPr>
          <p:cNvPr id="24" name="Picture 2" descr="College logo">
            <a:extLst>
              <a:ext uri="{FF2B5EF4-FFF2-40B4-BE49-F238E27FC236}">
                <a16:creationId xmlns:a16="http://schemas.microsoft.com/office/drawing/2014/main" id="{3498B894-C83B-820F-C6A6-3D35D60A8837}"/>
              </a:ext>
            </a:extLst>
          </p:cNvPr>
          <p:cNvPicPr>
            <a:picLocks noChangeAspect="1" noChangeArrowheads="1"/>
          </p:cNvPicPr>
          <p:nvPr/>
        </p:nvPicPr>
        <p:blipFill>
          <a:blip r:embed="rId3"/>
          <a:srcRect/>
          <a:stretch>
            <a:fillRect/>
          </a:stretch>
        </p:blipFill>
        <p:spPr bwMode="auto">
          <a:xfrm>
            <a:off x="220818" y="163876"/>
            <a:ext cx="820163" cy="814532"/>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37160"/>
            <a:ext cx="8229600" cy="6858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OUTLINE</a:t>
            </a:r>
            <a:endParaRPr lang="en-US" sz="3600" dirty="0"/>
          </a:p>
        </p:txBody>
      </p:sp>
      <p:sp>
        <p:nvSpPr>
          <p:cNvPr id="5" name="Shape 3"/>
          <p:cNvSpPr/>
          <p:nvPr/>
        </p:nvSpPr>
        <p:spPr>
          <a:xfrm>
            <a:off x="320040" y="1234440"/>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6" name="Shape 4"/>
          <p:cNvSpPr/>
          <p:nvPr/>
        </p:nvSpPr>
        <p:spPr>
          <a:xfrm>
            <a:off x="320040" y="1234440"/>
            <a:ext cx="54864" cy="566928"/>
          </a:xfrm>
          <a:prstGeom prst="rect">
            <a:avLst/>
          </a:prstGeom>
          <a:solidFill>
            <a:srgbClr val="1565C0"/>
          </a:solidFill>
          <a:ln w="12700">
            <a:solidFill>
              <a:srgbClr val="1565C0"/>
            </a:solidFill>
            <a:prstDash val="solid"/>
          </a:ln>
        </p:spPr>
      </p:sp>
      <p:sp>
        <p:nvSpPr>
          <p:cNvPr id="7" name="Text 5"/>
          <p:cNvSpPr/>
          <p:nvPr/>
        </p:nvSpPr>
        <p:spPr>
          <a:xfrm>
            <a:off x="457200" y="1307592"/>
            <a:ext cx="502920" cy="420624"/>
          </a:xfrm>
          <a:prstGeom prst="rect">
            <a:avLst/>
          </a:prstGeom>
          <a:noFill/>
          <a:ln/>
        </p:spPr>
        <p:txBody>
          <a:bodyPr wrap="square" rtlCol="0" anchor="ctr"/>
          <a:lstStyle/>
          <a:p>
            <a:pPr marL="0" indent="0" algn="ctr">
              <a:buNone/>
            </a:pPr>
            <a:r>
              <a:rPr lang="en-US" sz="2200" b="1" dirty="0">
                <a:solidFill>
                  <a:srgbClr val="1565C0"/>
                </a:solidFill>
              </a:rPr>
              <a:t>01</a:t>
            </a:r>
            <a:endParaRPr lang="en-US" sz="2200" dirty="0"/>
          </a:p>
        </p:txBody>
      </p:sp>
      <p:sp>
        <p:nvSpPr>
          <p:cNvPr id="8" name="Text 6"/>
          <p:cNvSpPr/>
          <p:nvPr/>
        </p:nvSpPr>
        <p:spPr>
          <a:xfrm>
            <a:off x="1005840" y="1344168"/>
            <a:ext cx="3383280" cy="347472"/>
          </a:xfrm>
          <a:prstGeom prst="rect">
            <a:avLst/>
          </a:prstGeom>
          <a:noFill/>
          <a:ln/>
        </p:spPr>
        <p:txBody>
          <a:bodyPr wrap="square" rtlCol="0" anchor="ctr"/>
          <a:lstStyle/>
          <a:p>
            <a:pPr marL="0" indent="0">
              <a:buNone/>
            </a:pPr>
            <a:r>
              <a:rPr lang="en-US" sz="1300" b="1" dirty="0">
                <a:solidFill>
                  <a:srgbClr val="0A1628"/>
                </a:solidFill>
              </a:rPr>
              <a:t>Introduction</a:t>
            </a:r>
            <a:endParaRPr lang="en-US" sz="1300" dirty="0"/>
          </a:p>
        </p:txBody>
      </p:sp>
      <p:sp>
        <p:nvSpPr>
          <p:cNvPr id="9" name="Shape 7"/>
          <p:cNvSpPr/>
          <p:nvPr/>
        </p:nvSpPr>
        <p:spPr>
          <a:xfrm>
            <a:off x="320040" y="1947672"/>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10" name="Shape 8"/>
          <p:cNvSpPr/>
          <p:nvPr/>
        </p:nvSpPr>
        <p:spPr>
          <a:xfrm>
            <a:off x="320040" y="1947672"/>
            <a:ext cx="54864" cy="566928"/>
          </a:xfrm>
          <a:prstGeom prst="rect">
            <a:avLst/>
          </a:prstGeom>
          <a:solidFill>
            <a:srgbClr val="00BCD4"/>
          </a:solidFill>
          <a:ln w="12700">
            <a:solidFill>
              <a:srgbClr val="00BCD4"/>
            </a:solidFill>
            <a:prstDash val="solid"/>
          </a:ln>
        </p:spPr>
      </p:sp>
      <p:sp>
        <p:nvSpPr>
          <p:cNvPr id="11" name="Text 9"/>
          <p:cNvSpPr/>
          <p:nvPr/>
        </p:nvSpPr>
        <p:spPr>
          <a:xfrm>
            <a:off x="457200" y="2020824"/>
            <a:ext cx="502920" cy="420624"/>
          </a:xfrm>
          <a:prstGeom prst="rect">
            <a:avLst/>
          </a:prstGeom>
          <a:noFill/>
          <a:ln/>
        </p:spPr>
        <p:txBody>
          <a:bodyPr wrap="square" rtlCol="0" anchor="ctr"/>
          <a:lstStyle/>
          <a:p>
            <a:pPr marL="0" indent="0" algn="ctr">
              <a:buNone/>
            </a:pPr>
            <a:r>
              <a:rPr lang="en-US" sz="2200" b="1" dirty="0">
                <a:solidFill>
                  <a:srgbClr val="00BCD4"/>
                </a:solidFill>
              </a:rPr>
              <a:t>02</a:t>
            </a:r>
            <a:endParaRPr lang="en-US" sz="2200" dirty="0"/>
          </a:p>
        </p:txBody>
      </p:sp>
      <p:sp>
        <p:nvSpPr>
          <p:cNvPr id="12" name="Text 10"/>
          <p:cNvSpPr/>
          <p:nvPr/>
        </p:nvSpPr>
        <p:spPr>
          <a:xfrm>
            <a:off x="1005840" y="2057400"/>
            <a:ext cx="3383280" cy="347472"/>
          </a:xfrm>
          <a:prstGeom prst="rect">
            <a:avLst/>
          </a:prstGeom>
          <a:noFill/>
          <a:ln/>
        </p:spPr>
        <p:txBody>
          <a:bodyPr wrap="square" rtlCol="0" anchor="ctr"/>
          <a:lstStyle/>
          <a:p>
            <a:pPr marL="0" indent="0">
              <a:buNone/>
            </a:pPr>
            <a:r>
              <a:rPr lang="en-US" sz="1300" b="1" dirty="0">
                <a:solidFill>
                  <a:srgbClr val="0A1628"/>
                </a:solidFill>
              </a:rPr>
              <a:t>Applications</a:t>
            </a:r>
            <a:endParaRPr lang="en-US" sz="1300" dirty="0"/>
          </a:p>
        </p:txBody>
      </p:sp>
      <p:sp>
        <p:nvSpPr>
          <p:cNvPr id="13" name="Shape 11"/>
          <p:cNvSpPr/>
          <p:nvPr/>
        </p:nvSpPr>
        <p:spPr>
          <a:xfrm>
            <a:off x="320040" y="2660904"/>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14" name="Shape 12"/>
          <p:cNvSpPr/>
          <p:nvPr/>
        </p:nvSpPr>
        <p:spPr>
          <a:xfrm>
            <a:off x="320040" y="2660904"/>
            <a:ext cx="54864" cy="566928"/>
          </a:xfrm>
          <a:prstGeom prst="rect">
            <a:avLst/>
          </a:prstGeom>
          <a:solidFill>
            <a:srgbClr val="1565C0"/>
          </a:solidFill>
          <a:ln w="12700">
            <a:solidFill>
              <a:srgbClr val="1565C0"/>
            </a:solidFill>
            <a:prstDash val="solid"/>
          </a:ln>
        </p:spPr>
      </p:sp>
      <p:sp>
        <p:nvSpPr>
          <p:cNvPr id="15" name="Text 13"/>
          <p:cNvSpPr/>
          <p:nvPr/>
        </p:nvSpPr>
        <p:spPr>
          <a:xfrm>
            <a:off x="457200" y="2734056"/>
            <a:ext cx="502920" cy="420624"/>
          </a:xfrm>
          <a:prstGeom prst="rect">
            <a:avLst/>
          </a:prstGeom>
          <a:noFill/>
          <a:ln/>
        </p:spPr>
        <p:txBody>
          <a:bodyPr wrap="square" rtlCol="0" anchor="ctr"/>
          <a:lstStyle/>
          <a:p>
            <a:pPr marL="0" indent="0" algn="ctr">
              <a:buNone/>
            </a:pPr>
            <a:r>
              <a:rPr lang="en-US" sz="2200" b="1" dirty="0">
                <a:solidFill>
                  <a:srgbClr val="1565C0"/>
                </a:solidFill>
              </a:rPr>
              <a:t>03</a:t>
            </a:r>
            <a:endParaRPr lang="en-US" sz="2200" dirty="0"/>
          </a:p>
        </p:txBody>
      </p:sp>
      <p:sp>
        <p:nvSpPr>
          <p:cNvPr id="16" name="Text 14"/>
          <p:cNvSpPr/>
          <p:nvPr/>
        </p:nvSpPr>
        <p:spPr>
          <a:xfrm>
            <a:off x="1005840" y="2770632"/>
            <a:ext cx="3383280" cy="347472"/>
          </a:xfrm>
          <a:prstGeom prst="rect">
            <a:avLst/>
          </a:prstGeom>
          <a:noFill/>
          <a:ln/>
        </p:spPr>
        <p:txBody>
          <a:bodyPr wrap="square" rtlCol="0" anchor="ctr"/>
          <a:lstStyle/>
          <a:p>
            <a:pPr marL="0" indent="0">
              <a:buNone/>
            </a:pPr>
            <a:r>
              <a:rPr lang="en-US" sz="1300" b="1" dirty="0">
                <a:solidFill>
                  <a:srgbClr val="0A1628"/>
                </a:solidFill>
              </a:rPr>
              <a:t>Literature Survey</a:t>
            </a:r>
            <a:endParaRPr lang="en-US" sz="1300" dirty="0"/>
          </a:p>
        </p:txBody>
      </p:sp>
      <p:sp>
        <p:nvSpPr>
          <p:cNvPr id="17" name="Shape 15"/>
          <p:cNvSpPr/>
          <p:nvPr/>
        </p:nvSpPr>
        <p:spPr>
          <a:xfrm>
            <a:off x="320040" y="3374136"/>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18" name="Shape 16"/>
          <p:cNvSpPr/>
          <p:nvPr/>
        </p:nvSpPr>
        <p:spPr>
          <a:xfrm>
            <a:off x="320040" y="3374136"/>
            <a:ext cx="54864" cy="566928"/>
          </a:xfrm>
          <a:prstGeom prst="rect">
            <a:avLst/>
          </a:prstGeom>
          <a:solidFill>
            <a:srgbClr val="FF6F00"/>
          </a:solidFill>
          <a:ln w="12700">
            <a:solidFill>
              <a:srgbClr val="FF6F00"/>
            </a:solidFill>
            <a:prstDash val="solid"/>
          </a:ln>
        </p:spPr>
      </p:sp>
      <p:sp>
        <p:nvSpPr>
          <p:cNvPr id="19" name="Text 17"/>
          <p:cNvSpPr/>
          <p:nvPr/>
        </p:nvSpPr>
        <p:spPr>
          <a:xfrm>
            <a:off x="457200" y="3447288"/>
            <a:ext cx="502920" cy="420624"/>
          </a:xfrm>
          <a:prstGeom prst="rect">
            <a:avLst/>
          </a:prstGeom>
          <a:noFill/>
          <a:ln/>
        </p:spPr>
        <p:txBody>
          <a:bodyPr wrap="square" rtlCol="0" anchor="ctr"/>
          <a:lstStyle/>
          <a:p>
            <a:pPr marL="0" indent="0" algn="ctr">
              <a:buNone/>
            </a:pPr>
            <a:r>
              <a:rPr lang="en-US" sz="2200" b="1" dirty="0">
                <a:solidFill>
                  <a:srgbClr val="FF6F00"/>
                </a:solidFill>
              </a:rPr>
              <a:t>04</a:t>
            </a:r>
            <a:endParaRPr lang="en-US" sz="2200" dirty="0"/>
          </a:p>
        </p:txBody>
      </p:sp>
      <p:sp>
        <p:nvSpPr>
          <p:cNvPr id="20" name="Text 18"/>
          <p:cNvSpPr/>
          <p:nvPr/>
        </p:nvSpPr>
        <p:spPr>
          <a:xfrm>
            <a:off x="1005840" y="3483864"/>
            <a:ext cx="3383280" cy="347472"/>
          </a:xfrm>
          <a:prstGeom prst="rect">
            <a:avLst/>
          </a:prstGeom>
          <a:noFill/>
          <a:ln/>
        </p:spPr>
        <p:txBody>
          <a:bodyPr wrap="square" rtlCol="0" anchor="ctr"/>
          <a:lstStyle/>
          <a:p>
            <a:pPr marL="0" indent="0">
              <a:buNone/>
            </a:pPr>
            <a:r>
              <a:rPr lang="en-US" sz="1300" b="1" dirty="0">
                <a:solidFill>
                  <a:srgbClr val="0A1628"/>
                </a:solidFill>
              </a:rPr>
              <a:t>Research Gaps &amp; Objectives</a:t>
            </a:r>
            <a:endParaRPr lang="en-US" sz="1300" dirty="0"/>
          </a:p>
        </p:txBody>
      </p:sp>
      <p:sp>
        <p:nvSpPr>
          <p:cNvPr id="21" name="Shape 19"/>
          <p:cNvSpPr/>
          <p:nvPr/>
        </p:nvSpPr>
        <p:spPr>
          <a:xfrm>
            <a:off x="4754880" y="1234440"/>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22" name="Shape 20"/>
          <p:cNvSpPr/>
          <p:nvPr/>
        </p:nvSpPr>
        <p:spPr>
          <a:xfrm>
            <a:off x="4754880" y="1234440"/>
            <a:ext cx="54864" cy="566928"/>
          </a:xfrm>
          <a:prstGeom prst="rect">
            <a:avLst/>
          </a:prstGeom>
          <a:solidFill>
            <a:srgbClr val="1565C0"/>
          </a:solidFill>
          <a:ln w="12700">
            <a:solidFill>
              <a:srgbClr val="1565C0"/>
            </a:solidFill>
            <a:prstDash val="solid"/>
          </a:ln>
        </p:spPr>
      </p:sp>
      <p:sp>
        <p:nvSpPr>
          <p:cNvPr id="23" name="Text 21"/>
          <p:cNvSpPr/>
          <p:nvPr/>
        </p:nvSpPr>
        <p:spPr>
          <a:xfrm>
            <a:off x="4892040" y="1307592"/>
            <a:ext cx="502920" cy="420624"/>
          </a:xfrm>
          <a:prstGeom prst="rect">
            <a:avLst/>
          </a:prstGeom>
          <a:noFill/>
          <a:ln/>
        </p:spPr>
        <p:txBody>
          <a:bodyPr wrap="square" rtlCol="0" anchor="ctr"/>
          <a:lstStyle/>
          <a:p>
            <a:pPr marL="0" indent="0" algn="ctr">
              <a:buNone/>
            </a:pPr>
            <a:r>
              <a:rPr lang="en-US" sz="2200" b="1" dirty="0">
                <a:solidFill>
                  <a:srgbClr val="1565C0"/>
                </a:solidFill>
              </a:rPr>
              <a:t>05</a:t>
            </a:r>
            <a:endParaRPr lang="en-US" sz="2200" dirty="0"/>
          </a:p>
        </p:txBody>
      </p:sp>
      <p:sp>
        <p:nvSpPr>
          <p:cNvPr id="24" name="Text 22"/>
          <p:cNvSpPr/>
          <p:nvPr/>
        </p:nvSpPr>
        <p:spPr>
          <a:xfrm>
            <a:off x="5440680" y="1344168"/>
            <a:ext cx="3383280" cy="347472"/>
          </a:xfrm>
          <a:prstGeom prst="rect">
            <a:avLst/>
          </a:prstGeom>
          <a:noFill/>
          <a:ln/>
        </p:spPr>
        <p:txBody>
          <a:bodyPr wrap="square" rtlCol="0" anchor="ctr"/>
          <a:lstStyle/>
          <a:p>
            <a:pPr marL="0" indent="0">
              <a:buNone/>
            </a:pPr>
            <a:r>
              <a:rPr lang="en-US" sz="1300" b="1" dirty="0">
                <a:solidFill>
                  <a:srgbClr val="0A1628"/>
                </a:solidFill>
              </a:rPr>
              <a:t>Methodology &amp; Workflow</a:t>
            </a:r>
            <a:endParaRPr lang="en-US" sz="1300" dirty="0"/>
          </a:p>
        </p:txBody>
      </p:sp>
      <p:sp>
        <p:nvSpPr>
          <p:cNvPr id="25" name="Shape 23"/>
          <p:cNvSpPr/>
          <p:nvPr/>
        </p:nvSpPr>
        <p:spPr>
          <a:xfrm>
            <a:off x="4809744" y="1975608"/>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txBody>
          <a:bodyPr/>
          <a:lstStyle/>
          <a:p>
            <a:endParaRPr lang="en-US" dirty="0"/>
          </a:p>
        </p:txBody>
      </p:sp>
      <p:sp>
        <p:nvSpPr>
          <p:cNvPr id="26" name="Shape 24"/>
          <p:cNvSpPr/>
          <p:nvPr/>
        </p:nvSpPr>
        <p:spPr>
          <a:xfrm>
            <a:off x="4754880" y="1947672"/>
            <a:ext cx="54864" cy="566928"/>
          </a:xfrm>
          <a:prstGeom prst="rect">
            <a:avLst/>
          </a:prstGeom>
          <a:solidFill>
            <a:srgbClr val="00897B"/>
          </a:solidFill>
          <a:ln w="12700">
            <a:solidFill>
              <a:srgbClr val="00897B"/>
            </a:solidFill>
            <a:prstDash val="solid"/>
          </a:ln>
        </p:spPr>
      </p:sp>
      <p:sp>
        <p:nvSpPr>
          <p:cNvPr id="27" name="Text 25"/>
          <p:cNvSpPr/>
          <p:nvPr/>
        </p:nvSpPr>
        <p:spPr>
          <a:xfrm>
            <a:off x="4892040" y="2020824"/>
            <a:ext cx="502920" cy="420624"/>
          </a:xfrm>
          <a:prstGeom prst="rect">
            <a:avLst/>
          </a:prstGeom>
          <a:noFill/>
          <a:ln/>
        </p:spPr>
        <p:txBody>
          <a:bodyPr wrap="square" rtlCol="0" anchor="ctr"/>
          <a:lstStyle/>
          <a:p>
            <a:pPr marL="0" indent="0" algn="ctr">
              <a:buNone/>
            </a:pPr>
            <a:r>
              <a:rPr lang="en-US" sz="2200" b="1" dirty="0">
                <a:solidFill>
                  <a:srgbClr val="00897B"/>
                </a:solidFill>
              </a:rPr>
              <a:t>06</a:t>
            </a:r>
            <a:endParaRPr lang="en-US" sz="2200" dirty="0"/>
          </a:p>
        </p:txBody>
      </p:sp>
      <p:sp>
        <p:nvSpPr>
          <p:cNvPr id="28" name="Text 26"/>
          <p:cNvSpPr/>
          <p:nvPr/>
        </p:nvSpPr>
        <p:spPr>
          <a:xfrm>
            <a:off x="5440680" y="2057400"/>
            <a:ext cx="3383280" cy="347472"/>
          </a:xfrm>
          <a:prstGeom prst="rect">
            <a:avLst/>
          </a:prstGeom>
          <a:noFill/>
          <a:ln/>
        </p:spPr>
        <p:txBody>
          <a:bodyPr wrap="square" rtlCol="0" anchor="ctr"/>
          <a:lstStyle/>
          <a:p>
            <a:pPr marL="0" indent="0">
              <a:buNone/>
            </a:pPr>
            <a:r>
              <a:rPr lang="en-US" sz="1300" b="1" dirty="0">
                <a:solidFill>
                  <a:schemeClr val="bg1"/>
                </a:solidFill>
              </a:rPr>
              <a:t>Work In Progress</a:t>
            </a:r>
          </a:p>
        </p:txBody>
      </p:sp>
      <p:sp>
        <p:nvSpPr>
          <p:cNvPr id="30" name="Shape 28"/>
          <p:cNvSpPr/>
          <p:nvPr/>
        </p:nvSpPr>
        <p:spPr>
          <a:xfrm>
            <a:off x="4754880" y="2660904"/>
            <a:ext cx="54864" cy="566928"/>
          </a:xfrm>
          <a:prstGeom prst="rect">
            <a:avLst/>
          </a:prstGeom>
          <a:solidFill>
            <a:srgbClr val="00B050"/>
          </a:solidFill>
          <a:ln w="12700">
            <a:solidFill>
              <a:srgbClr val="0A1628"/>
            </a:solidFill>
            <a:prstDash val="solid"/>
          </a:ln>
        </p:spPr>
      </p:sp>
      <p:sp>
        <p:nvSpPr>
          <p:cNvPr id="32" name="Text 30"/>
          <p:cNvSpPr/>
          <p:nvPr/>
        </p:nvSpPr>
        <p:spPr>
          <a:xfrm>
            <a:off x="4892040" y="2643120"/>
            <a:ext cx="3931920" cy="584712"/>
          </a:xfrm>
          <a:prstGeom prst="rect">
            <a:avLst/>
          </a:prstGeom>
          <a:noFill/>
          <a:ln/>
        </p:spPr>
        <p:txBody>
          <a:bodyPr wrap="square" rtlCol="0" anchor="ctr"/>
          <a:lstStyle/>
          <a:p>
            <a:pPr marL="0" indent="0">
              <a:buNone/>
            </a:pPr>
            <a:endParaRPr lang="en-US" sz="1300" dirty="0"/>
          </a:p>
        </p:txBody>
      </p:sp>
      <p:sp>
        <p:nvSpPr>
          <p:cNvPr id="34" name="Shape 27"/>
          <p:cNvSpPr/>
          <p:nvPr/>
        </p:nvSpPr>
        <p:spPr>
          <a:xfrm>
            <a:off x="4754880" y="3374136"/>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txBody>
          <a:bodyPr/>
          <a:lstStyle/>
          <a:p>
            <a:r>
              <a:rPr lang="en-US" sz="2200" b="1" dirty="0">
                <a:solidFill>
                  <a:schemeClr val="bg1"/>
                </a:solidFill>
              </a:rPr>
              <a:t>  08</a:t>
            </a:r>
            <a:r>
              <a:rPr lang="en-US" sz="1300" b="1" dirty="0">
                <a:solidFill>
                  <a:schemeClr val="bg1"/>
                </a:solidFill>
              </a:rPr>
              <a:t>     References</a:t>
            </a:r>
          </a:p>
        </p:txBody>
      </p:sp>
      <p:sp>
        <p:nvSpPr>
          <p:cNvPr id="35" name="Shape 28"/>
          <p:cNvSpPr/>
          <p:nvPr/>
        </p:nvSpPr>
        <p:spPr>
          <a:xfrm>
            <a:off x="4754880" y="3374136"/>
            <a:ext cx="54864" cy="566928"/>
          </a:xfrm>
          <a:prstGeom prst="rect">
            <a:avLst/>
          </a:prstGeom>
          <a:solidFill>
            <a:schemeClr val="accent6">
              <a:lumMod val="75000"/>
            </a:schemeClr>
          </a:solidFill>
          <a:ln w="12700">
            <a:solidFill>
              <a:srgbClr val="0A1628"/>
            </a:solidFill>
            <a:prstDash val="solid"/>
          </a:ln>
        </p:spPr>
      </p:sp>
      <p:sp>
        <p:nvSpPr>
          <p:cNvPr id="37" name="Shape 11">
            <a:extLst>
              <a:ext uri="{FF2B5EF4-FFF2-40B4-BE49-F238E27FC236}">
                <a16:creationId xmlns:a16="http://schemas.microsoft.com/office/drawing/2014/main" id="{F991D667-817A-2B85-B792-EE9893F2678D}"/>
              </a:ext>
            </a:extLst>
          </p:cNvPr>
          <p:cNvSpPr/>
          <p:nvPr/>
        </p:nvSpPr>
        <p:spPr>
          <a:xfrm>
            <a:off x="4809744" y="2643120"/>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txBody>
          <a:bodyPr/>
          <a:lstStyle/>
          <a:p>
            <a:r>
              <a:rPr lang="en-US" sz="1300" dirty="0"/>
              <a:t>22</a:t>
            </a:r>
          </a:p>
          <a:p>
            <a:r>
              <a:rPr lang="en-US" sz="2200" b="1" dirty="0">
                <a:solidFill>
                  <a:schemeClr val="bg2">
                    <a:lumMod val="50000"/>
                  </a:schemeClr>
                </a:solidFill>
              </a:rPr>
              <a:t> 07</a:t>
            </a:r>
            <a:r>
              <a:rPr lang="en-US" sz="2200" dirty="0">
                <a:solidFill>
                  <a:schemeClr val="bg1"/>
                </a:solidFill>
              </a:rPr>
              <a:t>   </a:t>
            </a:r>
            <a:r>
              <a:rPr lang="en-US" sz="1300" b="1" dirty="0">
                <a:solidFill>
                  <a:schemeClr val="bg1"/>
                </a:solidFill>
              </a:rPr>
              <a:t>Summary</a:t>
            </a:r>
            <a:endParaRPr lang="en-IN" sz="13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A1628"/>
          </a:solidFill>
          <a:ln w="12700">
            <a:solidFill>
              <a:srgbClr val="0A1628"/>
            </a:solidFill>
            <a:prstDash val="solid"/>
          </a:ln>
        </p:spPr>
      </p:sp>
      <p:sp>
        <p:nvSpPr>
          <p:cNvPr id="3" name="Shape 1"/>
          <p:cNvSpPr/>
          <p:nvPr/>
        </p:nvSpPr>
        <p:spPr>
          <a:xfrm>
            <a:off x="3108960" y="0"/>
            <a:ext cx="54864" cy="5143500"/>
          </a:xfrm>
          <a:prstGeom prst="rect">
            <a:avLst/>
          </a:prstGeom>
          <a:solidFill>
            <a:srgbClr val="00BCD4"/>
          </a:solidFill>
          <a:ln w="12700">
            <a:solidFill>
              <a:srgbClr val="00BCD4"/>
            </a:solidFill>
            <a:prstDash val="solid"/>
          </a:ln>
        </p:spPr>
      </p:sp>
      <p:sp>
        <p:nvSpPr>
          <p:cNvPr id="4" name="Text 2"/>
          <p:cNvSpPr/>
          <p:nvPr/>
        </p:nvSpPr>
        <p:spPr>
          <a:xfrm>
            <a:off x="182880" y="274320"/>
            <a:ext cx="2743200" cy="411480"/>
          </a:xfrm>
          <a:prstGeom prst="rect">
            <a:avLst/>
          </a:prstGeom>
          <a:noFill/>
          <a:ln/>
        </p:spPr>
        <p:txBody>
          <a:bodyPr wrap="square" rtlCol="0" anchor="ctr"/>
          <a:lstStyle/>
          <a:p>
            <a:pPr marL="0" indent="0">
              <a:buNone/>
            </a:pPr>
            <a:r>
              <a:rPr lang="en-US" sz="1300" b="1" kern="0" spc="200" dirty="0">
                <a:solidFill>
                  <a:srgbClr val="00BCD4"/>
                </a:solidFill>
              </a:rPr>
              <a:t>INTRODUCTION</a:t>
            </a:r>
            <a:endParaRPr lang="en-US" sz="1300" dirty="0"/>
          </a:p>
        </p:txBody>
      </p:sp>
      <p:sp>
        <p:nvSpPr>
          <p:cNvPr id="5" name="Text 3"/>
          <p:cNvSpPr/>
          <p:nvPr/>
        </p:nvSpPr>
        <p:spPr>
          <a:xfrm>
            <a:off x="182880" y="658368"/>
            <a:ext cx="2743200" cy="68580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Background</a:t>
            </a:r>
            <a:endParaRPr lang="en-US" sz="2800" dirty="0"/>
          </a:p>
        </p:txBody>
      </p:sp>
      <p:sp>
        <p:nvSpPr>
          <p:cNvPr id="6" name="Shape 4"/>
          <p:cNvSpPr/>
          <p:nvPr/>
        </p:nvSpPr>
        <p:spPr>
          <a:xfrm>
            <a:off x="182880" y="1316736"/>
            <a:ext cx="2560320" cy="36576"/>
          </a:xfrm>
          <a:prstGeom prst="rect">
            <a:avLst/>
          </a:prstGeom>
          <a:solidFill>
            <a:srgbClr val="00BCD4"/>
          </a:solidFill>
          <a:ln w="12700">
            <a:solidFill>
              <a:srgbClr val="00BCD4"/>
            </a:solidFill>
            <a:prstDash val="solid"/>
          </a:ln>
        </p:spPr>
      </p:sp>
      <p:sp>
        <p:nvSpPr>
          <p:cNvPr id="7" name="Text 5"/>
          <p:cNvSpPr/>
          <p:nvPr/>
        </p:nvSpPr>
        <p:spPr>
          <a:xfrm>
            <a:off x="182880" y="1463040"/>
            <a:ext cx="2743200" cy="365760"/>
          </a:xfrm>
          <a:prstGeom prst="rect">
            <a:avLst/>
          </a:prstGeom>
          <a:noFill/>
          <a:ln/>
        </p:spPr>
        <p:txBody>
          <a:bodyPr wrap="square" rtlCol="0" anchor="ctr"/>
          <a:lstStyle/>
          <a:p>
            <a:pPr marL="0" indent="0">
              <a:buNone/>
            </a:pPr>
            <a:r>
              <a:rPr lang="en-US" sz="1300" b="1" dirty="0">
                <a:solidFill>
                  <a:srgbClr val="8ECAE6"/>
                </a:solidFill>
              </a:rPr>
              <a:t>The Critical Role of Bearings</a:t>
            </a:r>
            <a:endParaRPr lang="en-US" sz="1300" dirty="0"/>
          </a:p>
        </p:txBody>
      </p:sp>
      <p:sp>
        <p:nvSpPr>
          <p:cNvPr id="8" name="Text 6"/>
          <p:cNvSpPr/>
          <p:nvPr/>
        </p:nvSpPr>
        <p:spPr>
          <a:xfrm>
            <a:off x="182880" y="1810512"/>
            <a:ext cx="2724912" cy="548640"/>
          </a:xfrm>
          <a:prstGeom prst="rect">
            <a:avLst/>
          </a:prstGeom>
          <a:noFill/>
          <a:ln/>
        </p:spPr>
        <p:txBody>
          <a:bodyPr wrap="square" rtlCol="0" anchor="ctr"/>
          <a:lstStyle/>
          <a:p>
            <a:pPr marL="0" indent="0">
              <a:lnSpc>
                <a:spcPct val="130000"/>
              </a:lnSpc>
              <a:buNone/>
            </a:pPr>
            <a:r>
              <a:rPr lang="en-US" sz="1050" dirty="0">
                <a:solidFill>
                  <a:srgbClr val="CBD5E0"/>
                </a:solidFill>
              </a:rPr>
              <a:t>Rotating machinery depends heavily on rolling element bearing health. Defects cause:</a:t>
            </a:r>
            <a:endParaRPr lang="en-US" sz="1050" dirty="0"/>
          </a:p>
        </p:txBody>
      </p:sp>
      <p:sp>
        <p:nvSpPr>
          <p:cNvPr id="9" name="Shape 7"/>
          <p:cNvSpPr/>
          <p:nvPr/>
        </p:nvSpPr>
        <p:spPr>
          <a:xfrm>
            <a:off x="182880" y="2423160"/>
            <a:ext cx="164592" cy="164592"/>
          </a:xfrm>
          <a:prstGeom prst="ellipse">
            <a:avLst/>
          </a:prstGeom>
          <a:solidFill>
            <a:srgbClr val="FF6F00"/>
          </a:solidFill>
          <a:ln w="12700">
            <a:solidFill>
              <a:srgbClr val="FF6F00"/>
            </a:solidFill>
            <a:prstDash val="solid"/>
          </a:ln>
        </p:spPr>
      </p:sp>
      <p:sp>
        <p:nvSpPr>
          <p:cNvPr id="10" name="Text 8"/>
          <p:cNvSpPr/>
          <p:nvPr/>
        </p:nvSpPr>
        <p:spPr>
          <a:xfrm>
            <a:off x="429768" y="2386584"/>
            <a:ext cx="2514600" cy="256032"/>
          </a:xfrm>
          <a:prstGeom prst="rect">
            <a:avLst/>
          </a:prstGeom>
          <a:noFill/>
          <a:ln/>
        </p:spPr>
        <p:txBody>
          <a:bodyPr wrap="square" rtlCol="0" anchor="ctr"/>
          <a:lstStyle/>
          <a:p>
            <a:pPr marL="0" indent="0">
              <a:buNone/>
            </a:pPr>
            <a:r>
              <a:rPr lang="en-US" sz="1100" dirty="0">
                <a:solidFill>
                  <a:srgbClr val="FFFFFF"/>
                </a:solidFill>
              </a:rPr>
              <a:t>Excess heat &amp; noise</a:t>
            </a:r>
            <a:endParaRPr lang="en-US" sz="1100" dirty="0"/>
          </a:p>
        </p:txBody>
      </p:sp>
      <p:sp>
        <p:nvSpPr>
          <p:cNvPr id="11" name="Shape 9"/>
          <p:cNvSpPr/>
          <p:nvPr/>
        </p:nvSpPr>
        <p:spPr>
          <a:xfrm>
            <a:off x="182880" y="2880360"/>
            <a:ext cx="164592" cy="164592"/>
          </a:xfrm>
          <a:prstGeom prst="ellipse">
            <a:avLst/>
          </a:prstGeom>
          <a:solidFill>
            <a:srgbClr val="FF6F00"/>
          </a:solidFill>
          <a:ln w="12700">
            <a:solidFill>
              <a:srgbClr val="FF6F00"/>
            </a:solidFill>
            <a:prstDash val="solid"/>
          </a:ln>
        </p:spPr>
      </p:sp>
      <p:sp>
        <p:nvSpPr>
          <p:cNvPr id="12" name="Text 10"/>
          <p:cNvSpPr/>
          <p:nvPr/>
        </p:nvSpPr>
        <p:spPr>
          <a:xfrm>
            <a:off x="429768" y="2843784"/>
            <a:ext cx="2514600" cy="256032"/>
          </a:xfrm>
          <a:prstGeom prst="rect">
            <a:avLst/>
          </a:prstGeom>
          <a:noFill/>
          <a:ln/>
        </p:spPr>
        <p:txBody>
          <a:bodyPr wrap="square" rtlCol="0" anchor="ctr"/>
          <a:lstStyle/>
          <a:p>
            <a:pPr marL="0" indent="0">
              <a:buNone/>
            </a:pPr>
            <a:r>
              <a:rPr lang="en-US" sz="1100" dirty="0">
                <a:solidFill>
                  <a:srgbClr val="FFFFFF"/>
                </a:solidFill>
              </a:rPr>
              <a:t>Efficiency loss</a:t>
            </a:r>
            <a:endParaRPr lang="en-US" sz="1100" dirty="0"/>
          </a:p>
        </p:txBody>
      </p:sp>
      <p:sp>
        <p:nvSpPr>
          <p:cNvPr id="13" name="Shape 11"/>
          <p:cNvSpPr/>
          <p:nvPr/>
        </p:nvSpPr>
        <p:spPr>
          <a:xfrm>
            <a:off x="182880" y="3337560"/>
            <a:ext cx="164592" cy="164592"/>
          </a:xfrm>
          <a:prstGeom prst="ellipse">
            <a:avLst/>
          </a:prstGeom>
          <a:solidFill>
            <a:srgbClr val="FF6F00"/>
          </a:solidFill>
          <a:ln w="12700">
            <a:solidFill>
              <a:srgbClr val="FF6F00"/>
            </a:solidFill>
            <a:prstDash val="solid"/>
          </a:ln>
        </p:spPr>
      </p:sp>
      <p:sp>
        <p:nvSpPr>
          <p:cNvPr id="14" name="Text 12"/>
          <p:cNvSpPr/>
          <p:nvPr/>
        </p:nvSpPr>
        <p:spPr>
          <a:xfrm>
            <a:off x="429768" y="3300984"/>
            <a:ext cx="2514600" cy="256032"/>
          </a:xfrm>
          <a:prstGeom prst="rect">
            <a:avLst/>
          </a:prstGeom>
          <a:noFill/>
          <a:ln/>
        </p:spPr>
        <p:txBody>
          <a:bodyPr wrap="square" rtlCol="0" anchor="ctr"/>
          <a:lstStyle/>
          <a:p>
            <a:pPr marL="0" indent="0">
              <a:buNone/>
            </a:pPr>
            <a:r>
              <a:rPr lang="en-US" sz="1100" dirty="0">
                <a:solidFill>
                  <a:srgbClr val="FFFFFF"/>
                </a:solidFill>
              </a:rPr>
              <a:t>Catastrophic shutdowns</a:t>
            </a:r>
            <a:endParaRPr lang="en-US" sz="1100" dirty="0"/>
          </a:p>
        </p:txBody>
      </p:sp>
      <p:sp>
        <p:nvSpPr>
          <p:cNvPr id="15" name="Shape 13"/>
          <p:cNvSpPr/>
          <p:nvPr/>
        </p:nvSpPr>
        <p:spPr>
          <a:xfrm>
            <a:off x="182880" y="3886200"/>
            <a:ext cx="2651760" cy="822960"/>
          </a:xfrm>
          <a:prstGeom prst="rect">
            <a:avLst/>
          </a:prstGeom>
          <a:solidFill>
            <a:srgbClr val="1565C0"/>
          </a:solidFill>
          <a:ln w="12700">
            <a:solidFill>
              <a:srgbClr val="1E88E5"/>
            </a:solidFill>
            <a:prstDash val="solid"/>
          </a:ln>
        </p:spPr>
      </p:sp>
      <p:sp>
        <p:nvSpPr>
          <p:cNvPr id="16" name="Text 14"/>
          <p:cNvSpPr/>
          <p:nvPr/>
        </p:nvSpPr>
        <p:spPr>
          <a:xfrm>
            <a:off x="256032" y="3950208"/>
            <a:ext cx="2514600" cy="694944"/>
          </a:xfrm>
          <a:prstGeom prst="rect">
            <a:avLst/>
          </a:prstGeom>
          <a:noFill/>
          <a:ln/>
        </p:spPr>
        <p:txBody>
          <a:bodyPr wrap="square" rtlCol="0" anchor="ctr"/>
          <a:lstStyle/>
          <a:p>
            <a:pPr marL="0" indent="0">
              <a:lnSpc>
                <a:spcPct val="130000"/>
              </a:lnSpc>
              <a:buNone/>
            </a:pPr>
            <a:r>
              <a:rPr lang="en-US" sz="1000" dirty="0">
                <a:solidFill>
                  <a:srgbClr val="FFFFFF"/>
                </a:solidFill>
              </a:rPr>
              <a:t>Vibration analysis is the most widely used non-invasive technique for early fault diagnosis.</a:t>
            </a:r>
            <a:endParaRPr lang="en-US" sz="1000" dirty="0"/>
          </a:p>
        </p:txBody>
      </p:sp>
      <p:sp>
        <p:nvSpPr>
          <p:cNvPr id="17" name="Shape 15"/>
          <p:cNvSpPr/>
          <p:nvPr/>
        </p:nvSpPr>
        <p:spPr>
          <a:xfrm>
            <a:off x="3337560" y="32004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18" name="Shape 16"/>
          <p:cNvSpPr/>
          <p:nvPr/>
        </p:nvSpPr>
        <p:spPr>
          <a:xfrm>
            <a:off x="3337560" y="320040"/>
            <a:ext cx="73152" cy="1371600"/>
          </a:xfrm>
          <a:prstGeom prst="rect">
            <a:avLst/>
          </a:prstGeom>
          <a:solidFill>
            <a:srgbClr val="1565C0"/>
          </a:solidFill>
          <a:ln w="12700">
            <a:solidFill>
              <a:srgbClr val="1565C0"/>
            </a:solidFill>
            <a:prstDash val="solid"/>
          </a:ln>
        </p:spPr>
      </p:sp>
      <p:sp>
        <p:nvSpPr>
          <p:cNvPr id="19" name="Shape 17"/>
          <p:cNvSpPr/>
          <p:nvPr/>
        </p:nvSpPr>
        <p:spPr>
          <a:xfrm>
            <a:off x="3520440" y="548640"/>
            <a:ext cx="731520" cy="731520"/>
          </a:xfrm>
          <a:prstGeom prst="rect">
            <a:avLst/>
          </a:prstGeom>
          <a:solidFill>
            <a:srgbClr val="E3F2FD"/>
          </a:solidFill>
          <a:ln w="12700">
            <a:solidFill>
              <a:srgbClr val="000000"/>
            </a:solidFill>
            <a:prstDash val="solid"/>
          </a:ln>
        </p:spPr>
      </p:sp>
      <p:sp>
        <p:nvSpPr>
          <p:cNvPr id="20" name="Text 18"/>
          <p:cNvSpPr/>
          <p:nvPr/>
        </p:nvSpPr>
        <p:spPr>
          <a:xfrm>
            <a:off x="3520440" y="57607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4343400" y="484632"/>
            <a:ext cx="4389120" cy="347472"/>
          </a:xfrm>
          <a:prstGeom prst="rect">
            <a:avLst/>
          </a:prstGeom>
          <a:noFill/>
          <a:ln/>
        </p:spPr>
        <p:txBody>
          <a:bodyPr wrap="square" rtlCol="0" anchor="ctr"/>
          <a:lstStyle/>
          <a:p>
            <a:pPr marL="0" indent="0">
              <a:buNone/>
            </a:pPr>
            <a:r>
              <a:rPr lang="en-US" sz="1500" b="1" dirty="0">
                <a:solidFill>
                  <a:srgbClr val="0A1628"/>
                </a:solidFill>
              </a:rPr>
              <a:t>Time-Domain Analysis</a:t>
            </a:r>
            <a:endParaRPr lang="en-US" sz="1500" dirty="0"/>
          </a:p>
        </p:txBody>
      </p:sp>
      <p:sp>
        <p:nvSpPr>
          <p:cNvPr id="22" name="Text 20"/>
          <p:cNvSpPr/>
          <p:nvPr/>
        </p:nvSpPr>
        <p:spPr>
          <a:xfrm>
            <a:off x="4343400" y="822960"/>
            <a:ext cx="4389120" cy="731520"/>
          </a:xfrm>
          <a:prstGeom prst="rect">
            <a:avLst/>
          </a:prstGeom>
          <a:noFill/>
          <a:ln/>
        </p:spPr>
        <p:txBody>
          <a:bodyPr wrap="square" rtlCol="0" anchor="ctr"/>
          <a:lstStyle/>
          <a:p>
            <a:pPr>
              <a:lnSpc>
                <a:spcPct val="130000"/>
              </a:lnSpc>
            </a:pPr>
            <a:r>
              <a:rPr lang="en-US" sz="1050" dirty="0">
                <a:solidFill>
                  <a:srgbClr val="37474F"/>
                </a:solidFill>
              </a:rPr>
              <a:t> Here we study how vibration amplitude changes with time and extract statistical indicators like RMS, standard deviation, </a:t>
            </a:r>
            <a:r>
              <a:rPr lang="en-US" sz="1050" dirty="0" err="1">
                <a:solidFill>
                  <a:srgbClr val="37474F"/>
                </a:solidFill>
              </a:rPr>
              <a:t>skewness</a:t>
            </a:r>
            <a:r>
              <a:rPr lang="en-US" sz="1050" dirty="0">
                <a:solidFill>
                  <a:srgbClr val="37474F"/>
                </a:solidFill>
              </a:rPr>
              <a:t>, kurtosis, and crest factor. These features help us capture signal energy, impulsiveness, and abnormal peaks caused by bearing defects.</a:t>
            </a:r>
            <a:endParaRPr lang="en-US" sz="1050" dirty="0"/>
          </a:p>
        </p:txBody>
      </p:sp>
      <p:sp>
        <p:nvSpPr>
          <p:cNvPr id="23" name="Shape 21"/>
          <p:cNvSpPr/>
          <p:nvPr/>
        </p:nvSpPr>
        <p:spPr>
          <a:xfrm>
            <a:off x="3337560" y="187452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24" name="Shape 22"/>
          <p:cNvSpPr/>
          <p:nvPr/>
        </p:nvSpPr>
        <p:spPr>
          <a:xfrm>
            <a:off x="3337560" y="1874520"/>
            <a:ext cx="73152" cy="1371600"/>
          </a:xfrm>
          <a:prstGeom prst="rect">
            <a:avLst/>
          </a:prstGeom>
          <a:solidFill>
            <a:srgbClr val="00BCD4"/>
          </a:solidFill>
          <a:ln w="12700">
            <a:solidFill>
              <a:srgbClr val="00BCD4"/>
            </a:solidFill>
            <a:prstDash val="solid"/>
          </a:ln>
        </p:spPr>
      </p:sp>
      <p:sp>
        <p:nvSpPr>
          <p:cNvPr id="25" name="Shape 23"/>
          <p:cNvSpPr/>
          <p:nvPr/>
        </p:nvSpPr>
        <p:spPr>
          <a:xfrm>
            <a:off x="3520440" y="2103120"/>
            <a:ext cx="731520" cy="731520"/>
          </a:xfrm>
          <a:prstGeom prst="rect">
            <a:avLst/>
          </a:prstGeom>
          <a:solidFill>
            <a:srgbClr val="E0F7FA"/>
          </a:solidFill>
          <a:ln w="12700">
            <a:solidFill>
              <a:srgbClr val="000000"/>
            </a:solidFill>
            <a:prstDash val="solid"/>
          </a:ln>
        </p:spPr>
      </p:sp>
      <p:sp>
        <p:nvSpPr>
          <p:cNvPr id="26" name="Text 24"/>
          <p:cNvSpPr/>
          <p:nvPr/>
        </p:nvSpPr>
        <p:spPr>
          <a:xfrm>
            <a:off x="3520440" y="213055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7" name="Text 25"/>
          <p:cNvSpPr/>
          <p:nvPr/>
        </p:nvSpPr>
        <p:spPr>
          <a:xfrm>
            <a:off x="4343400" y="2039112"/>
            <a:ext cx="4389120" cy="347472"/>
          </a:xfrm>
          <a:prstGeom prst="rect">
            <a:avLst/>
          </a:prstGeom>
          <a:noFill/>
          <a:ln/>
        </p:spPr>
        <p:txBody>
          <a:bodyPr wrap="square" rtlCol="0" anchor="ctr"/>
          <a:lstStyle/>
          <a:p>
            <a:pPr marL="0" indent="0">
              <a:buNone/>
            </a:pPr>
            <a:r>
              <a:rPr lang="en-US" sz="1500" b="1" dirty="0">
                <a:solidFill>
                  <a:srgbClr val="0A1628"/>
                </a:solidFill>
              </a:rPr>
              <a:t>Frequency Analysis</a:t>
            </a:r>
            <a:endParaRPr lang="en-US" sz="1500" dirty="0"/>
          </a:p>
        </p:txBody>
      </p:sp>
      <p:sp>
        <p:nvSpPr>
          <p:cNvPr id="28" name="Text 26"/>
          <p:cNvSpPr/>
          <p:nvPr/>
        </p:nvSpPr>
        <p:spPr>
          <a:xfrm>
            <a:off x="4343400" y="2377440"/>
            <a:ext cx="4389120" cy="731520"/>
          </a:xfrm>
          <a:prstGeom prst="rect">
            <a:avLst/>
          </a:prstGeom>
          <a:noFill/>
          <a:ln/>
        </p:spPr>
        <p:txBody>
          <a:bodyPr wrap="square" rtlCol="0" anchor="ctr"/>
          <a:lstStyle/>
          <a:p>
            <a:pPr>
              <a:lnSpc>
                <a:spcPct val="130000"/>
              </a:lnSpc>
            </a:pPr>
            <a:r>
              <a:rPr lang="en-US" sz="1050" dirty="0">
                <a:solidFill>
                  <a:srgbClr val="37474F"/>
                </a:solidFill>
              </a:rPr>
              <a:t>We apply FFT to convert the signal from time to frequency space. This reveals dominant frequency components and spectral patterns that are strongly linked to fault types such as inner race, outer race, and ball defects. Frequency features improve </a:t>
            </a:r>
            <a:r>
              <a:rPr lang="en-US" sz="1050" dirty="0" err="1">
                <a:solidFill>
                  <a:srgbClr val="37474F"/>
                </a:solidFill>
              </a:rPr>
              <a:t>separability</a:t>
            </a:r>
            <a:r>
              <a:rPr lang="en-US" sz="1050" dirty="0">
                <a:solidFill>
                  <a:srgbClr val="37474F"/>
                </a:solidFill>
              </a:rPr>
              <a:t> between classes.</a:t>
            </a:r>
            <a:endParaRPr lang="en-US" sz="1050" dirty="0"/>
          </a:p>
        </p:txBody>
      </p:sp>
      <p:sp>
        <p:nvSpPr>
          <p:cNvPr id="29" name="Shape 27"/>
          <p:cNvSpPr/>
          <p:nvPr/>
        </p:nvSpPr>
        <p:spPr>
          <a:xfrm>
            <a:off x="3337560" y="342900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30" name="Shape 28"/>
          <p:cNvSpPr/>
          <p:nvPr/>
        </p:nvSpPr>
        <p:spPr>
          <a:xfrm>
            <a:off x="3337560" y="3429000"/>
            <a:ext cx="73152" cy="1371600"/>
          </a:xfrm>
          <a:prstGeom prst="rect">
            <a:avLst/>
          </a:prstGeom>
          <a:solidFill>
            <a:srgbClr val="00897B"/>
          </a:solidFill>
          <a:ln w="12700">
            <a:solidFill>
              <a:srgbClr val="00897B"/>
            </a:solidFill>
            <a:prstDash val="solid"/>
          </a:ln>
        </p:spPr>
      </p:sp>
      <p:sp>
        <p:nvSpPr>
          <p:cNvPr id="31" name="Shape 29"/>
          <p:cNvSpPr/>
          <p:nvPr/>
        </p:nvSpPr>
        <p:spPr>
          <a:xfrm>
            <a:off x="3520440" y="3657600"/>
            <a:ext cx="731520" cy="731520"/>
          </a:xfrm>
          <a:prstGeom prst="rect">
            <a:avLst/>
          </a:prstGeom>
          <a:solidFill>
            <a:srgbClr val="E8F5E9"/>
          </a:solidFill>
          <a:ln w="12700">
            <a:solidFill>
              <a:srgbClr val="000000"/>
            </a:solidFill>
            <a:prstDash val="solid"/>
          </a:ln>
        </p:spPr>
      </p:sp>
      <p:sp>
        <p:nvSpPr>
          <p:cNvPr id="32" name="Text 30"/>
          <p:cNvSpPr/>
          <p:nvPr/>
        </p:nvSpPr>
        <p:spPr>
          <a:xfrm>
            <a:off x="3520440" y="368503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3" name="Text 31"/>
          <p:cNvSpPr/>
          <p:nvPr/>
        </p:nvSpPr>
        <p:spPr>
          <a:xfrm>
            <a:off x="4343400" y="3593592"/>
            <a:ext cx="4389120" cy="347472"/>
          </a:xfrm>
          <a:prstGeom prst="rect">
            <a:avLst/>
          </a:prstGeom>
          <a:noFill/>
          <a:ln/>
        </p:spPr>
        <p:txBody>
          <a:bodyPr wrap="square" rtlCol="0" anchor="ctr"/>
          <a:lstStyle/>
          <a:p>
            <a:pPr marL="0" indent="0">
              <a:buNone/>
            </a:pPr>
            <a:r>
              <a:rPr lang="en-US" sz="1500" b="1" dirty="0">
                <a:solidFill>
                  <a:srgbClr val="0A1628"/>
                </a:solidFill>
              </a:rPr>
              <a:t>ML Classification</a:t>
            </a:r>
            <a:endParaRPr lang="en-US" sz="1500" dirty="0"/>
          </a:p>
        </p:txBody>
      </p:sp>
      <p:sp>
        <p:nvSpPr>
          <p:cNvPr id="34" name="Text 32"/>
          <p:cNvSpPr/>
          <p:nvPr/>
        </p:nvSpPr>
        <p:spPr>
          <a:xfrm>
            <a:off x="4343400" y="3931920"/>
            <a:ext cx="4389120" cy="731520"/>
          </a:xfrm>
          <a:prstGeom prst="rect">
            <a:avLst/>
          </a:prstGeom>
          <a:noFill/>
          <a:ln/>
        </p:spPr>
        <p:txBody>
          <a:bodyPr wrap="square" rtlCol="0" anchor="ctr"/>
          <a:lstStyle/>
          <a:p>
            <a:pPr>
              <a:lnSpc>
                <a:spcPct val="130000"/>
              </a:lnSpc>
            </a:pPr>
            <a:r>
              <a:rPr lang="en-US" sz="1050" dirty="0">
                <a:solidFill>
                  <a:srgbClr val="37474F"/>
                </a:solidFill>
              </a:rPr>
              <a:t> We combine time- and frequency-domain features into a feature vector and train models like SVM and Random Forest. The classifier learns fault-specific patterns and predicts the bearing condition automatically. This gives us a fast, interpretable, and practical diagnosis pipeline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F6F00"/>
          </a:solidFill>
          <a:ln w="12700">
            <a:solidFill>
              <a:srgbClr val="FF6F00"/>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INTRODUCTION: Problem Statement</a:t>
            </a:r>
            <a:endParaRPr lang="en-US" sz="2800" dirty="0"/>
          </a:p>
        </p:txBody>
      </p:sp>
      <p:sp>
        <p:nvSpPr>
          <p:cNvPr id="5" name="Shape 3"/>
          <p:cNvSpPr/>
          <p:nvPr/>
        </p:nvSpPr>
        <p:spPr>
          <a:xfrm>
            <a:off x="365760" y="1188720"/>
            <a:ext cx="8412480" cy="1325880"/>
          </a:xfrm>
          <a:prstGeom prst="rect">
            <a:avLst/>
          </a:prstGeom>
          <a:solidFill>
            <a:srgbClr val="FFFFFF"/>
          </a:solidFill>
          <a:ln w="12700">
            <a:solidFill>
              <a:srgbClr val="FFE0B2"/>
            </a:solidFill>
            <a:prstDash val="solid"/>
          </a:ln>
          <a:effectLst>
            <a:outerShdw blurRad="101600" dist="38100" dir="8100000" algn="bl" rotWithShape="0">
              <a:srgbClr val="000000">
                <a:alpha val="12000"/>
              </a:srgbClr>
            </a:outerShdw>
          </a:effectLst>
        </p:spPr>
      </p:sp>
      <p:sp>
        <p:nvSpPr>
          <p:cNvPr id="6" name="Shape 4"/>
          <p:cNvSpPr/>
          <p:nvPr/>
        </p:nvSpPr>
        <p:spPr>
          <a:xfrm>
            <a:off x="365760" y="1188720"/>
            <a:ext cx="82296" cy="1325880"/>
          </a:xfrm>
          <a:prstGeom prst="rect">
            <a:avLst/>
          </a:prstGeom>
          <a:solidFill>
            <a:srgbClr val="FF6F00"/>
          </a:solidFill>
          <a:ln w="12700">
            <a:solidFill>
              <a:srgbClr val="FF6F00"/>
            </a:solidFill>
            <a:prstDash val="solid"/>
          </a:ln>
        </p:spPr>
      </p:sp>
      <p:sp>
        <p:nvSpPr>
          <p:cNvPr id="7" name="Text 5"/>
          <p:cNvSpPr/>
          <p:nvPr/>
        </p:nvSpPr>
        <p:spPr>
          <a:xfrm>
            <a:off x="640080" y="1298448"/>
            <a:ext cx="7863840" cy="320040"/>
          </a:xfrm>
          <a:prstGeom prst="rect">
            <a:avLst/>
          </a:prstGeom>
          <a:noFill/>
          <a:ln/>
        </p:spPr>
        <p:txBody>
          <a:bodyPr wrap="square" rtlCol="0" anchor="ctr"/>
          <a:lstStyle/>
          <a:p>
            <a:pPr marL="0" indent="0">
              <a:buNone/>
            </a:pPr>
            <a:r>
              <a:rPr lang="en-US" sz="1300" b="1" kern="0" spc="100" dirty="0">
                <a:solidFill>
                  <a:srgbClr val="FF6F00"/>
                </a:solidFill>
              </a:rPr>
              <a:t> THE DIAGNOSTIC CHALLENGE</a:t>
            </a:r>
            <a:endParaRPr lang="en-US" sz="1300" dirty="0"/>
          </a:p>
        </p:txBody>
      </p:sp>
      <p:sp>
        <p:nvSpPr>
          <p:cNvPr id="8" name="Text 6"/>
          <p:cNvSpPr/>
          <p:nvPr/>
        </p:nvSpPr>
        <p:spPr>
          <a:xfrm>
            <a:off x="640080" y="1627632"/>
            <a:ext cx="7772400" cy="749808"/>
          </a:xfrm>
          <a:prstGeom prst="rect">
            <a:avLst/>
          </a:prstGeom>
          <a:noFill/>
          <a:ln/>
        </p:spPr>
        <p:txBody>
          <a:bodyPr wrap="square" rtlCol="0" anchor="ctr"/>
          <a:lstStyle/>
          <a:p>
            <a:pPr marL="0" indent="0">
              <a:lnSpc>
                <a:spcPct val="140000"/>
              </a:lnSpc>
              <a:buNone/>
            </a:pPr>
            <a:r>
              <a:rPr lang="en-US" sz="1150" dirty="0">
                <a:solidFill>
                  <a:srgbClr val="37474F"/>
                </a:solidFill>
              </a:rPr>
              <a:t>Manual interpretation of vibration signals is time-consuming and demands extreme domain expertise. Large volumes of continuous sensor data make manual analysis completely unscalable for modern industrial facilities  a single plant may generate terabytes of vibration data daily.</a:t>
            </a:r>
            <a:endParaRPr lang="en-US" sz="1150" dirty="0"/>
          </a:p>
        </p:txBody>
      </p:sp>
      <p:sp>
        <p:nvSpPr>
          <p:cNvPr id="9" name="Shape 7"/>
          <p:cNvSpPr/>
          <p:nvPr/>
        </p:nvSpPr>
        <p:spPr>
          <a:xfrm>
            <a:off x="365760" y="2697480"/>
            <a:ext cx="8412480" cy="1508760"/>
          </a:xfrm>
          <a:prstGeom prst="rect">
            <a:avLst/>
          </a:prstGeom>
          <a:solidFill>
            <a:srgbClr val="0A1628"/>
          </a:solidFill>
          <a:ln w="12700">
            <a:solidFill>
              <a:srgbClr val="0A1628"/>
            </a:solidFill>
            <a:prstDash val="solid"/>
          </a:ln>
          <a:effectLst>
            <a:outerShdw blurRad="101600" dist="38100" dir="8100000" algn="bl" rotWithShape="0">
              <a:srgbClr val="000000">
                <a:alpha val="12000"/>
              </a:srgbClr>
            </a:outerShdw>
          </a:effectLst>
        </p:spPr>
      </p:sp>
      <p:sp>
        <p:nvSpPr>
          <p:cNvPr id="10" name="Text 8"/>
          <p:cNvSpPr/>
          <p:nvPr/>
        </p:nvSpPr>
        <p:spPr>
          <a:xfrm>
            <a:off x="640080" y="2816352"/>
            <a:ext cx="7863840" cy="320040"/>
          </a:xfrm>
          <a:prstGeom prst="rect">
            <a:avLst/>
          </a:prstGeom>
          <a:noFill/>
          <a:ln/>
        </p:spPr>
        <p:txBody>
          <a:bodyPr wrap="square" rtlCol="0" anchor="ctr"/>
          <a:lstStyle/>
          <a:p>
            <a:pPr marL="0" indent="0">
              <a:buNone/>
            </a:pPr>
            <a:r>
              <a:rPr lang="en-US" sz="1300" b="1" kern="0" spc="100" dirty="0">
                <a:solidFill>
                  <a:srgbClr val="00BCD4"/>
                </a:solidFill>
              </a:rPr>
              <a:t>🎯  PROJECT FOCUS</a:t>
            </a:r>
            <a:endParaRPr lang="en-US" sz="1300" dirty="0"/>
          </a:p>
        </p:txBody>
      </p:sp>
      <p:sp>
        <p:nvSpPr>
          <p:cNvPr id="11" name="Text 9"/>
          <p:cNvSpPr/>
          <p:nvPr/>
        </p:nvSpPr>
        <p:spPr>
          <a:xfrm>
            <a:off x="640080" y="3136392"/>
            <a:ext cx="7772400" cy="411480"/>
          </a:xfrm>
          <a:prstGeom prst="rect">
            <a:avLst/>
          </a:prstGeom>
          <a:noFill/>
          <a:ln/>
        </p:spPr>
        <p:txBody>
          <a:bodyPr wrap="square" rtlCol="0" anchor="ctr"/>
          <a:lstStyle/>
          <a:p>
            <a:pPr marL="0" indent="0">
              <a:lnSpc>
                <a:spcPct val="130000"/>
              </a:lnSpc>
              <a:buNone/>
            </a:pPr>
            <a:r>
              <a:rPr lang="en-US" sz="1150" dirty="0">
                <a:solidFill>
                  <a:srgbClr val="CBD5E0"/>
                </a:solidFill>
              </a:rPr>
              <a:t>Build a reliable, interpretable, and automated end-to-end ML pipeline that classifies bearing vibration signals into:</a:t>
            </a:r>
            <a:endParaRPr lang="en-US" sz="1150" dirty="0"/>
          </a:p>
        </p:txBody>
      </p:sp>
      <p:sp>
        <p:nvSpPr>
          <p:cNvPr id="12" name="Shape 10"/>
          <p:cNvSpPr/>
          <p:nvPr/>
        </p:nvSpPr>
        <p:spPr>
          <a:xfrm>
            <a:off x="594360" y="3547872"/>
            <a:ext cx="1920240" cy="457200"/>
          </a:xfrm>
          <a:prstGeom prst="roundRect">
            <a:avLst>
              <a:gd name="adj" fmla="val 16000"/>
            </a:avLst>
          </a:prstGeom>
          <a:solidFill>
            <a:srgbClr val="00897B"/>
          </a:solidFill>
          <a:ln w="12700">
            <a:solidFill>
              <a:srgbClr val="00897B"/>
            </a:solidFill>
            <a:prstDash val="solid"/>
          </a:ln>
        </p:spPr>
      </p:sp>
      <p:sp>
        <p:nvSpPr>
          <p:cNvPr id="13" name="Text 11"/>
          <p:cNvSpPr/>
          <p:nvPr/>
        </p:nvSpPr>
        <p:spPr>
          <a:xfrm>
            <a:off x="594360" y="3547872"/>
            <a:ext cx="1920240" cy="457200"/>
          </a:xfrm>
          <a:prstGeom prst="rect">
            <a:avLst/>
          </a:prstGeom>
          <a:noFill/>
          <a:ln/>
        </p:spPr>
        <p:txBody>
          <a:bodyPr wrap="square" rtlCol="0" anchor="ctr"/>
          <a:lstStyle/>
          <a:p>
            <a:pPr marL="0" indent="0" algn="ctr">
              <a:buNone/>
            </a:pPr>
            <a:r>
              <a:rPr lang="en-US" sz="1100" b="1" dirty="0">
                <a:solidFill>
                  <a:srgbClr val="FFFFFF"/>
                </a:solidFill>
              </a:rPr>
              <a:t>Normal</a:t>
            </a:r>
            <a:endParaRPr lang="en-US" sz="1100" dirty="0"/>
          </a:p>
        </p:txBody>
      </p:sp>
      <p:sp>
        <p:nvSpPr>
          <p:cNvPr id="14" name="Shape 12"/>
          <p:cNvSpPr/>
          <p:nvPr/>
        </p:nvSpPr>
        <p:spPr>
          <a:xfrm>
            <a:off x="2651760" y="3547872"/>
            <a:ext cx="1920240" cy="457200"/>
          </a:xfrm>
          <a:prstGeom prst="roundRect">
            <a:avLst>
              <a:gd name="adj" fmla="val 16000"/>
            </a:avLst>
          </a:prstGeom>
          <a:solidFill>
            <a:srgbClr val="1565C0"/>
          </a:solidFill>
          <a:ln w="12700">
            <a:solidFill>
              <a:srgbClr val="1565C0"/>
            </a:solidFill>
            <a:prstDash val="solid"/>
          </a:ln>
        </p:spPr>
      </p:sp>
      <p:sp>
        <p:nvSpPr>
          <p:cNvPr id="15" name="Text 13"/>
          <p:cNvSpPr/>
          <p:nvPr/>
        </p:nvSpPr>
        <p:spPr>
          <a:xfrm>
            <a:off x="2651760" y="3547872"/>
            <a:ext cx="1920240" cy="457200"/>
          </a:xfrm>
          <a:prstGeom prst="rect">
            <a:avLst/>
          </a:prstGeom>
          <a:noFill/>
          <a:ln/>
        </p:spPr>
        <p:txBody>
          <a:bodyPr wrap="square" rtlCol="0" anchor="ctr"/>
          <a:lstStyle/>
          <a:p>
            <a:pPr marL="0" indent="0" algn="ctr">
              <a:buNone/>
            </a:pPr>
            <a:r>
              <a:rPr lang="en-US" sz="1100" b="1" dirty="0">
                <a:solidFill>
                  <a:srgbClr val="FFFFFF"/>
                </a:solidFill>
              </a:rPr>
              <a:t> Ball Fault</a:t>
            </a:r>
            <a:endParaRPr lang="en-US" sz="1100" dirty="0"/>
          </a:p>
        </p:txBody>
      </p:sp>
      <p:sp>
        <p:nvSpPr>
          <p:cNvPr id="16" name="Shape 14"/>
          <p:cNvSpPr/>
          <p:nvPr/>
        </p:nvSpPr>
        <p:spPr>
          <a:xfrm>
            <a:off x="4709160" y="3547872"/>
            <a:ext cx="1920240" cy="457200"/>
          </a:xfrm>
          <a:prstGeom prst="roundRect">
            <a:avLst>
              <a:gd name="adj" fmla="val 16000"/>
            </a:avLst>
          </a:prstGeom>
          <a:solidFill>
            <a:srgbClr val="E53935"/>
          </a:solidFill>
          <a:ln w="12700">
            <a:solidFill>
              <a:srgbClr val="E53935"/>
            </a:solidFill>
            <a:prstDash val="solid"/>
          </a:ln>
        </p:spPr>
      </p:sp>
      <p:sp>
        <p:nvSpPr>
          <p:cNvPr id="17" name="Text 15"/>
          <p:cNvSpPr/>
          <p:nvPr/>
        </p:nvSpPr>
        <p:spPr>
          <a:xfrm>
            <a:off x="4709160" y="3547872"/>
            <a:ext cx="1920240" cy="457200"/>
          </a:xfrm>
          <a:prstGeom prst="rect">
            <a:avLst/>
          </a:prstGeom>
          <a:noFill/>
          <a:ln/>
        </p:spPr>
        <p:txBody>
          <a:bodyPr wrap="square" rtlCol="0" anchor="ctr"/>
          <a:lstStyle/>
          <a:p>
            <a:pPr marL="0" indent="0" algn="ctr">
              <a:buNone/>
            </a:pPr>
            <a:r>
              <a:rPr lang="en-US" sz="1100" b="1" dirty="0">
                <a:solidFill>
                  <a:srgbClr val="FFFFFF"/>
                </a:solidFill>
              </a:rPr>
              <a:t> Inner Race Fault</a:t>
            </a:r>
            <a:endParaRPr lang="en-US" sz="1100" dirty="0"/>
          </a:p>
        </p:txBody>
      </p:sp>
      <p:sp>
        <p:nvSpPr>
          <p:cNvPr id="18" name="Shape 16"/>
          <p:cNvSpPr/>
          <p:nvPr/>
        </p:nvSpPr>
        <p:spPr>
          <a:xfrm>
            <a:off x="6766560" y="3547872"/>
            <a:ext cx="1920240" cy="457200"/>
          </a:xfrm>
          <a:prstGeom prst="roundRect">
            <a:avLst>
              <a:gd name="adj" fmla="val 16000"/>
            </a:avLst>
          </a:prstGeom>
          <a:solidFill>
            <a:srgbClr val="FB8C00"/>
          </a:solidFill>
          <a:ln w="12700">
            <a:solidFill>
              <a:srgbClr val="FB8C00"/>
            </a:solidFill>
            <a:prstDash val="solid"/>
          </a:ln>
        </p:spPr>
      </p:sp>
      <p:sp>
        <p:nvSpPr>
          <p:cNvPr id="19" name="Text 17"/>
          <p:cNvSpPr/>
          <p:nvPr/>
        </p:nvSpPr>
        <p:spPr>
          <a:xfrm>
            <a:off x="6766560" y="3547872"/>
            <a:ext cx="1920240" cy="457200"/>
          </a:xfrm>
          <a:prstGeom prst="rect">
            <a:avLst/>
          </a:prstGeom>
          <a:noFill/>
          <a:ln/>
        </p:spPr>
        <p:txBody>
          <a:bodyPr wrap="square" rtlCol="0" anchor="ctr"/>
          <a:lstStyle/>
          <a:p>
            <a:pPr marL="0" indent="0" algn="ctr">
              <a:buNone/>
            </a:pPr>
            <a:r>
              <a:rPr lang="en-US" sz="1100" b="1" dirty="0">
                <a:solidFill>
                  <a:srgbClr val="FFFFFF"/>
                </a:solidFill>
              </a:rPr>
              <a:t>Outer Race Fault</a:t>
            </a:r>
            <a:endParaRPr lang="en-US" sz="1100" dirty="0"/>
          </a:p>
        </p:txBody>
      </p:sp>
      <p:sp>
        <p:nvSpPr>
          <p:cNvPr id="20" name="Shape 18"/>
          <p:cNvSpPr/>
          <p:nvPr/>
        </p:nvSpPr>
        <p:spPr>
          <a:xfrm>
            <a:off x="365760" y="4389120"/>
            <a:ext cx="8412480" cy="566928"/>
          </a:xfrm>
          <a:prstGeom prst="rect">
            <a:avLst/>
          </a:prstGeom>
          <a:solidFill>
            <a:srgbClr val="1565C0"/>
          </a:solidFill>
          <a:ln w="12700">
            <a:solidFill>
              <a:srgbClr val="1565C0"/>
            </a:solidFill>
            <a:prstDash val="solid"/>
          </a:ln>
        </p:spPr>
      </p:sp>
      <p:sp>
        <p:nvSpPr>
          <p:cNvPr id="21" name="Text 19"/>
          <p:cNvSpPr/>
          <p:nvPr/>
        </p:nvSpPr>
        <p:spPr>
          <a:xfrm>
            <a:off x="548640" y="4462272"/>
            <a:ext cx="8046720" cy="420624"/>
          </a:xfrm>
          <a:prstGeom prst="rect">
            <a:avLst/>
          </a:prstGeom>
          <a:noFill/>
          <a:ln/>
        </p:spPr>
        <p:txBody>
          <a:bodyPr wrap="square" rtlCol="0" anchor="ctr"/>
          <a:lstStyle/>
          <a:p>
            <a:pPr marL="0" indent="0" algn="ctr">
              <a:buNone/>
            </a:pPr>
            <a:r>
              <a:rPr lang="en-US" sz="1200" b="1" dirty="0">
                <a:solidFill>
                  <a:srgbClr val="FFFFFF"/>
                </a:solidFill>
              </a:rPr>
              <a:t>Dataset: CWRU Benchmark  •  9,736 labeled windows  •  48 kHz sampling  •  4 bearing conditions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CD4"/>
          </a:solidFill>
          <a:ln w="12700">
            <a:solidFill>
              <a:srgbClr val="00BCD4"/>
            </a:solidFill>
            <a:prstDash val="solid"/>
          </a:ln>
        </p:spPr>
      </p:sp>
      <p:sp>
        <p:nvSpPr>
          <p:cNvPr id="3" name="Text 1"/>
          <p:cNvSpPr/>
          <p:nvPr/>
        </p:nvSpPr>
        <p:spPr>
          <a:xfrm>
            <a:off x="457200" y="182880"/>
            <a:ext cx="8229600" cy="548640"/>
          </a:xfrm>
          <a:prstGeom prst="rect">
            <a:avLst/>
          </a:prstGeom>
          <a:noFill/>
          <a:ln/>
        </p:spPr>
        <p:txBody>
          <a:bodyPr wrap="square" rtlCol="0" anchor="ctr"/>
          <a:lstStyle/>
          <a:p>
            <a:pPr marL="0" indent="0">
              <a:buNone/>
            </a:pPr>
            <a:r>
              <a:rPr lang="en-US" sz="3200" b="1" kern="0" spc="100" dirty="0">
                <a:solidFill>
                  <a:srgbClr val="FFFFFF"/>
                </a:solidFill>
                <a:latin typeface="Calibri" pitchFamily="34" charset="0"/>
                <a:ea typeface="Calibri" pitchFamily="34" charset="-122"/>
                <a:cs typeface="Calibri" pitchFamily="34" charset="-120"/>
              </a:rPr>
              <a:t>FUTURISTIC APPLICATIONS</a:t>
            </a:r>
            <a:endParaRPr lang="en-US" sz="3200" dirty="0"/>
          </a:p>
        </p:txBody>
      </p:sp>
      <p:sp>
        <p:nvSpPr>
          <p:cNvPr id="4" name="Text 2"/>
          <p:cNvSpPr/>
          <p:nvPr/>
        </p:nvSpPr>
        <p:spPr>
          <a:xfrm>
            <a:off x="457200" y="713232"/>
            <a:ext cx="8229600" cy="320040"/>
          </a:xfrm>
          <a:prstGeom prst="rect">
            <a:avLst/>
          </a:prstGeom>
          <a:noFill/>
          <a:ln/>
        </p:spPr>
        <p:txBody>
          <a:bodyPr wrap="square" rtlCol="0" anchor="ctr"/>
          <a:lstStyle/>
          <a:p>
            <a:pPr marL="0" indent="0">
              <a:buNone/>
            </a:pPr>
            <a:r>
              <a:rPr lang="en-US" sz="1300" i="1" dirty="0">
                <a:solidFill>
                  <a:srgbClr val="8ECAE6"/>
                </a:solidFill>
              </a:rPr>
              <a:t>Where this technology transforms industries</a:t>
            </a:r>
            <a:endParaRPr lang="en-US" sz="1300" dirty="0"/>
          </a:p>
        </p:txBody>
      </p:sp>
      <p:sp>
        <p:nvSpPr>
          <p:cNvPr id="5" name="Shape 3"/>
          <p:cNvSpPr/>
          <p:nvPr/>
        </p:nvSpPr>
        <p:spPr>
          <a:xfrm>
            <a:off x="320040" y="1188720"/>
            <a:ext cx="2743200" cy="3611880"/>
          </a:xfrm>
          <a:prstGeom prst="rect">
            <a:avLst/>
          </a:prstGeom>
          <a:solidFill>
            <a:srgbClr val="0D2547"/>
          </a:solidFill>
          <a:ln w="12700">
            <a:solidFill>
              <a:srgbClr val="1E88E5"/>
            </a:solidFill>
            <a:prstDash val="solid"/>
          </a:ln>
          <a:effectLst>
            <a:outerShdw blurRad="101600" dist="38100" dir="8100000" algn="bl" rotWithShape="0">
              <a:srgbClr val="000000">
                <a:alpha val="12000"/>
              </a:srgbClr>
            </a:outerShdw>
          </a:effectLst>
        </p:spPr>
      </p:sp>
      <p:sp>
        <p:nvSpPr>
          <p:cNvPr id="6" name="Shape 4"/>
          <p:cNvSpPr/>
          <p:nvPr/>
        </p:nvSpPr>
        <p:spPr>
          <a:xfrm>
            <a:off x="320040" y="1188720"/>
            <a:ext cx="2743200" cy="73152"/>
          </a:xfrm>
          <a:prstGeom prst="rect">
            <a:avLst/>
          </a:prstGeom>
          <a:solidFill>
            <a:srgbClr val="1E88E5"/>
          </a:solidFill>
          <a:ln w="12700">
            <a:solidFill>
              <a:srgbClr val="1E88E5"/>
            </a:solidFill>
            <a:prstDash val="solid"/>
          </a:ln>
        </p:spPr>
      </p:sp>
      <p:sp>
        <p:nvSpPr>
          <p:cNvPr id="7" name="Shape 5"/>
          <p:cNvSpPr/>
          <p:nvPr/>
        </p:nvSpPr>
        <p:spPr>
          <a:xfrm>
            <a:off x="1325880" y="1417320"/>
            <a:ext cx="731520" cy="731520"/>
          </a:xfrm>
          <a:prstGeom prst="ellipse">
            <a:avLst/>
          </a:prstGeom>
          <a:solidFill>
            <a:srgbClr val="1E88E5">
              <a:alpha val="80000"/>
            </a:srgbClr>
          </a:solidFill>
          <a:ln w="12700">
            <a:solidFill>
              <a:srgbClr val="1E88E5"/>
            </a:solidFill>
            <a:prstDash val="solid"/>
          </a:ln>
        </p:spPr>
      </p:sp>
      <p:sp>
        <p:nvSpPr>
          <p:cNvPr id="8" name="Text 6"/>
          <p:cNvSpPr/>
          <p:nvPr/>
        </p:nvSpPr>
        <p:spPr>
          <a:xfrm>
            <a:off x="1325880" y="141732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457200" y="2286000"/>
            <a:ext cx="2468880" cy="274320"/>
          </a:xfrm>
          <a:prstGeom prst="rect">
            <a:avLst/>
          </a:prstGeom>
          <a:noFill/>
          <a:ln/>
        </p:spPr>
        <p:txBody>
          <a:bodyPr wrap="square" rtlCol="0" anchor="ctr"/>
          <a:lstStyle/>
          <a:p>
            <a:pPr marL="0" indent="0" algn="ctr">
              <a:buNone/>
            </a:pPr>
            <a:r>
              <a:rPr lang="en-US" sz="800" b="1" kern="0" spc="150" dirty="0">
                <a:solidFill>
                  <a:srgbClr val="1E88E5"/>
                </a:solidFill>
              </a:rPr>
              <a:t>SMART MANUFACTURING</a:t>
            </a:r>
            <a:endParaRPr lang="en-US" sz="800" dirty="0"/>
          </a:p>
        </p:txBody>
      </p:sp>
      <p:sp>
        <p:nvSpPr>
          <p:cNvPr id="10" name="Text 8"/>
          <p:cNvSpPr/>
          <p:nvPr/>
        </p:nvSpPr>
        <p:spPr>
          <a:xfrm>
            <a:off x="457200" y="2542032"/>
            <a:ext cx="2468880" cy="457200"/>
          </a:xfrm>
          <a:prstGeom prst="rect">
            <a:avLst/>
          </a:prstGeom>
          <a:noFill/>
          <a:ln/>
        </p:spPr>
        <p:txBody>
          <a:bodyPr wrap="square" rtlCol="0" anchor="ctr"/>
          <a:lstStyle/>
          <a:p>
            <a:pPr marL="0" indent="0" algn="ctr">
              <a:buNone/>
            </a:pPr>
            <a:r>
              <a:rPr lang="en-US" sz="1900" b="1" dirty="0">
                <a:solidFill>
                  <a:srgbClr val="FFFFFF"/>
                </a:solidFill>
              </a:rPr>
              <a:t>Industry 4.0</a:t>
            </a:r>
            <a:endParaRPr lang="en-US" sz="1900" dirty="0"/>
          </a:p>
        </p:txBody>
      </p:sp>
      <p:sp>
        <p:nvSpPr>
          <p:cNvPr id="11" name="Shape 9"/>
          <p:cNvSpPr/>
          <p:nvPr/>
        </p:nvSpPr>
        <p:spPr>
          <a:xfrm>
            <a:off x="1051560" y="2999232"/>
            <a:ext cx="1280160" cy="36576"/>
          </a:xfrm>
          <a:prstGeom prst="rect">
            <a:avLst/>
          </a:prstGeom>
          <a:solidFill>
            <a:srgbClr val="1E88E5"/>
          </a:solidFill>
          <a:ln w="12700">
            <a:solidFill>
              <a:srgbClr val="1E88E5"/>
            </a:solidFill>
            <a:prstDash val="solid"/>
          </a:ln>
        </p:spPr>
      </p:sp>
      <p:sp>
        <p:nvSpPr>
          <p:cNvPr id="12" name="Text 10"/>
          <p:cNvSpPr/>
          <p:nvPr/>
        </p:nvSpPr>
        <p:spPr>
          <a:xfrm>
            <a:off x="457200" y="3090672"/>
            <a:ext cx="2468880" cy="1508760"/>
          </a:xfrm>
          <a:prstGeom prst="rect">
            <a:avLst/>
          </a:prstGeom>
          <a:noFill/>
          <a:ln/>
        </p:spPr>
        <p:txBody>
          <a:bodyPr wrap="square" rtlCol="0" anchor="ctr"/>
          <a:lstStyle/>
          <a:p>
            <a:pPr marL="0" indent="0" algn="ctr">
              <a:lnSpc>
                <a:spcPct val="140000"/>
              </a:lnSpc>
              <a:buNone/>
            </a:pPr>
            <a:r>
              <a:rPr lang="en-US" sz="1000" dirty="0">
                <a:solidFill>
                  <a:srgbClr val="B0BEC5"/>
                </a:solidFill>
              </a:rPr>
              <a:t>Integration with Smart Factories for real-time health scoring across entire production lines. Enables zero-downtime manufacturing.</a:t>
            </a:r>
            <a:endParaRPr lang="en-US" sz="1000" dirty="0"/>
          </a:p>
        </p:txBody>
      </p:sp>
      <p:sp>
        <p:nvSpPr>
          <p:cNvPr id="13" name="Shape 11"/>
          <p:cNvSpPr/>
          <p:nvPr/>
        </p:nvSpPr>
        <p:spPr>
          <a:xfrm>
            <a:off x="3246120" y="1188720"/>
            <a:ext cx="2743200" cy="3611880"/>
          </a:xfrm>
          <a:prstGeom prst="rect">
            <a:avLst/>
          </a:prstGeom>
          <a:solidFill>
            <a:srgbClr val="073340"/>
          </a:solidFill>
          <a:ln w="12700">
            <a:solidFill>
              <a:srgbClr val="00BCD4"/>
            </a:solidFill>
            <a:prstDash val="solid"/>
          </a:ln>
          <a:effectLst>
            <a:outerShdw blurRad="101600" dist="38100" dir="8100000" algn="bl" rotWithShape="0">
              <a:srgbClr val="000000">
                <a:alpha val="12000"/>
              </a:srgbClr>
            </a:outerShdw>
          </a:effectLst>
        </p:spPr>
      </p:sp>
      <p:sp>
        <p:nvSpPr>
          <p:cNvPr id="14" name="Shape 12"/>
          <p:cNvSpPr/>
          <p:nvPr/>
        </p:nvSpPr>
        <p:spPr>
          <a:xfrm>
            <a:off x="3246120" y="1188720"/>
            <a:ext cx="2743200" cy="73152"/>
          </a:xfrm>
          <a:prstGeom prst="rect">
            <a:avLst/>
          </a:prstGeom>
          <a:solidFill>
            <a:srgbClr val="00BCD4"/>
          </a:solidFill>
          <a:ln w="12700">
            <a:solidFill>
              <a:srgbClr val="00BCD4"/>
            </a:solidFill>
            <a:prstDash val="solid"/>
          </a:ln>
        </p:spPr>
      </p:sp>
      <p:sp>
        <p:nvSpPr>
          <p:cNvPr id="15" name="Shape 13"/>
          <p:cNvSpPr/>
          <p:nvPr/>
        </p:nvSpPr>
        <p:spPr>
          <a:xfrm>
            <a:off x="4251960" y="1417320"/>
            <a:ext cx="731520" cy="731520"/>
          </a:xfrm>
          <a:prstGeom prst="ellipse">
            <a:avLst/>
          </a:prstGeom>
          <a:solidFill>
            <a:srgbClr val="00BCD4">
              <a:alpha val="80000"/>
            </a:srgbClr>
          </a:solidFill>
          <a:ln w="12700">
            <a:solidFill>
              <a:srgbClr val="00BCD4"/>
            </a:solidFill>
            <a:prstDash val="solid"/>
          </a:ln>
        </p:spPr>
      </p:sp>
      <p:sp>
        <p:nvSpPr>
          <p:cNvPr id="16" name="Text 14"/>
          <p:cNvSpPr/>
          <p:nvPr/>
        </p:nvSpPr>
        <p:spPr>
          <a:xfrm>
            <a:off x="4251960" y="141732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3383280" y="2286000"/>
            <a:ext cx="2468880" cy="274320"/>
          </a:xfrm>
          <a:prstGeom prst="rect">
            <a:avLst/>
          </a:prstGeom>
          <a:noFill/>
          <a:ln/>
        </p:spPr>
        <p:txBody>
          <a:bodyPr wrap="square" rtlCol="0" anchor="ctr"/>
          <a:lstStyle/>
          <a:p>
            <a:pPr marL="0" indent="0" algn="ctr">
              <a:buNone/>
            </a:pPr>
            <a:r>
              <a:rPr lang="en-US" sz="800" b="1" kern="0" spc="150" dirty="0">
                <a:solidFill>
                  <a:srgbClr val="00BCD4"/>
                </a:solidFill>
              </a:rPr>
              <a:t>GREEN ENERGY</a:t>
            </a:r>
            <a:endParaRPr lang="en-US" sz="800" dirty="0"/>
          </a:p>
        </p:txBody>
      </p:sp>
      <p:sp>
        <p:nvSpPr>
          <p:cNvPr id="18" name="Text 16"/>
          <p:cNvSpPr/>
          <p:nvPr/>
        </p:nvSpPr>
        <p:spPr>
          <a:xfrm>
            <a:off x="3383280" y="2542032"/>
            <a:ext cx="2468880" cy="457200"/>
          </a:xfrm>
          <a:prstGeom prst="rect">
            <a:avLst/>
          </a:prstGeom>
          <a:noFill/>
          <a:ln/>
        </p:spPr>
        <p:txBody>
          <a:bodyPr wrap="square" rtlCol="0" anchor="ctr"/>
          <a:lstStyle/>
          <a:p>
            <a:pPr marL="0" indent="0" algn="ctr">
              <a:buNone/>
            </a:pPr>
            <a:r>
              <a:rPr lang="en-US" sz="1900" b="1" dirty="0">
                <a:solidFill>
                  <a:srgbClr val="FFFFFF"/>
                </a:solidFill>
              </a:rPr>
              <a:t>Energy Sector</a:t>
            </a:r>
            <a:endParaRPr lang="en-US" sz="1900" dirty="0"/>
          </a:p>
        </p:txBody>
      </p:sp>
      <p:sp>
        <p:nvSpPr>
          <p:cNvPr id="19" name="Shape 17"/>
          <p:cNvSpPr/>
          <p:nvPr/>
        </p:nvSpPr>
        <p:spPr>
          <a:xfrm>
            <a:off x="3977640" y="2999232"/>
            <a:ext cx="1280160" cy="36576"/>
          </a:xfrm>
          <a:prstGeom prst="rect">
            <a:avLst/>
          </a:prstGeom>
          <a:solidFill>
            <a:srgbClr val="00BCD4"/>
          </a:solidFill>
          <a:ln w="12700">
            <a:solidFill>
              <a:srgbClr val="00BCD4"/>
            </a:solidFill>
            <a:prstDash val="solid"/>
          </a:ln>
        </p:spPr>
      </p:sp>
      <p:sp>
        <p:nvSpPr>
          <p:cNvPr id="20" name="Text 18"/>
          <p:cNvSpPr/>
          <p:nvPr/>
        </p:nvSpPr>
        <p:spPr>
          <a:xfrm>
            <a:off x="3383280" y="3090672"/>
            <a:ext cx="2468880" cy="1508760"/>
          </a:xfrm>
          <a:prstGeom prst="rect">
            <a:avLst/>
          </a:prstGeom>
          <a:noFill/>
          <a:ln/>
        </p:spPr>
        <p:txBody>
          <a:bodyPr wrap="square" rtlCol="0" anchor="ctr"/>
          <a:lstStyle/>
          <a:p>
            <a:pPr marL="0" indent="0" algn="ctr">
              <a:lnSpc>
                <a:spcPct val="140000"/>
              </a:lnSpc>
              <a:buNone/>
            </a:pPr>
            <a:r>
              <a:rPr lang="en-US" sz="1000" dirty="0">
                <a:solidFill>
                  <a:srgbClr val="B0BEC5"/>
                </a:solidFill>
              </a:rPr>
              <a:t>Predictive maintenance for Wind Turbines and Hydroelectric generators, reducing maintenance costs by up to 30%.</a:t>
            </a:r>
            <a:endParaRPr lang="en-US" sz="1000" dirty="0"/>
          </a:p>
        </p:txBody>
      </p:sp>
      <p:sp>
        <p:nvSpPr>
          <p:cNvPr id="21" name="Shape 19"/>
          <p:cNvSpPr/>
          <p:nvPr/>
        </p:nvSpPr>
        <p:spPr>
          <a:xfrm>
            <a:off x="6172200" y="1188720"/>
            <a:ext cx="2743200" cy="3611880"/>
          </a:xfrm>
          <a:prstGeom prst="rect">
            <a:avLst/>
          </a:prstGeom>
          <a:solidFill>
            <a:srgbClr val="2D1A00"/>
          </a:solidFill>
          <a:ln w="12700">
            <a:solidFill>
              <a:srgbClr val="FF6F00"/>
            </a:solidFill>
            <a:prstDash val="solid"/>
          </a:ln>
          <a:effectLst>
            <a:outerShdw blurRad="101600" dist="38100" dir="8100000" algn="bl" rotWithShape="0">
              <a:srgbClr val="000000">
                <a:alpha val="12000"/>
              </a:srgbClr>
            </a:outerShdw>
          </a:effectLst>
        </p:spPr>
      </p:sp>
      <p:sp>
        <p:nvSpPr>
          <p:cNvPr id="22" name="Shape 20"/>
          <p:cNvSpPr/>
          <p:nvPr/>
        </p:nvSpPr>
        <p:spPr>
          <a:xfrm>
            <a:off x="6172200" y="1188720"/>
            <a:ext cx="2743200" cy="73152"/>
          </a:xfrm>
          <a:prstGeom prst="rect">
            <a:avLst/>
          </a:prstGeom>
          <a:solidFill>
            <a:srgbClr val="FF6F00"/>
          </a:solidFill>
          <a:ln w="12700">
            <a:solidFill>
              <a:srgbClr val="FF6F00"/>
            </a:solidFill>
            <a:prstDash val="solid"/>
          </a:ln>
        </p:spPr>
      </p:sp>
      <p:sp>
        <p:nvSpPr>
          <p:cNvPr id="23" name="Shape 21"/>
          <p:cNvSpPr/>
          <p:nvPr/>
        </p:nvSpPr>
        <p:spPr>
          <a:xfrm>
            <a:off x="7178040" y="1417320"/>
            <a:ext cx="731520" cy="731520"/>
          </a:xfrm>
          <a:prstGeom prst="ellipse">
            <a:avLst/>
          </a:prstGeom>
          <a:solidFill>
            <a:srgbClr val="FF6F00">
              <a:alpha val="80000"/>
            </a:srgbClr>
          </a:solidFill>
          <a:ln w="12700">
            <a:solidFill>
              <a:srgbClr val="FF6F00"/>
            </a:solidFill>
            <a:prstDash val="solid"/>
          </a:ln>
        </p:spPr>
      </p:sp>
      <p:sp>
        <p:nvSpPr>
          <p:cNvPr id="24" name="Text 22"/>
          <p:cNvSpPr/>
          <p:nvPr/>
        </p:nvSpPr>
        <p:spPr>
          <a:xfrm>
            <a:off x="7178040" y="141732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5" name="Text 23"/>
          <p:cNvSpPr/>
          <p:nvPr/>
        </p:nvSpPr>
        <p:spPr>
          <a:xfrm>
            <a:off x="6309360" y="2286000"/>
            <a:ext cx="2468880" cy="274320"/>
          </a:xfrm>
          <a:prstGeom prst="rect">
            <a:avLst/>
          </a:prstGeom>
          <a:noFill/>
          <a:ln/>
        </p:spPr>
        <p:txBody>
          <a:bodyPr wrap="square" rtlCol="0" anchor="ctr"/>
          <a:lstStyle/>
          <a:p>
            <a:pPr marL="0" indent="0" algn="ctr">
              <a:buNone/>
            </a:pPr>
            <a:r>
              <a:rPr lang="en-US" sz="800" b="1" kern="0" spc="150" dirty="0">
                <a:solidFill>
                  <a:srgbClr val="FF6F00"/>
                </a:solidFill>
              </a:rPr>
              <a:t>SAFETY CRITICAL</a:t>
            </a:r>
            <a:endParaRPr lang="en-US" sz="800" dirty="0"/>
          </a:p>
        </p:txBody>
      </p:sp>
      <p:sp>
        <p:nvSpPr>
          <p:cNvPr id="26" name="Text 24"/>
          <p:cNvSpPr/>
          <p:nvPr/>
        </p:nvSpPr>
        <p:spPr>
          <a:xfrm>
            <a:off x="6309360" y="2542032"/>
            <a:ext cx="2468880" cy="457200"/>
          </a:xfrm>
          <a:prstGeom prst="rect">
            <a:avLst/>
          </a:prstGeom>
          <a:noFill/>
          <a:ln/>
        </p:spPr>
        <p:txBody>
          <a:bodyPr wrap="square" rtlCol="0" anchor="ctr"/>
          <a:lstStyle/>
          <a:p>
            <a:pPr marL="0" indent="0" algn="ctr">
              <a:buNone/>
            </a:pPr>
            <a:r>
              <a:rPr lang="en-US" sz="1900" b="1" dirty="0">
                <a:solidFill>
                  <a:srgbClr val="FFFFFF"/>
                </a:solidFill>
              </a:rPr>
              <a:t>Aerospace</a:t>
            </a:r>
            <a:endParaRPr lang="en-US" sz="1900" dirty="0"/>
          </a:p>
        </p:txBody>
      </p:sp>
      <p:sp>
        <p:nvSpPr>
          <p:cNvPr id="27" name="Shape 25"/>
          <p:cNvSpPr/>
          <p:nvPr/>
        </p:nvSpPr>
        <p:spPr>
          <a:xfrm>
            <a:off x="6903720" y="2999232"/>
            <a:ext cx="1280160" cy="36576"/>
          </a:xfrm>
          <a:prstGeom prst="rect">
            <a:avLst/>
          </a:prstGeom>
          <a:solidFill>
            <a:srgbClr val="FF6F00"/>
          </a:solidFill>
          <a:ln w="12700">
            <a:solidFill>
              <a:srgbClr val="FF6F00"/>
            </a:solidFill>
            <a:prstDash val="solid"/>
          </a:ln>
        </p:spPr>
      </p:sp>
      <p:sp>
        <p:nvSpPr>
          <p:cNvPr id="28" name="Text 26"/>
          <p:cNvSpPr/>
          <p:nvPr/>
        </p:nvSpPr>
        <p:spPr>
          <a:xfrm>
            <a:off x="6309360" y="3090672"/>
            <a:ext cx="2468880" cy="1508760"/>
          </a:xfrm>
          <a:prstGeom prst="rect">
            <a:avLst/>
          </a:prstGeom>
          <a:noFill/>
          <a:ln/>
        </p:spPr>
        <p:txBody>
          <a:bodyPr wrap="square" rtlCol="0" anchor="ctr"/>
          <a:lstStyle/>
          <a:p>
            <a:pPr marL="0" indent="0" algn="ctr">
              <a:lnSpc>
                <a:spcPct val="140000"/>
              </a:lnSpc>
              <a:buNone/>
            </a:pPr>
            <a:r>
              <a:rPr lang="en-US" sz="1000" dirty="0">
                <a:solidFill>
                  <a:srgbClr val="B0BEC5"/>
                </a:solidFill>
              </a:rPr>
              <a:t>Fault monitoring in jet engine bearings for enhanced passenger safety. Real-time alerts prevent catastrophic failure.</a:t>
            </a:r>
            <a:endParaRPr lang="en-US" sz="1000" dirty="0"/>
          </a:p>
        </p:txBody>
      </p:sp>
      <p:sp>
        <p:nvSpPr>
          <p:cNvPr id="29" name="Shape 27"/>
          <p:cNvSpPr/>
          <p:nvPr/>
        </p:nvSpPr>
        <p:spPr>
          <a:xfrm>
            <a:off x="0" y="4800600"/>
            <a:ext cx="9144000" cy="342900"/>
          </a:xfrm>
          <a:prstGeom prst="rect">
            <a:avLst/>
          </a:prstGeom>
          <a:solidFill>
            <a:srgbClr val="061020"/>
          </a:solidFill>
          <a:ln w="12700">
            <a:solidFill>
              <a:srgbClr val="061020"/>
            </a:solidFill>
            <a:prstDash val="solid"/>
          </a:ln>
        </p:spPr>
      </p:sp>
      <p:sp>
        <p:nvSpPr>
          <p:cNvPr id="30" name="Text 28"/>
          <p:cNvSpPr/>
          <p:nvPr/>
        </p:nvSpPr>
        <p:spPr>
          <a:xfrm>
            <a:off x="457200" y="4828032"/>
            <a:ext cx="8229600" cy="292608"/>
          </a:xfrm>
          <a:prstGeom prst="rect">
            <a:avLst/>
          </a:prstGeom>
          <a:noFill/>
          <a:ln/>
        </p:spPr>
        <p:txBody>
          <a:bodyPr wrap="square" rtlCol="0" anchor="ctr"/>
          <a:lstStyle/>
          <a:p>
            <a:pPr marL="0" indent="0" algn="ctr">
              <a:buNone/>
            </a:pPr>
            <a:r>
              <a:rPr lang="en-US" sz="1200" i="1" dirty="0">
                <a:solidFill>
                  <a:srgbClr val="00BCD4"/>
                </a:solidFill>
              </a:rPr>
              <a:t>"Shifting from Reactive to Proactive Maintenance Paradigms"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LITERATURE SURVEY</a:t>
            </a:r>
            <a:endParaRPr lang="en-US" sz="3000" dirty="0"/>
          </a:p>
        </p:txBody>
      </p:sp>
      <p:sp>
        <p:nvSpPr>
          <p:cNvPr id="5" name="Shape 3"/>
          <p:cNvSpPr/>
          <p:nvPr/>
        </p:nvSpPr>
        <p:spPr>
          <a:xfrm>
            <a:off x="274320" y="1170432"/>
            <a:ext cx="2743200" cy="19202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2743200" cy="64008"/>
          </a:xfrm>
          <a:prstGeom prst="rect">
            <a:avLst/>
          </a:prstGeom>
          <a:solidFill>
            <a:srgbClr val="1565C0"/>
          </a:solidFill>
          <a:ln w="12700">
            <a:solidFill>
              <a:srgbClr val="1565C0"/>
            </a:solidFill>
            <a:prstDash val="solid"/>
          </a:ln>
        </p:spPr>
      </p:sp>
      <p:sp>
        <p:nvSpPr>
          <p:cNvPr id="7" name="Shape 5"/>
          <p:cNvSpPr/>
          <p:nvPr/>
        </p:nvSpPr>
        <p:spPr>
          <a:xfrm>
            <a:off x="384048" y="1325880"/>
            <a:ext cx="502920" cy="502920"/>
          </a:xfrm>
          <a:prstGeom prst="ellipse">
            <a:avLst/>
          </a:prstGeom>
          <a:solidFill>
            <a:srgbClr val="1565C0"/>
          </a:solidFill>
          <a:ln w="12700">
            <a:solidFill>
              <a:srgbClr val="1565C0"/>
            </a:solidFill>
            <a:prstDash val="solid"/>
          </a:ln>
        </p:spPr>
      </p:sp>
      <p:sp>
        <p:nvSpPr>
          <p:cNvPr id="8" name="Text 6"/>
          <p:cNvSpPr/>
          <p:nvPr/>
        </p:nvSpPr>
        <p:spPr>
          <a:xfrm>
            <a:off x="384048" y="1325880"/>
            <a:ext cx="502920" cy="50292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9" name="Text 7"/>
          <p:cNvSpPr/>
          <p:nvPr/>
        </p:nvSpPr>
        <p:spPr>
          <a:xfrm>
            <a:off x="1024128" y="1344168"/>
            <a:ext cx="1920240" cy="475488"/>
          </a:xfrm>
          <a:prstGeom prst="rect">
            <a:avLst/>
          </a:prstGeom>
          <a:noFill/>
          <a:ln/>
        </p:spPr>
        <p:txBody>
          <a:bodyPr wrap="square" rtlCol="0" anchor="ctr"/>
          <a:lstStyle/>
          <a:p>
            <a:pPr marL="0" indent="0">
              <a:lnSpc>
                <a:spcPct val="120000"/>
              </a:lnSpc>
              <a:buNone/>
            </a:pPr>
            <a:r>
              <a:rPr lang="en-US" sz="1200" b="1" dirty="0">
                <a:solidFill>
                  <a:srgbClr val="1565C0"/>
                </a:solidFill>
              </a:rPr>
              <a:t>Classical Signal Processing</a:t>
            </a:r>
            <a:endParaRPr lang="en-US" sz="1200" dirty="0"/>
          </a:p>
        </p:txBody>
      </p:sp>
      <p:sp>
        <p:nvSpPr>
          <p:cNvPr id="10" name="Text 8"/>
          <p:cNvSpPr/>
          <p:nvPr/>
        </p:nvSpPr>
        <p:spPr>
          <a:xfrm>
            <a:off x="41148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Waveform analysis, FFT peak identification, wavelet decomposition and fault frequency interpretation.</a:t>
            </a:r>
            <a:endParaRPr lang="en-US" sz="1050" dirty="0"/>
          </a:p>
        </p:txBody>
      </p:sp>
      <p:sp>
        <p:nvSpPr>
          <p:cNvPr id="11" name="Shape 9"/>
          <p:cNvSpPr/>
          <p:nvPr/>
        </p:nvSpPr>
        <p:spPr>
          <a:xfrm>
            <a:off x="3154680" y="1170432"/>
            <a:ext cx="2743200" cy="19202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12" name="Shape 10"/>
          <p:cNvSpPr/>
          <p:nvPr/>
        </p:nvSpPr>
        <p:spPr>
          <a:xfrm>
            <a:off x="3154680" y="1170432"/>
            <a:ext cx="2743200" cy="64008"/>
          </a:xfrm>
          <a:prstGeom prst="rect">
            <a:avLst/>
          </a:prstGeom>
          <a:solidFill>
            <a:srgbClr val="00897B"/>
          </a:solidFill>
          <a:ln w="12700">
            <a:solidFill>
              <a:srgbClr val="00897B"/>
            </a:solidFill>
            <a:prstDash val="solid"/>
          </a:ln>
        </p:spPr>
      </p:sp>
      <p:sp>
        <p:nvSpPr>
          <p:cNvPr id="13" name="Shape 11"/>
          <p:cNvSpPr/>
          <p:nvPr/>
        </p:nvSpPr>
        <p:spPr>
          <a:xfrm>
            <a:off x="3264408" y="1325880"/>
            <a:ext cx="502920" cy="502920"/>
          </a:xfrm>
          <a:prstGeom prst="ellipse">
            <a:avLst/>
          </a:prstGeom>
          <a:solidFill>
            <a:srgbClr val="00897B"/>
          </a:solidFill>
          <a:ln w="12700">
            <a:solidFill>
              <a:srgbClr val="00897B"/>
            </a:solidFill>
            <a:prstDash val="solid"/>
          </a:ln>
        </p:spPr>
      </p:sp>
      <p:sp>
        <p:nvSpPr>
          <p:cNvPr id="14" name="Text 12"/>
          <p:cNvSpPr/>
          <p:nvPr/>
        </p:nvSpPr>
        <p:spPr>
          <a:xfrm>
            <a:off x="3264408" y="1325880"/>
            <a:ext cx="502920" cy="50292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15" name="Text 13"/>
          <p:cNvSpPr/>
          <p:nvPr/>
        </p:nvSpPr>
        <p:spPr>
          <a:xfrm>
            <a:off x="3904488" y="1344168"/>
            <a:ext cx="1920240" cy="475488"/>
          </a:xfrm>
          <a:prstGeom prst="rect">
            <a:avLst/>
          </a:prstGeom>
          <a:noFill/>
          <a:ln/>
        </p:spPr>
        <p:txBody>
          <a:bodyPr wrap="square" rtlCol="0" anchor="ctr"/>
          <a:lstStyle/>
          <a:p>
            <a:pPr marL="0" indent="0">
              <a:lnSpc>
                <a:spcPct val="120000"/>
              </a:lnSpc>
              <a:buNone/>
            </a:pPr>
            <a:r>
              <a:rPr lang="en-US" sz="1200" b="1" dirty="0">
                <a:solidFill>
                  <a:srgbClr val="00897B"/>
                </a:solidFill>
              </a:rPr>
              <a:t>Feature-Based ML</a:t>
            </a:r>
            <a:endParaRPr lang="en-US" sz="1200" dirty="0"/>
          </a:p>
        </p:txBody>
      </p:sp>
      <p:sp>
        <p:nvSpPr>
          <p:cNvPr id="16" name="Text 14"/>
          <p:cNvSpPr/>
          <p:nvPr/>
        </p:nvSpPr>
        <p:spPr>
          <a:xfrm>
            <a:off x="329184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Statistical features extracted + SVM, Random Forest, and gradient boosting classifiers applied.</a:t>
            </a:r>
            <a:endParaRPr lang="en-US" sz="1050" dirty="0"/>
          </a:p>
        </p:txBody>
      </p:sp>
      <p:sp>
        <p:nvSpPr>
          <p:cNvPr id="17" name="Shape 15"/>
          <p:cNvSpPr/>
          <p:nvPr/>
        </p:nvSpPr>
        <p:spPr>
          <a:xfrm>
            <a:off x="6035040" y="1170432"/>
            <a:ext cx="2743200" cy="1920240"/>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sp>
      <p:sp>
        <p:nvSpPr>
          <p:cNvPr id="18" name="Shape 16"/>
          <p:cNvSpPr/>
          <p:nvPr/>
        </p:nvSpPr>
        <p:spPr>
          <a:xfrm>
            <a:off x="6035040" y="1170432"/>
            <a:ext cx="2743200" cy="64008"/>
          </a:xfrm>
          <a:prstGeom prst="rect">
            <a:avLst/>
          </a:prstGeom>
          <a:solidFill>
            <a:srgbClr val="FF6F00"/>
          </a:solidFill>
          <a:ln w="12700">
            <a:solidFill>
              <a:srgbClr val="FF6F00"/>
            </a:solidFill>
            <a:prstDash val="solid"/>
          </a:ln>
        </p:spPr>
      </p:sp>
      <p:sp>
        <p:nvSpPr>
          <p:cNvPr id="19" name="Shape 17"/>
          <p:cNvSpPr/>
          <p:nvPr/>
        </p:nvSpPr>
        <p:spPr>
          <a:xfrm>
            <a:off x="6144768" y="1325880"/>
            <a:ext cx="502920" cy="502920"/>
          </a:xfrm>
          <a:prstGeom prst="ellipse">
            <a:avLst/>
          </a:prstGeom>
          <a:solidFill>
            <a:srgbClr val="FF6F00"/>
          </a:solidFill>
          <a:ln w="12700">
            <a:solidFill>
              <a:srgbClr val="FF6F00"/>
            </a:solidFill>
            <a:prstDash val="solid"/>
          </a:ln>
        </p:spPr>
      </p:sp>
      <p:sp>
        <p:nvSpPr>
          <p:cNvPr id="20" name="Text 18"/>
          <p:cNvSpPr/>
          <p:nvPr/>
        </p:nvSpPr>
        <p:spPr>
          <a:xfrm>
            <a:off x="6144768" y="1325880"/>
            <a:ext cx="502920" cy="50292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21" name="Text 19"/>
          <p:cNvSpPr/>
          <p:nvPr/>
        </p:nvSpPr>
        <p:spPr>
          <a:xfrm>
            <a:off x="6784848" y="1344168"/>
            <a:ext cx="1920240" cy="475488"/>
          </a:xfrm>
          <a:prstGeom prst="rect">
            <a:avLst/>
          </a:prstGeom>
          <a:noFill/>
          <a:ln/>
        </p:spPr>
        <p:txBody>
          <a:bodyPr wrap="square" rtlCol="0" anchor="ctr"/>
          <a:lstStyle/>
          <a:p>
            <a:pPr marL="0" indent="0">
              <a:lnSpc>
                <a:spcPct val="120000"/>
              </a:lnSpc>
              <a:buNone/>
            </a:pPr>
            <a:r>
              <a:rPr lang="en-US" sz="1200" b="1" dirty="0">
                <a:solidFill>
                  <a:srgbClr val="FF6F00"/>
                </a:solidFill>
              </a:rPr>
              <a:t>Deep Learning</a:t>
            </a:r>
            <a:endParaRPr lang="en-US" sz="1200" dirty="0"/>
          </a:p>
        </p:txBody>
      </p:sp>
      <p:sp>
        <p:nvSpPr>
          <p:cNvPr id="22" name="Text 20"/>
          <p:cNvSpPr/>
          <p:nvPr/>
        </p:nvSpPr>
        <p:spPr>
          <a:xfrm>
            <a:off x="617220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CNNs and autoencoders learning directly from raw signals or time-frequency images.</a:t>
            </a:r>
            <a:endParaRPr lang="en-US" sz="1050" dirty="0"/>
          </a:p>
        </p:txBody>
      </p:sp>
      <p:sp>
        <p:nvSpPr>
          <p:cNvPr id="23" name="Shape 21"/>
          <p:cNvSpPr/>
          <p:nvPr/>
        </p:nvSpPr>
        <p:spPr>
          <a:xfrm>
            <a:off x="274320" y="3246120"/>
            <a:ext cx="8595360" cy="166420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24" name="Text 22"/>
          <p:cNvSpPr/>
          <p:nvPr/>
        </p:nvSpPr>
        <p:spPr>
          <a:xfrm>
            <a:off x="457200" y="3355848"/>
            <a:ext cx="8229600" cy="320040"/>
          </a:xfrm>
          <a:prstGeom prst="rect">
            <a:avLst/>
          </a:prstGeom>
          <a:noFill/>
          <a:ln/>
        </p:spPr>
        <p:txBody>
          <a:bodyPr wrap="square" rtlCol="0" anchor="ctr"/>
          <a:lstStyle/>
          <a:p>
            <a:pPr marL="0" indent="0">
              <a:buNone/>
            </a:pPr>
            <a:r>
              <a:rPr lang="en-US" sz="1100" b="1" kern="0" spc="150" dirty="0">
                <a:solidFill>
                  <a:srgbClr val="0A1628"/>
                </a:solidFill>
              </a:rPr>
              <a:t>KEY RESEARCHERS &amp; BENCHMARK</a:t>
            </a:r>
            <a:endParaRPr lang="en-US" sz="1100" dirty="0"/>
          </a:p>
        </p:txBody>
      </p:sp>
      <p:sp>
        <p:nvSpPr>
          <p:cNvPr id="25" name="Shape 23"/>
          <p:cNvSpPr/>
          <p:nvPr/>
        </p:nvSpPr>
        <p:spPr>
          <a:xfrm>
            <a:off x="457200" y="3639312"/>
            <a:ext cx="8229600" cy="36576"/>
          </a:xfrm>
          <a:prstGeom prst="rect">
            <a:avLst/>
          </a:prstGeom>
          <a:solidFill>
            <a:srgbClr val="E3EAF5"/>
          </a:solidFill>
          <a:ln w="12700">
            <a:solidFill>
              <a:srgbClr val="E3EAF5"/>
            </a:solidFill>
            <a:prstDash val="solid"/>
          </a:ln>
        </p:spPr>
      </p:sp>
      <p:sp>
        <p:nvSpPr>
          <p:cNvPr id="26" name="Shape 24"/>
          <p:cNvSpPr/>
          <p:nvPr/>
        </p:nvSpPr>
        <p:spPr>
          <a:xfrm>
            <a:off x="457200" y="3730752"/>
            <a:ext cx="54864" cy="1005840"/>
          </a:xfrm>
          <a:prstGeom prst="rect">
            <a:avLst/>
          </a:prstGeom>
          <a:solidFill>
            <a:srgbClr val="1565C0"/>
          </a:solidFill>
          <a:ln w="12700">
            <a:solidFill>
              <a:srgbClr val="1565C0"/>
            </a:solidFill>
            <a:prstDash val="solid"/>
          </a:ln>
        </p:spPr>
      </p:sp>
      <p:sp>
        <p:nvSpPr>
          <p:cNvPr id="27" name="Text 25"/>
          <p:cNvSpPr/>
          <p:nvPr/>
        </p:nvSpPr>
        <p:spPr>
          <a:xfrm>
            <a:off x="594360" y="3749040"/>
            <a:ext cx="2560320" cy="292608"/>
          </a:xfrm>
          <a:prstGeom prst="rect">
            <a:avLst/>
          </a:prstGeom>
          <a:noFill/>
          <a:ln/>
        </p:spPr>
        <p:txBody>
          <a:bodyPr wrap="square" rtlCol="0" anchor="ctr"/>
          <a:lstStyle/>
          <a:p>
            <a:pPr marL="0" indent="0">
              <a:buNone/>
            </a:pPr>
            <a:r>
              <a:rPr lang="en-US" sz="1100" b="1" dirty="0">
                <a:solidFill>
                  <a:srgbClr val="0A1628"/>
                </a:solidFill>
              </a:rPr>
              <a:t>Kankar et al. (2011)</a:t>
            </a:r>
            <a:endParaRPr lang="en-US" sz="1100" dirty="0"/>
          </a:p>
        </p:txBody>
      </p:sp>
      <p:sp>
        <p:nvSpPr>
          <p:cNvPr id="28" name="Text 26"/>
          <p:cNvSpPr/>
          <p:nvPr/>
        </p:nvSpPr>
        <p:spPr>
          <a:xfrm>
            <a:off x="59436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Demonstrated effectiveness of SVM &amp; Random Forest for bearing classification.</a:t>
            </a:r>
            <a:endParaRPr lang="en-US" sz="1000" dirty="0"/>
          </a:p>
        </p:txBody>
      </p:sp>
      <p:sp>
        <p:nvSpPr>
          <p:cNvPr id="29" name="Shape 27"/>
          <p:cNvSpPr/>
          <p:nvPr/>
        </p:nvSpPr>
        <p:spPr>
          <a:xfrm>
            <a:off x="3291840" y="3730752"/>
            <a:ext cx="54864" cy="1005840"/>
          </a:xfrm>
          <a:prstGeom prst="rect">
            <a:avLst/>
          </a:prstGeom>
          <a:solidFill>
            <a:srgbClr val="FF6F00"/>
          </a:solidFill>
          <a:ln w="12700">
            <a:solidFill>
              <a:srgbClr val="FF6F00"/>
            </a:solidFill>
            <a:prstDash val="solid"/>
          </a:ln>
        </p:spPr>
      </p:sp>
      <p:sp>
        <p:nvSpPr>
          <p:cNvPr id="30" name="Text 28"/>
          <p:cNvSpPr/>
          <p:nvPr/>
        </p:nvSpPr>
        <p:spPr>
          <a:xfrm>
            <a:off x="3429000" y="3749040"/>
            <a:ext cx="2560320" cy="292608"/>
          </a:xfrm>
          <a:prstGeom prst="rect">
            <a:avLst/>
          </a:prstGeom>
          <a:noFill/>
          <a:ln/>
        </p:spPr>
        <p:txBody>
          <a:bodyPr wrap="square" rtlCol="0" anchor="ctr"/>
          <a:lstStyle/>
          <a:p>
            <a:pPr marL="0" indent="0">
              <a:buNone/>
            </a:pPr>
            <a:r>
              <a:rPr lang="en-US" sz="1100" b="1" dirty="0">
                <a:solidFill>
                  <a:srgbClr val="0A1628"/>
                </a:solidFill>
              </a:rPr>
              <a:t>Rajeswari et al. (2014)</a:t>
            </a:r>
            <a:endParaRPr lang="en-US" sz="1100" dirty="0"/>
          </a:p>
        </p:txBody>
      </p:sp>
      <p:sp>
        <p:nvSpPr>
          <p:cNvPr id="31" name="Text 29"/>
          <p:cNvSpPr/>
          <p:nvPr/>
        </p:nvSpPr>
        <p:spPr>
          <a:xfrm>
            <a:off x="342900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Explored Wavelet Packet Transforms combined with hybrid PSO + SVM.</a:t>
            </a:r>
            <a:endParaRPr lang="en-US" sz="1000" dirty="0"/>
          </a:p>
        </p:txBody>
      </p:sp>
      <p:sp>
        <p:nvSpPr>
          <p:cNvPr id="32" name="Shape 30"/>
          <p:cNvSpPr/>
          <p:nvPr/>
        </p:nvSpPr>
        <p:spPr>
          <a:xfrm>
            <a:off x="6126480" y="3730752"/>
            <a:ext cx="54864" cy="1005840"/>
          </a:xfrm>
          <a:prstGeom prst="rect">
            <a:avLst/>
          </a:prstGeom>
          <a:solidFill>
            <a:srgbClr val="00897B"/>
          </a:solidFill>
          <a:ln w="12700">
            <a:solidFill>
              <a:srgbClr val="00897B"/>
            </a:solidFill>
            <a:prstDash val="solid"/>
          </a:ln>
        </p:spPr>
      </p:sp>
      <p:sp>
        <p:nvSpPr>
          <p:cNvPr id="33" name="Text 31"/>
          <p:cNvSpPr/>
          <p:nvPr/>
        </p:nvSpPr>
        <p:spPr>
          <a:xfrm>
            <a:off x="6263640" y="3749040"/>
            <a:ext cx="2560320" cy="292608"/>
          </a:xfrm>
          <a:prstGeom prst="rect">
            <a:avLst/>
          </a:prstGeom>
          <a:noFill/>
          <a:ln/>
        </p:spPr>
        <p:txBody>
          <a:bodyPr wrap="square" rtlCol="0" anchor="ctr"/>
          <a:lstStyle/>
          <a:p>
            <a:pPr marL="0" indent="0">
              <a:buNone/>
            </a:pPr>
            <a:r>
              <a:rPr lang="en-US" sz="1100" b="1" dirty="0">
                <a:solidFill>
                  <a:srgbClr val="0A1628"/>
                </a:solidFill>
              </a:rPr>
              <a:t>CWRU Benchmark Dataset</a:t>
            </a:r>
            <a:endParaRPr lang="en-US" sz="1100" dirty="0"/>
          </a:p>
        </p:txBody>
      </p:sp>
      <p:sp>
        <p:nvSpPr>
          <p:cNvPr id="34" name="Text 32"/>
          <p:cNvSpPr/>
          <p:nvPr/>
        </p:nvSpPr>
        <p:spPr>
          <a:xfrm>
            <a:off x="626364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The gold standard for evaluating all bearing fault diagnosis methods.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E53935"/>
          </a:solidFill>
          <a:ln w="12700">
            <a:solidFill>
              <a:srgbClr val="E53935"/>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LITERATURE SURVEY: Limitations</a:t>
            </a:r>
            <a:endParaRPr lang="en-US" sz="2800" dirty="0"/>
          </a:p>
        </p:txBody>
      </p:sp>
      <p:sp>
        <p:nvSpPr>
          <p:cNvPr id="5" name="Shape 3"/>
          <p:cNvSpPr/>
          <p:nvPr/>
        </p:nvSpPr>
        <p:spPr>
          <a:xfrm>
            <a:off x="365760" y="1188720"/>
            <a:ext cx="8412480" cy="1115568"/>
          </a:xfrm>
          <a:prstGeom prst="rect">
            <a:avLst/>
          </a:prstGeom>
          <a:solidFill>
            <a:srgbClr val="FFEBEE"/>
          </a:solidFill>
          <a:ln w="12700">
            <a:solidFill>
              <a:srgbClr val="E53935"/>
            </a:solidFill>
            <a:prstDash val="solid"/>
          </a:ln>
          <a:effectLst>
            <a:outerShdw blurRad="101600" dist="38100" dir="8100000" algn="bl" rotWithShape="0">
              <a:srgbClr val="000000">
                <a:alpha val="12000"/>
              </a:srgbClr>
            </a:outerShdw>
          </a:effectLst>
        </p:spPr>
      </p:sp>
      <p:sp>
        <p:nvSpPr>
          <p:cNvPr id="6" name="Shape 4"/>
          <p:cNvSpPr/>
          <p:nvPr/>
        </p:nvSpPr>
        <p:spPr>
          <a:xfrm>
            <a:off x="365760" y="1188720"/>
            <a:ext cx="73152" cy="1115568"/>
          </a:xfrm>
          <a:prstGeom prst="rect">
            <a:avLst/>
          </a:prstGeom>
          <a:solidFill>
            <a:srgbClr val="E53935"/>
          </a:solidFill>
          <a:ln w="12700">
            <a:solidFill>
              <a:srgbClr val="E53935"/>
            </a:solidFill>
            <a:prstDash val="solid"/>
          </a:ln>
        </p:spPr>
      </p:sp>
      <p:sp>
        <p:nvSpPr>
          <p:cNvPr id="7" name="Shape 5"/>
          <p:cNvSpPr/>
          <p:nvPr/>
        </p:nvSpPr>
        <p:spPr>
          <a:xfrm>
            <a:off x="566928" y="1389888"/>
            <a:ext cx="822960" cy="713232"/>
          </a:xfrm>
          <a:prstGeom prst="rect">
            <a:avLst/>
          </a:prstGeom>
          <a:solidFill>
            <a:srgbClr val="E53935">
              <a:alpha val="20000"/>
            </a:srgbClr>
          </a:solidFill>
          <a:ln w="12700">
            <a:solidFill>
              <a:srgbClr val="000000"/>
            </a:solidFill>
            <a:prstDash val="solid"/>
          </a:ln>
        </p:spPr>
      </p:sp>
      <p:sp>
        <p:nvSpPr>
          <p:cNvPr id="8" name="Text 6"/>
          <p:cNvSpPr/>
          <p:nvPr/>
        </p:nvSpPr>
        <p:spPr>
          <a:xfrm>
            <a:off x="566928" y="137160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1508760" y="1298448"/>
            <a:ext cx="7040880" cy="347472"/>
          </a:xfrm>
          <a:prstGeom prst="rect">
            <a:avLst/>
          </a:prstGeom>
          <a:noFill/>
          <a:ln/>
        </p:spPr>
        <p:txBody>
          <a:bodyPr wrap="square" rtlCol="0" anchor="ctr"/>
          <a:lstStyle/>
          <a:p>
            <a:pPr marL="0" indent="0">
              <a:buNone/>
            </a:pPr>
            <a:r>
              <a:rPr lang="en-US" sz="1500" b="1" dirty="0">
                <a:solidFill>
                  <a:srgbClr val="E53935"/>
                </a:solidFill>
              </a:rPr>
              <a:t>Hidden Preprocessing</a:t>
            </a:r>
            <a:endParaRPr lang="en-US" sz="1500" dirty="0"/>
          </a:p>
        </p:txBody>
      </p:sp>
      <p:sp>
        <p:nvSpPr>
          <p:cNvPr id="10" name="Text 8"/>
          <p:cNvSpPr/>
          <p:nvPr/>
        </p:nvSpPr>
        <p:spPr>
          <a:xfrm>
            <a:off x="1508760" y="162763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Many studies emphasize model accuracy while keeping all preprocessing and feature engineering assumptions completely opaque  making reproduction impossible.</a:t>
            </a:r>
            <a:endParaRPr lang="en-US" sz="1100" dirty="0"/>
          </a:p>
        </p:txBody>
      </p:sp>
      <p:sp>
        <p:nvSpPr>
          <p:cNvPr id="11" name="Shape 9"/>
          <p:cNvSpPr/>
          <p:nvPr/>
        </p:nvSpPr>
        <p:spPr>
          <a:xfrm>
            <a:off x="365760" y="2468880"/>
            <a:ext cx="8412480" cy="1115568"/>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12" name="Shape 10"/>
          <p:cNvSpPr/>
          <p:nvPr/>
        </p:nvSpPr>
        <p:spPr>
          <a:xfrm>
            <a:off x="365760" y="2468880"/>
            <a:ext cx="73152" cy="1115568"/>
          </a:xfrm>
          <a:prstGeom prst="rect">
            <a:avLst/>
          </a:prstGeom>
          <a:solidFill>
            <a:srgbClr val="1565C0"/>
          </a:solidFill>
          <a:ln w="12700">
            <a:solidFill>
              <a:srgbClr val="1565C0"/>
            </a:solidFill>
            <a:prstDash val="solid"/>
          </a:ln>
        </p:spPr>
      </p:sp>
      <p:sp>
        <p:nvSpPr>
          <p:cNvPr id="13" name="Shape 11"/>
          <p:cNvSpPr/>
          <p:nvPr/>
        </p:nvSpPr>
        <p:spPr>
          <a:xfrm>
            <a:off x="566928" y="2670048"/>
            <a:ext cx="822960" cy="713232"/>
          </a:xfrm>
          <a:prstGeom prst="rect">
            <a:avLst/>
          </a:prstGeom>
          <a:solidFill>
            <a:srgbClr val="1565C0">
              <a:alpha val="20000"/>
            </a:srgbClr>
          </a:solidFill>
          <a:ln w="12700">
            <a:solidFill>
              <a:srgbClr val="000000"/>
            </a:solidFill>
            <a:prstDash val="solid"/>
          </a:ln>
        </p:spPr>
      </p:sp>
      <p:sp>
        <p:nvSpPr>
          <p:cNvPr id="14" name="Text 12"/>
          <p:cNvSpPr/>
          <p:nvPr/>
        </p:nvSpPr>
        <p:spPr>
          <a:xfrm>
            <a:off x="566928" y="265176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1508760" y="2578608"/>
            <a:ext cx="7040880" cy="347472"/>
          </a:xfrm>
          <a:prstGeom prst="rect">
            <a:avLst/>
          </a:prstGeom>
          <a:noFill/>
          <a:ln/>
        </p:spPr>
        <p:txBody>
          <a:bodyPr wrap="square" rtlCol="0" anchor="ctr"/>
          <a:lstStyle/>
          <a:p>
            <a:pPr marL="0" indent="0">
              <a:buNone/>
            </a:pPr>
            <a:r>
              <a:rPr lang="en-US" sz="1500" b="1" dirty="0">
                <a:solidFill>
                  <a:srgbClr val="1565C0"/>
                </a:solidFill>
              </a:rPr>
              <a:t>Lack of Accessibility</a:t>
            </a:r>
            <a:endParaRPr lang="en-US" sz="1500" dirty="0"/>
          </a:p>
        </p:txBody>
      </p:sp>
      <p:sp>
        <p:nvSpPr>
          <p:cNvPr id="16" name="Text 14"/>
          <p:cNvSpPr/>
          <p:nvPr/>
        </p:nvSpPr>
        <p:spPr>
          <a:xfrm>
            <a:off x="1508760" y="290779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Complete absence of user-facing interfaces for real-time demonstration or educational purposes. Results exist only in research papers.</a:t>
            </a:r>
            <a:endParaRPr lang="en-US" sz="1100" dirty="0"/>
          </a:p>
        </p:txBody>
      </p:sp>
      <p:sp>
        <p:nvSpPr>
          <p:cNvPr id="17" name="Shape 15"/>
          <p:cNvSpPr/>
          <p:nvPr/>
        </p:nvSpPr>
        <p:spPr>
          <a:xfrm>
            <a:off x="365760" y="3749040"/>
            <a:ext cx="8412480" cy="1115568"/>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sp>
      <p:sp>
        <p:nvSpPr>
          <p:cNvPr id="18" name="Shape 16"/>
          <p:cNvSpPr/>
          <p:nvPr/>
        </p:nvSpPr>
        <p:spPr>
          <a:xfrm>
            <a:off x="365760" y="3749040"/>
            <a:ext cx="73152" cy="1115568"/>
          </a:xfrm>
          <a:prstGeom prst="rect">
            <a:avLst/>
          </a:prstGeom>
          <a:solidFill>
            <a:srgbClr val="FF6F00"/>
          </a:solidFill>
          <a:ln w="12700">
            <a:solidFill>
              <a:srgbClr val="FF6F00"/>
            </a:solidFill>
            <a:prstDash val="solid"/>
          </a:ln>
        </p:spPr>
      </p:sp>
      <p:sp>
        <p:nvSpPr>
          <p:cNvPr id="19" name="Shape 17"/>
          <p:cNvSpPr/>
          <p:nvPr/>
        </p:nvSpPr>
        <p:spPr>
          <a:xfrm>
            <a:off x="566928" y="3950208"/>
            <a:ext cx="822960" cy="713232"/>
          </a:xfrm>
          <a:prstGeom prst="rect">
            <a:avLst/>
          </a:prstGeom>
          <a:solidFill>
            <a:srgbClr val="FF6F00">
              <a:alpha val="20000"/>
            </a:srgbClr>
          </a:solidFill>
          <a:ln w="12700">
            <a:solidFill>
              <a:srgbClr val="000000"/>
            </a:solidFill>
            <a:prstDash val="solid"/>
          </a:ln>
        </p:spPr>
      </p:sp>
      <p:sp>
        <p:nvSpPr>
          <p:cNvPr id="20" name="Text 18"/>
          <p:cNvSpPr/>
          <p:nvPr/>
        </p:nvSpPr>
        <p:spPr>
          <a:xfrm>
            <a:off x="566928" y="393192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1508760" y="3858768"/>
            <a:ext cx="7040880" cy="347472"/>
          </a:xfrm>
          <a:prstGeom prst="rect">
            <a:avLst/>
          </a:prstGeom>
          <a:noFill/>
          <a:ln/>
        </p:spPr>
        <p:txBody>
          <a:bodyPr wrap="square" rtlCol="0" anchor="ctr"/>
          <a:lstStyle/>
          <a:p>
            <a:pPr marL="0" indent="0">
              <a:buNone/>
            </a:pPr>
            <a:r>
              <a:rPr lang="en-US" sz="1500" b="1" dirty="0">
                <a:solidFill>
                  <a:srgbClr val="FF6F00"/>
                </a:solidFill>
              </a:rPr>
              <a:t>Research-Practice Gap</a:t>
            </a:r>
            <a:endParaRPr lang="en-US" sz="1500" dirty="0"/>
          </a:p>
        </p:txBody>
      </p:sp>
      <p:sp>
        <p:nvSpPr>
          <p:cNvPr id="22" name="Text 20"/>
          <p:cNvSpPr/>
          <p:nvPr/>
        </p:nvSpPr>
        <p:spPr>
          <a:xfrm>
            <a:off x="1508760" y="418795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Prototypes rarely integrate raw signal handling, feature extraction, and GUI deployment in a single cohesive, reproducible workflow.</a:t>
            </a:r>
            <a:endParaRPr lang="en-US" sz="1100" dirty="0"/>
          </a:p>
        </p:txBody>
      </p:sp>
      <p:sp>
        <p:nvSpPr>
          <p:cNvPr id="23" name="Shape 21"/>
          <p:cNvSpPr/>
          <p:nvPr/>
        </p:nvSpPr>
        <p:spPr>
          <a:xfrm>
            <a:off x="365760" y="4709160"/>
            <a:ext cx="8412480" cy="320040"/>
          </a:xfrm>
          <a:prstGeom prst="rect">
            <a:avLst/>
          </a:prstGeom>
          <a:solidFill>
            <a:srgbClr val="00897B"/>
          </a:solidFill>
          <a:ln w="12700">
            <a:solidFill>
              <a:srgbClr val="00897B"/>
            </a:solidFill>
            <a:prstDash val="solid"/>
          </a:ln>
        </p:spPr>
      </p:sp>
      <p:sp>
        <p:nvSpPr>
          <p:cNvPr id="24" name="Text 22"/>
          <p:cNvSpPr/>
          <p:nvPr/>
        </p:nvSpPr>
        <p:spPr>
          <a:xfrm>
            <a:off x="548640" y="4736592"/>
            <a:ext cx="8046720" cy="274320"/>
          </a:xfrm>
          <a:prstGeom prst="rect">
            <a:avLst/>
          </a:prstGeom>
          <a:noFill/>
          <a:ln/>
        </p:spPr>
        <p:txBody>
          <a:bodyPr wrap="square" rtlCol="0" anchor="ctr"/>
          <a:lstStyle/>
          <a:p>
            <a:pPr marL="0" indent="0" algn="ctr">
              <a:buNone/>
            </a:pPr>
            <a:r>
              <a:rPr lang="en-US" sz="1100" b="1" dirty="0">
                <a:solidFill>
                  <a:srgbClr val="FFFFFF"/>
                </a:solidFill>
              </a:rPr>
              <a:t>  This project addresses ALL three limitations with a complete, open, end-to-end system.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F6F00"/>
          </a:solidFill>
          <a:ln w="12700">
            <a:solidFill>
              <a:srgbClr val="FF6F00"/>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RESEARCH GAPS &amp; OBJECTIVES</a:t>
            </a:r>
            <a:endParaRPr lang="en-US" sz="2800" dirty="0"/>
          </a:p>
        </p:txBody>
      </p:sp>
      <p:sp>
        <p:nvSpPr>
          <p:cNvPr id="5" name="Shape 3"/>
          <p:cNvSpPr/>
          <p:nvPr/>
        </p:nvSpPr>
        <p:spPr>
          <a:xfrm>
            <a:off x="274320" y="1188720"/>
            <a:ext cx="4023360" cy="3749040"/>
          </a:xfrm>
          <a:prstGeom prst="rect">
            <a:avLst/>
          </a:prstGeom>
          <a:solidFill>
            <a:srgbClr val="0A1628"/>
          </a:solidFill>
          <a:ln w="12700">
            <a:solidFill>
              <a:srgbClr val="0A1628"/>
            </a:solidFill>
            <a:prstDash val="solid"/>
          </a:ln>
          <a:effectLst>
            <a:outerShdw blurRad="101600" dist="38100" dir="8100000" algn="bl" rotWithShape="0">
              <a:srgbClr val="000000">
                <a:alpha val="12000"/>
              </a:srgbClr>
            </a:outerShdw>
          </a:effectLst>
        </p:spPr>
      </p:sp>
      <p:sp>
        <p:nvSpPr>
          <p:cNvPr id="6" name="Text 4"/>
          <p:cNvSpPr/>
          <p:nvPr/>
        </p:nvSpPr>
        <p:spPr>
          <a:xfrm>
            <a:off x="457200" y="1325880"/>
            <a:ext cx="3657600" cy="320040"/>
          </a:xfrm>
          <a:prstGeom prst="rect">
            <a:avLst/>
          </a:prstGeom>
          <a:noFill/>
          <a:ln/>
        </p:spPr>
        <p:txBody>
          <a:bodyPr wrap="square" rtlCol="0" anchor="ctr"/>
          <a:lstStyle/>
          <a:p>
            <a:pPr marL="0" indent="0">
              <a:buNone/>
            </a:pPr>
            <a:r>
              <a:rPr lang="en-US" sz="1100" b="1" kern="0" spc="200" dirty="0">
                <a:solidFill>
                  <a:srgbClr val="FF6F00"/>
                </a:solidFill>
              </a:rPr>
              <a:t>RESEARCH GAP</a:t>
            </a:r>
            <a:endParaRPr lang="en-US" sz="1100" dirty="0"/>
          </a:p>
        </p:txBody>
      </p:sp>
      <p:sp>
        <p:nvSpPr>
          <p:cNvPr id="7" name="Shape 5"/>
          <p:cNvSpPr/>
          <p:nvPr/>
        </p:nvSpPr>
        <p:spPr>
          <a:xfrm>
            <a:off x="457200" y="1627632"/>
            <a:ext cx="3474720" cy="36576"/>
          </a:xfrm>
          <a:prstGeom prst="rect">
            <a:avLst/>
          </a:prstGeom>
          <a:solidFill>
            <a:srgbClr val="FF6F00"/>
          </a:solidFill>
          <a:ln w="12700">
            <a:solidFill>
              <a:srgbClr val="FF6F00"/>
            </a:solidFill>
            <a:prstDash val="solid"/>
          </a:ln>
        </p:spPr>
      </p:sp>
      <p:sp>
        <p:nvSpPr>
          <p:cNvPr id="8" name="Text 6"/>
          <p:cNvSpPr/>
          <p:nvPr/>
        </p:nvSpPr>
        <p:spPr>
          <a:xfrm>
            <a:off x="457200" y="1737360"/>
            <a:ext cx="3657600" cy="1645920"/>
          </a:xfrm>
          <a:prstGeom prst="rect">
            <a:avLst/>
          </a:prstGeom>
          <a:noFill/>
          <a:ln/>
        </p:spPr>
        <p:txBody>
          <a:bodyPr wrap="square" rtlCol="0" anchor="ctr"/>
          <a:lstStyle/>
          <a:p>
            <a:pPr marL="0" indent="0">
              <a:lnSpc>
                <a:spcPct val="150000"/>
              </a:lnSpc>
              <a:buNone/>
            </a:pPr>
            <a:r>
              <a:rPr lang="en-US" sz="1100" dirty="0">
                <a:solidFill>
                  <a:srgbClr val="CBD5E0"/>
                </a:solidFill>
              </a:rPr>
              <a:t>Standard literature focuses on model accuracy metrics alone, completely lacking a comprehensive mechanical engineering demonstrative tool that bridges signal processing with web-based inference and interactive visualization.</a:t>
            </a:r>
            <a:endParaRPr lang="en-US" sz="1100" dirty="0"/>
          </a:p>
        </p:txBody>
      </p:sp>
      <p:sp>
        <p:nvSpPr>
          <p:cNvPr id="9" name="Text 7"/>
          <p:cNvSpPr/>
          <p:nvPr/>
        </p:nvSpPr>
        <p:spPr>
          <a:xfrm>
            <a:off x="457200" y="3401568"/>
            <a:ext cx="3657600" cy="274320"/>
          </a:xfrm>
          <a:prstGeom prst="rect">
            <a:avLst/>
          </a:prstGeom>
          <a:noFill/>
          <a:ln/>
        </p:spPr>
        <p:txBody>
          <a:bodyPr wrap="square" rtlCol="0" anchor="ctr"/>
          <a:lstStyle/>
          <a:p>
            <a:pPr marL="0" indent="0">
              <a:buNone/>
            </a:pPr>
            <a:r>
              <a:rPr lang="en-US" sz="1000" b="1" dirty="0">
                <a:solidFill>
                  <a:srgbClr val="FF6F00"/>
                </a:solidFill>
              </a:rPr>
              <a:t>Missing in existing work:</a:t>
            </a:r>
            <a:endParaRPr lang="en-US" sz="1000" dirty="0"/>
          </a:p>
        </p:txBody>
      </p:sp>
      <p:sp>
        <p:nvSpPr>
          <p:cNvPr id="10" name="Shape 8"/>
          <p:cNvSpPr/>
          <p:nvPr/>
        </p:nvSpPr>
        <p:spPr>
          <a:xfrm>
            <a:off x="457200" y="3703320"/>
            <a:ext cx="137160" cy="137160"/>
          </a:xfrm>
          <a:prstGeom prst="ellipse">
            <a:avLst/>
          </a:prstGeom>
          <a:solidFill>
            <a:srgbClr val="E53935"/>
          </a:solidFill>
          <a:ln w="12700">
            <a:solidFill>
              <a:srgbClr val="E53935"/>
            </a:solidFill>
            <a:prstDash val="solid"/>
          </a:ln>
        </p:spPr>
      </p:sp>
      <p:sp>
        <p:nvSpPr>
          <p:cNvPr id="11" name="Text 9"/>
          <p:cNvSpPr/>
          <p:nvPr/>
        </p:nvSpPr>
        <p:spPr>
          <a:xfrm>
            <a:off x="667512" y="3675888"/>
            <a:ext cx="3520440" cy="219456"/>
          </a:xfrm>
          <a:prstGeom prst="rect">
            <a:avLst/>
          </a:prstGeom>
          <a:noFill/>
          <a:ln/>
        </p:spPr>
        <p:txBody>
          <a:bodyPr wrap="square" rtlCol="0" anchor="ctr"/>
          <a:lstStyle/>
          <a:p>
            <a:pPr marL="0" indent="0">
              <a:buNone/>
            </a:pPr>
            <a:r>
              <a:rPr lang="en-US" sz="1000" dirty="0">
                <a:solidFill>
                  <a:srgbClr val="90A4AE"/>
                </a:solidFill>
              </a:rPr>
              <a:t>Full reproducible pipeline</a:t>
            </a:r>
            <a:endParaRPr lang="en-US" sz="1000" dirty="0"/>
          </a:p>
        </p:txBody>
      </p:sp>
      <p:sp>
        <p:nvSpPr>
          <p:cNvPr id="12" name="Shape 10"/>
          <p:cNvSpPr/>
          <p:nvPr/>
        </p:nvSpPr>
        <p:spPr>
          <a:xfrm>
            <a:off x="457200" y="4032504"/>
            <a:ext cx="137160" cy="137160"/>
          </a:xfrm>
          <a:prstGeom prst="ellipse">
            <a:avLst/>
          </a:prstGeom>
          <a:solidFill>
            <a:srgbClr val="E53935"/>
          </a:solidFill>
          <a:ln w="12700">
            <a:solidFill>
              <a:srgbClr val="E53935"/>
            </a:solidFill>
            <a:prstDash val="solid"/>
          </a:ln>
        </p:spPr>
      </p:sp>
      <p:sp>
        <p:nvSpPr>
          <p:cNvPr id="13" name="Text 11"/>
          <p:cNvSpPr/>
          <p:nvPr/>
        </p:nvSpPr>
        <p:spPr>
          <a:xfrm>
            <a:off x="667512" y="4005072"/>
            <a:ext cx="3520440" cy="219456"/>
          </a:xfrm>
          <a:prstGeom prst="rect">
            <a:avLst/>
          </a:prstGeom>
          <a:noFill/>
          <a:ln/>
        </p:spPr>
        <p:txBody>
          <a:bodyPr wrap="square" rtlCol="0" anchor="ctr"/>
          <a:lstStyle/>
          <a:p>
            <a:pPr marL="0" indent="0">
              <a:buNone/>
            </a:pPr>
            <a:r>
              <a:rPr lang="en-US" sz="1000" dirty="0">
                <a:solidFill>
                  <a:srgbClr val="90A4AE"/>
                </a:solidFill>
              </a:rPr>
              <a:t>GUI for real-time demos</a:t>
            </a:r>
            <a:endParaRPr lang="en-US" sz="1000" dirty="0"/>
          </a:p>
        </p:txBody>
      </p:sp>
      <p:sp>
        <p:nvSpPr>
          <p:cNvPr id="14" name="Shape 12"/>
          <p:cNvSpPr/>
          <p:nvPr/>
        </p:nvSpPr>
        <p:spPr>
          <a:xfrm>
            <a:off x="457200" y="4361688"/>
            <a:ext cx="137160" cy="137160"/>
          </a:xfrm>
          <a:prstGeom prst="ellipse">
            <a:avLst/>
          </a:prstGeom>
          <a:solidFill>
            <a:srgbClr val="E53935"/>
          </a:solidFill>
          <a:ln w="12700">
            <a:solidFill>
              <a:srgbClr val="E53935"/>
            </a:solidFill>
            <a:prstDash val="solid"/>
          </a:ln>
        </p:spPr>
      </p:sp>
      <p:sp>
        <p:nvSpPr>
          <p:cNvPr id="15" name="Text 13"/>
          <p:cNvSpPr/>
          <p:nvPr/>
        </p:nvSpPr>
        <p:spPr>
          <a:xfrm>
            <a:off x="667512" y="4334256"/>
            <a:ext cx="3520440" cy="219456"/>
          </a:xfrm>
          <a:prstGeom prst="rect">
            <a:avLst/>
          </a:prstGeom>
          <a:noFill/>
          <a:ln/>
        </p:spPr>
        <p:txBody>
          <a:bodyPr wrap="square" rtlCol="0" anchor="ctr"/>
          <a:lstStyle/>
          <a:p>
            <a:pPr marL="0" indent="0">
              <a:buNone/>
            </a:pPr>
            <a:r>
              <a:rPr lang="en-US" sz="1000" dirty="0">
                <a:solidFill>
                  <a:srgbClr val="90A4AE"/>
                </a:solidFill>
              </a:rPr>
              <a:t>Explainable feature importance</a:t>
            </a:r>
            <a:endParaRPr lang="en-US" sz="1000" dirty="0"/>
          </a:p>
        </p:txBody>
      </p:sp>
      <p:sp>
        <p:nvSpPr>
          <p:cNvPr id="16" name="Shape 14"/>
          <p:cNvSpPr/>
          <p:nvPr/>
        </p:nvSpPr>
        <p:spPr>
          <a:xfrm>
            <a:off x="4480560" y="1188720"/>
            <a:ext cx="4389120" cy="3749040"/>
          </a:xfrm>
          <a:prstGeom prst="rect">
            <a:avLst/>
          </a:prstGeom>
          <a:solidFill>
            <a:srgbClr val="F0F4FF"/>
          </a:solidFill>
          <a:ln w="12700">
            <a:solidFill>
              <a:srgbClr val="E3EAF5"/>
            </a:solidFill>
            <a:prstDash val="solid"/>
          </a:ln>
          <a:effectLst>
            <a:outerShdw blurRad="101600" dist="38100" dir="8100000" algn="bl" rotWithShape="0">
              <a:srgbClr val="000000">
                <a:alpha val="12000"/>
              </a:srgbClr>
            </a:outerShdw>
          </a:effectLst>
        </p:spPr>
      </p:sp>
      <p:sp>
        <p:nvSpPr>
          <p:cNvPr id="17" name="Text 15"/>
          <p:cNvSpPr/>
          <p:nvPr/>
        </p:nvSpPr>
        <p:spPr>
          <a:xfrm>
            <a:off x="4663440" y="1325880"/>
            <a:ext cx="4023360" cy="320040"/>
          </a:xfrm>
          <a:prstGeom prst="rect">
            <a:avLst/>
          </a:prstGeom>
          <a:noFill/>
          <a:ln/>
        </p:spPr>
        <p:txBody>
          <a:bodyPr wrap="square" rtlCol="0" anchor="ctr"/>
          <a:lstStyle/>
          <a:p>
            <a:pPr marL="0" indent="0">
              <a:buNone/>
            </a:pPr>
            <a:r>
              <a:rPr lang="en-US" sz="1100" b="1" kern="0" spc="200" dirty="0">
                <a:solidFill>
                  <a:srgbClr val="1565C0"/>
                </a:solidFill>
              </a:rPr>
              <a:t>PROJECT OBJECTIVES</a:t>
            </a:r>
            <a:endParaRPr lang="en-US" sz="1100" dirty="0"/>
          </a:p>
        </p:txBody>
      </p:sp>
      <p:sp>
        <p:nvSpPr>
          <p:cNvPr id="18" name="Shape 16"/>
          <p:cNvSpPr/>
          <p:nvPr/>
        </p:nvSpPr>
        <p:spPr>
          <a:xfrm>
            <a:off x="4663440" y="1627632"/>
            <a:ext cx="4023360" cy="36576"/>
          </a:xfrm>
          <a:prstGeom prst="rect">
            <a:avLst/>
          </a:prstGeom>
          <a:solidFill>
            <a:srgbClr val="1565C0"/>
          </a:solidFill>
          <a:ln w="12700">
            <a:solidFill>
              <a:srgbClr val="1565C0"/>
            </a:solidFill>
            <a:prstDash val="solid"/>
          </a:ln>
        </p:spPr>
      </p:sp>
      <p:sp>
        <p:nvSpPr>
          <p:cNvPr id="19" name="Shape 17"/>
          <p:cNvSpPr/>
          <p:nvPr/>
        </p:nvSpPr>
        <p:spPr>
          <a:xfrm>
            <a:off x="4663440" y="1783080"/>
            <a:ext cx="411480" cy="411480"/>
          </a:xfrm>
          <a:prstGeom prst="rect">
            <a:avLst/>
          </a:prstGeom>
          <a:solidFill>
            <a:srgbClr val="1565C0"/>
          </a:solidFill>
          <a:ln w="12700">
            <a:solidFill>
              <a:srgbClr val="1565C0"/>
            </a:solidFill>
            <a:prstDash val="solid"/>
          </a:ln>
        </p:spPr>
      </p:sp>
      <p:sp>
        <p:nvSpPr>
          <p:cNvPr id="20" name="Text 18"/>
          <p:cNvSpPr/>
          <p:nvPr/>
        </p:nvSpPr>
        <p:spPr>
          <a:xfrm>
            <a:off x="4663440" y="1783080"/>
            <a:ext cx="411480" cy="411480"/>
          </a:xfrm>
          <a:prstGeom prst="rect">
            <a:avLst/>
          </a:prstGeom>
          <a:noFill/>
          <a:ln/>
        </p:spPr>
        <p:txBody>
          <a:bodyPr wrap="square" rtlCol="0" anchor="ctr"/>
          <a:lstStyle/>
          <a:p>
            <a:pPr marL="0" indent="0" algn="ctr">
              <a:buNone/>
            </a:pPr>
            <a:r>
              <a:rPr lang="en-US" sz="1300" b="1" dirty="0">
                <a:solidFill>
                  <a:srgbClr val="FFFFFF"/>
                </a:solidFill>
              </a:rPr>
              <a:t>01</a:t>
            </a:r>
            <a:endParaRPr lang="en-US" sz="1300" dirty="0"/>
          </a:p>
        </p:txBody>
      </p:sp>
      <p:sp>
        <p:nvSpPr>
          <p:cNvPr id="21" name="Text 19"/>
          <p:cNvSpPr/>
          <p:nvPr/>
        </p:nvSpPr>
        <p:spPr>
          <a:xfrm>
            <a:off x="5166360" y="1792224"/>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Preprocess CWRU signals using 2048-sample windows with 50% overlap</a:t>
            </a:r>
            <a:endParaRPr lang="en-US" sz="1050" dirty="0"/>
          </a:p>
        </p:txBody>
      </p:sp>
      <p:sp>
        <p:nvSpPr>
          <p:cNvPr id="22" name="Shape 20"/>
          <p:cNvSpPr/>
          <p:nvPr/>
        </p:nvSpPr>
        <p:spPr>
          <a:xfrm>
            <a:off x="4663440" y="2441448"/>
            <a:ext cx="411480" cy="411480"/>
          </a:xfrm>
          <a:prstGeom prst="rect">
            <a:avLst/>
          </a:prstGeom>
          <a:solidFill>
            <a:srgbClr val="1565C0"/>
          </a:solidFill>
          <a:ln w="12700">
            <a:solidFill>
              <a:srgbClr val="1565C0"/>
            </a:solidFill>
            <a:prstDash val="solid"/>
          </a:ln>
        </p:spPr>
      </p:sp>
      <p:sp>
        <p:nvSpPr>
          <p:cNvPr id="23" name="Text 21"/>
          <p:cNvSpPr/>
          <p:nvPr/>
        </p:nvSpPr>
        <p:spPr>
          <a:xfrm>
            <a:off x="4663440" y="2441448"/>
            <a:ext cx="411480" cy="411480"/>
          </a:xfrm>
          <a:prstGeom prst="rect">
            <a:avLst/>
          </a:prstGeom>
          <a:noFill/>
          <a:ln/>
        </p:spPr>
        <p:txBody>
          <a:bodyPr wrap="square" rtlCol="0" anchor="ctr"/>
          <a:lstStyle/>
          <a:p>
            <a:pPr marL="0" indent="0" algn="ctr">
              <a:buNone/>
            </a:pPr>
            <a:r>
              <a:rPr lang="en-US" sz="1300" b="1" dirty="0">
                <a:solidFill>
                  <a:srgbClr val="FFFFFF"/>
                </a:solidFill>
              </a:rPr>
              <a:t>02</a:t>
            </a:r>
            <a:endParaRPr lang="en-US" sz="1300" dirty="0"/>
          </a:p>
        </p:txBody>
      </p:sp>
      <p:sp>
        <p:nvSpPr>
          <p:cNvPr id="24" name="Text 22"/>
          <p:cNvSpPr/>
          <p:nvPr/>
        </p:nvSpPr>
        <p:spPr>
          <a:xfrm>
            <a:off x="5166360" y="2450592"/>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Extract 25 engineered time-domain &amp; frequency-domain features</a:t>
            </a:r>
            <a:endParaRPr lang="en-US" sz="1050" dirty="0"/>
          </a:p>
        </p:txBody>
      </p:sp>
      <p:sp>
        <p:nvSpPr>
          <p:cNvPr id="25" name="Shape 23"/>
          <p:cNvSpPr/>
          <p:nvPr/>
        </p:nvSpPr>
        <p:spPr>
          <a:xfrm>
            <a:off x="4663440" y="3099816"/>
            <a:ext cx="411480" cy="411480"/>
          </a:xfrm>
          <a:prstGeom prst="rect">
            <a:avLst/>
          </a:prstGeom>
          <a:solidFill>
            <a:srgbClr val="1565C0"/>
          </a:solidFill>
          <a:ln w="12700">
            <a:solidFill>
              <a:srgbClr val="1565C0"/>
            </a:solidFill>
            <a:prstDash val="solid"/>
          </a:ln>
        </p:spPr>
      </p:sp>
      <p:sp>
        <p:nvSpPr>
          <p:cNvPr id="26" name="Text 24"/>
          <p:cNvSpPr/>
          <p:nvPr/>
        </p:nvSpPr>
        <p:spPr>
          <a:xfrm>
            <a:off x="4663440" y="3099816"/>
            <a:ext cx="411480" cy="411480"/>
          </a:xfrm>
          <a:prstGeom prst="rect">
            <a:avLst/>
          </a:prstGeom>
          <a:noFill/>
          <a:ln/>
        </p:spPr>
        <p:txBody>
          <a:bodyPr wrap="square" rtlCol="0" anchor="ctr"/>
          <a:lstStyle/>
          <a:p>
            <a:pPr marL="0" indent="0" algn="ctr">
              <a:buNone/>
            </a:pPr>
            <a:r>
              <a:rPr lang="en-US" sz="1300" b="1" dirty="0">
                <a:solidFill>
                  <a:srgbClr val="FFFFFF"/>
                </a:solidFill>
              </a:rPr>
              <a:t>03</a:t>
            </a:r>
            <a:endParaRPr lang="en-US" sz="1300" dirty="0"/>
          </a:p>
        </p:txBody>
      </p:sp>
      <p:sp>
        <p:nvSpPr>
          <p:cNvPr id="27" name="Text 25"/>
          <p:cNvSpPr/>
          <p:nvPr/>
        </p:nvSpPr>
        <p:spPr>
          <a:xfrm>
            <a:off x="5166360" y="3108960"/>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Train and compare SVM (RBF) vs. Random Forest classifiers</a:t>
            </a:r>
            <a:endParaRPr lang="en-US" sz="1050" dirty="0"/>
          </a:p>
        </p:txBody>
      </p:sp>
      <p:sp>
        <p:nvSpPr>
          <p:cNvPr id="28" name="Shape 26"/>
          <p:cNvSpPr/>
          <p:nvPr/>
        </p:nvSpPr>
        <p:spPr>
          <a:xfrm>
            <a:off x="4663440" y="3758184"/>
            <a:ext cx="411480" cy="411480"/>
          </a:xfrm>
          <a:prstGeom prst="rect">
            <a:avLst/>
          </a:prstGeom>
          <a:solidFill>
            <a:srgbClr val="1565C0"/>
          </a:solidFill>
          <a:ln w="12700">
            <a:solidFill>
              <a:srgbClr val="1565C0"/>
            </a:solidFill>
            <a:prstDash val="solid"/>
          </a:ln>
        </p:spPr>
      </p:sp>
      <p:sp>
        <p:nvSpPr>
          <p:cNvPr id="29" name="Text 27"/>
          <p:cNvSpPr/>
          <p:nvPr/>
        </p:nvSpPr>
        <p:spPr>
          <a:xfrm>
            <a:off x="4663440" y="3758184"/>
            <a:ext cx="411480" cy="411480"/>
          </a:xfrm>
          <a:prstGeom prst="rect">
            <a:avLst/>
          </a:prstGeom>
          <a:noFill/>
          <a:ln/>
        </p:spPr>
        <p:txBody>
          <a:bodyPr wrap="square" rtlCol="0" anchor="ctr"/>
          <a:lstStyle/>
          <a:p>
            <a:pPr marL="0" indent="0" algn="ctr">
              <a:buNone/>
            </a:pPr>
            <a:r>
              <a:rPr lang="en-US" sz="1300" b="1" dirty="0">
                <a:solidFill>
                  <a:srgbClr val="FFFFFF"/>
                </a:solidFill>
              </a:rPr>
              <a:t>04</a:t>
            </a:r>
            <a:endParaRPr lang="en-US" sz="1300" dirty="0"/>
          </a:p>
        </p:txBody>
      </p:sp>
      <p:sp>
        <p:nvSpPr>
          <p:cNvPr id="30" name="Text 28"/>
          <p:cNvSpPr/>
          <p:nvPr/>
        </p:nvSpPr>
        <p:spPr>
          <a:xfrm>
            <a:off x="5166360" y="3767328"/>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Evaluate with accuracy, precision, recall, and weighted F1-score</a:t>
            </a:r>
            <a:endParaRPr lang="en-US" sz="1050" dirty="0"/>
          </a:p>
        </p:txBody>
      </p:sp>
      <p:sp>
        <p:nvSpPr>
          <p:cNvPr id="31" name="Shape 29"/>
          <p:cNvSpPr/>
          <p:nvPr/>
        </p:nvSpPr>
        <p:spPr>
          <a:xfrm>
            <a:off x="4663440" y="4416552"/>
            <a:ext cx="411480" cy="411480"/>
          </a:xfrm>
          <a:prstGeom prst="rect">
            <a:avLst/>
          </a:prstGeom>
          <a:solidFill>
            <a:srgbClr val="1565C0"/>
          </a:solidFill>
          <a:ln w="12700">
            <a:solidFill>
              <a:srgbClr val="1565C0"/>
            </a:solidFill>
            <a:prstDash val="solid"/>
          </a:ln>
        </p:spPr>
      </p:sp>
      <p:sp>
        <p:nvSpPr>
          <p:cNvPr id="32" name="Text 30"/>
          <p:cNvSpPr/>
          <p:nvPr/>
        </p:nvSpPr>
        <p:spPr>
          <a:xfrm>
            <a:off x="4663440" y="4416552"/>
            <a:ext cx="411480" cy="411480"/>
          </a:xfrm>
          <a:prstGeom prst="rect">
            <a:avLst/>
          </a:prstGeom>
          <a:noFill/>
          <a:ln/>
        </p:spPr>
        <p:txBody>
          <a:bodyPr wrap="square" rtlCol="0" anchor="ctr"/>
          <a:lstStyle/>
          <a:p>
            <a:pPr marL="0" indent="0" algn="ctr">
              <a:buNone/>
            </a:pPr>
            <a:r>
              <a:rPr lang="en-US" sz="1300" b="1" dirty="0">
                <a:solidFill>
                  <a:srgbClr val="FFFFFF"/>
                </a:solidFill>
              </a:rPr>
              <a:t>05</a:t>
            </a:r>
            <a:endParaRPr lang="en-US" sz="1300" dirty="0"/>
          </a:p>
        </p:txBody>
      </p:sp>
      <p:sp>
        <p:nvSpPr>
          <p:cNvPr id="33" name="Text 31"/>
          <p:cNvSpPr/>
          <p:nvPr/>
        </p:nvSpPr>
        <p:spPr>
          <a:xfrm>
            <a:off x="5166360" y="4425696"/>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Deploy an interactive Streamlit Dashboard for live inference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METHODOLOGY: System Design</a:t>
            </a:r>
            <a:endParaRPr lang="en-US" sz="2800" dirty="0"/>
          </a:p>
        </p:txBody>
      </p:sp>
      <p:sp>
        <p:nvSpPr>
          <p:cNvPr id="5" name="Shape 3"/>
          <p:cNvSpPr/>
          <p:nvPr/>
        </p:nvSpPr>
        <p:spPr>
          <a:xfrm>
            <a:off x="274320"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1572768" cy="73152"/>
          </a:xfrm>
          <a:prstGeom prst="rect">
            <a:avLst/>
          </a:prstGeom>
          <a:solidFill>
            <a:srgbClr val="1565C0"/>
          </a:solidFill>
          <a:ln w="12700">
            <a:solidFill>
              <a:srgbClr val="1565C0"/>
            </a:solidFill>
            <a:prstDash val="solid"/>
          </a:ln>
        </p:spPr>
      </p:sp>
      <p:sp>
        <p:nvSpPr>
          <p:cNvPr id="7" name="Shape 5"/>
          <p:cNvSpPr/>
          <p:nvPr/>
        </p:nvSpPr>
        <p:spPr>
          <a:xfrm>
            <a:off x="832104" y="1298448"/>
            <a:ext cx="457200" cy="457200"/>
          </a:xfrm>
          <a:prstGeom prst="ellipse">
            <a:avLst/>
          </a:prstGeom>
          <a:solidFill>
            <a:srgbClr val="1565C0"/>
          </a:solidFill>
          <a:ln w="12700">
            <a:solidFill>
              <a:srgbClr val="1565C0"/>
            </a:solidFill>
            <a:prstDash val="solid"/>
          </a:ln>
        </p:spPr>
      </p:sp>
      <p:sp>
        <p:nvSpPr>
          <p:cNvPr id="8" name="Text 6"/>
          <p:cNvSpPr/>
          <p:nvPr/>
        </p:nvSpPr>
        <p:spPr>
          <a:xfrm>
            <a:off x="832104" y="1298448"/>
            <a:ext cx="457200" cy="4572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603504" y="1874520"/>
            <a:ext cx="914400" cy="548640"/>
          </a:xfrm>
          <a:prstGeom prst="rect">
            <a:avLst/>
          </a:prstGeom>
          <a:noFill/>
          <a:ln/>
        </p:spPr>
        <p:txBody>
          <a:bodyPr wrap="square" rtlCol="0" anchor="ctr"/>
          <a:lstStyle/>
          <a:p>
            <a:pPr marL="0" indent="0" algn="ctr">
              <a:buNone/>
            </a:pPr>
            <a:endParaRPr lang="en-US" sz="2600" dirty="0"/>
          </a:p>
        </p:txBody>
      </p:sp>
      <p:sp>
        <p:nvSpPr>
          <p:cNvPr id="10" name="Text 8"/>
          <p:cNvSpPr/>
          <p:nvPr/>
        </p:nvSpPr>
        <p:spPr>
          <a:xfrm>
            <a:off x="365760" y="2423160"/>
            <a:ext cx="1389888" cy="320040"/>
          </a:xfrm>
          <a:prstGeom prst="rect">
            <a:avLst/>
          </a:prstGeom>
          <a:noFill/>
          <a:ln/>
        </p:spPr>
        <p:txBody>
          <a:bodyPr wrap="square" rtlCol="0" anchor="ctr"/>
          <a:lstStyle/>
          <a:p>
            <a:pPr marL="0" indent="0" algn="ctr">
              <a:buNone/>
            </a:pPr>
            <a:r>
              <a:rPr lang="en-US" sz="1150" b="1" dirty="0">
                <a:solidFill>
                  <a:srgbClr val="1565C0"/>
                </a:solidFill>
              </a:rPr>
              <a:t>Data Source</a:t>
            </a:r>
            <a:endParaRPr lang="en-US" sz="1150" dirty="0"/>
          </a:p>
        </p:txBody>
      </p:sp>
      <p:sp>
        <p:nvSpPr>
          <p:cNvPr id="11" name="Text 9"/>
          <p:cNvSpPr/>
          <p:nvPr/>
        </p:nvSpPr>
        <p:spPr>
          <a:xfrm>
            <a:off x="365760"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CWRU Bearing</a:t>
            </a:r>
            <a:endParaRPr lang="en-US" sz="950" dirty="0"/>
          </a:p>
          <a:p>
            <a:pPr marL="0" indent="0" algn="ctr">
              <a:lnSpc>
                <a:spcPct val="135000"/>
              </a:lnSpc>
              <a:buNone/>
            </a:pPr>
            <a:r>
              <a:rPr lang="en-US" sz="950" dirty="0">
                <a:solidFill>
                  <a:srgbClr val="37474F"/>
                </a:solidFill>
              </a:rPr>
              <a:t>MAT Files</a:t>
            </a:r>
            <a:endParaRPr lang="en-US" sz="950" dirty="0"/>
          </a:p>
          <a:p>
            <a:pPr marL="0" indent="0" algn="ctr">
              <a:lnSpc>
                <a:spcPct val="135000"/>
              </a:lnSpc>
              <a:buNone/>
            </a:pPr>
            <a:r>
              <a:rPr lang="en-US" sz="950" dirty="0">
                <a:solidFill>
                  <a:srgbClr val="37474F"/>
                </a:solidFill>
              </a:rPr>
              <a:t>(4 conditions)</a:t>
            </a:r>
            <a:endParaRPr lang="en-US" sz="950" dirty="0"/>
          </a:p>
        </p:txBody>
      </p:sp>
      <p:sp>
        <p:nvSpPr>
          <p:cNvPr id="12" name="Text 10"/>
          <p:cNvSpPr/>
          <p:nvPr/>
        </p:nvSpPr>
        <p:spPr>
          <a:xfrm>
            <a:off x="1847088"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13" name="Shape 11"/>
          <p:cNvSpPr/>
          <p:nvPr/>
        </p:nvSpPr>
        <p:spPr>
          <a:xfrm>
            <a:off x="1993392" y="1170432"/>
            <a:ext cx="1572768" cy="2560320"/>
          </a:xfrm>
          <a:prstGeom prst="rect">
            <a:avLst/>
          </a:prstGeom>
          <a:solidFill>
            <a:srgbClr val="FFFFFF"/>
          </a:solidFill>
          <a:ln w="12700">
            <a:solidFill>
              <a:srgbClr val="FF6F00"/>
            </a:solidFill>
            <a:prstDash val="solid"/>
          </a:ln>
          <a:effectLst>
            <a:outerShdw blurRad="101600" dist="38100" dir="8100000" algn="bl" rotWithShape="0">
              <a:srgbClr val="000000">
                <a:alpha val="12000"/>
              </a:srgbClr>
            </a:outerShdw>
          </a:effectLst>
        </p:spPr>
      </p:sp>
      <p:sp>
        <p:nvSpPr>
          <p:cNvPr id="14" name="Shape 12"/>
          <p:cNvSpPr/>
          <p:nvPr/>
        </p:nvSpPr>
        <p:spPr>
          <a:xfrm>
            <a:off x="1993392" y="1170432"/>
            <a:ext cx="1572768" cy="73152"/>
          </a:xfrm>
          <a:prstGeom prst="rect">
            <a:avLst/>
          </a:prstGeom>
          <a:solidFill>
            <a:srgbClr val="FF6F00"/>
          </a:solidFill>
          <a:ln w="12700">
            <a:solidFill>
              <a:srgbClr val="FF6F00"/>
            </a:solidFill>
            <a:prstDash val="solid"/>
          </a:ln>
        </p:spPr>
      </p:sp>
      <p:sp>
        <p:nvSpPr>
          <p:cNvPr id="15" name="Shape 13"/>
          <p:cNvSpPr/>
          <p:nvPr/>
        </p:nvSpPr>
        <p:spPr>
          <a:xfrm>
            <a:off x="2551176" y="1298448"/>
            <a:ext cx="457200" cy="457200"/>
          </a:xfrm>
          <a:prstGeom prst="ellipse">
            <a:avLst/>
          </a:prstGeom>
          <a:solidFill>
            <a:srgbClr val="FF6F00"/>
          </a:solidFill>
          <a:ln w="12700">
            <a:solidFill>
              <a:srgbClr val="FF6F00"/>
            </a:solidFill>
            <a:prstDash val="solid"/>
          </a:ln>
        </p:spPr>
      </p:sp>
      <p:sp>
        <p:nvSpPr>
          <p:cNvPr id="16" name="Text 14"/>
          <p:cNvSpPr/>
          <p:nvPr/>
        </p:nvSpPr>
        <p:spPr>
          <a:xfrm>
            <a:off x="2551176" y="1298448"/>
            <a:ext cx="457200" cy="4572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7" name="Text 15"/>
          <p:cNvSpPr/>
          <p:nvPr/>
        </p:nvSpPr>
        <p:spPr>
          <a:xfrm>
            <a:off x="2322576" y="1874520"/>
            <a:ext cx="914400" cy="548640"/>
          </a:xfrm>
          <a:prstGeom prst="rect">
            <a:avLst/>
          </a:prstGeom>
          <a:noFill/>
          <a:ln/>
        </p:spPr>
        <p:txBody>
          <a:bodyPr wrap="square" rtlCol="0" anchor="ctr"/>
          <a:lstStyle/>
          <a:p>
            <a:pPr marL="0" indent="0" algn="ctr">
              <a:buNone/>
            </a:pPr>
            <a:endParaRPr lang="en-US" sz="2600" dirty="0"/>
          </a:p>
        </p:txBody>
      </p:sp>
      <p:sp>
        <p:nvSpPr>
          <p:cNvPr id="18" name="Text 16"/>
          <p:cNvSpPr/>
          <p:nvPr/>
        </p:nvSpPr>
        <p:spPr>
          <a:xfrm>
            <a:off x="2084832" y="2423160"/>
            <a:ext cx="1389888" cy="320040"/>
          </a:xfrm>
          <a:prstGeom prst="rect">
            <a:avLst/>
          </a:prstGeom>
          <a:noFill/>
          <a:ln/>
        </p:spPr>
        <p:txBody>
          <a:bodyPr wrap="square" rtlCol="0" anchor="ctr"/>
          <a:lstStyle/>
          <a:p>
            <a:pPr marL="0" indent="0" algn="ctr">
              <a:buNone/>
            </a:pPr>
            <a:r>
              <a:rPr lang="en-US" sz="1150" b="1" dirty="0">
                <a:solidFill>
                  <a:srgbClr val="FF6F00"/>
                </a:solidFill>
              </a:rPr>
              <a:t>Preprocessing</a:t>
            </a:r>
            <a:endParaRPr lang="en-US" sz="1150" dirty="0"/>
          </a:p>
        </p:txBody>
      </p:sp>
      <p:sp>
        <p:nvSpPr>
          <p:cNvPr id="19" name="Text 17"/>
          <p:cNvSpPr/>
          <p:nvPr/>
        </p:nvSpPr>
        <p:spPr>
          <a:xfrm>
            <a:off x="2084832"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2048-sample windows</a:t>
            </a:r>
            <a:endParaRPr lang="en-US" sz="950" dirty="0"/>
          </a:p>
          <a:p>
            <a:pPr marL="0" indent="0" algn="ctr">
              <a:lnSpc>
                <a:spcPct val="135000"/>
              </a:lnSpc>
              <a:buNone/>
            </a:pPr>
            <a:r>
              <a:rPr lang="en-US" sz="950" dirty="0">
                <a:solidFill>
                  <a:srgbClr val="37474F"/>
                </a:solidFill>
              </a:rPr>
              <a:t>50% overlap</a:t>
            </a:r>
            <a:endParaRPr lang="en-US" sz="950" dirty="0"/>
          </a:p>
          <a:p>
            <a:pPr marL="0" indent="0" algn="ctr">
              <a:lnSpc>
                <a:spcPct val="135000"/>
              </a:lnSpc>
              <a:buNone/>
            </a:pPr>
            <a:r>
              <a:rPr lang="en-US" sz="950" dirty="0">
                <a:solidFill>
                  <a:srgbClr val="37474F"/>
                </a:solidFill>
              </a:rPr>
              <a:t>9,736 samples</a:t>
            </a:r>
            <a:endParaRPr lang="en-US" sz="950" dirty="0"/>
          </a:p>
        </p:txBody>
      </p:sp>
      <p:sp>
        <p:nvSpPr>
          <p:cNvPr id="20" name="Text 18"/>
          <p:cNvSpPr/>
          <p:nvPr/>
        </p:nvSpPr>
        <p:spPr>
          <a:xfrm>
            <a:off x="3566160"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1" name="Shape 19"/>
          <p:cNvSpPr/>
          <p:nvPr/>
        </p:nvSpPr>
        <p:spPr>
          <a:xfrm>
            <a:off x="3712464" y="1170432"/>
            <a:ext cx="1572768" cy="2560320"/>
          </a:xfrm>
          <a:prstGeom prst="rect">
            <a:avLst/>
          </a:prstGeom>
          <a:solidFill>
            <a:srgbClr val="FFFFFF"/>
          </a:solidFill>
          <a:ln w="12700">
            <a:solidFill>
              <a:srgbClr val="00897B"/>
            </a:solidFill>
            <a:prstDash val="solid"/>
          </a:ln>
          <a:effectLst>
            <a:outerShdw blurRad="101600" dist="38100" dir="8100000" algn="bl" rotWithShape="0">
              <a:srgbClr val="000000">
                <a:alpha val="12000"/>
              </a:srgbClr>
            </a:outerShdw>
          </a:effectLst>
        </p:spPr>
      </p:sp>
      <p:sp>
        <p:nvSpPr>
          <p:cNvPr id="22" name="Shape 20"/>
          <p:cNvSpPr/>
          <p:nvPr/>
        </p:nvSpPr>
        <p:spPr>
          <a:xfrm>
            <a:off x="3712464" y="1170432"/>
            <a:ext cx="1572768" cy="73152"/>
          </a:xfrm>
          <a:prstGeom prst="rect">
            <a:avLst/>
          </a:prstGeom>
          <a:solidFill>
            <a:srgbClr val="00897B"/>
          </a:solidFill>
          <a:ln w="12700">
            <a:solidFill>
              <a:srgbClr val="00897B"/>
            </a:solidFill>
            <a:prstDash val="solid"/>
          </a:ln>
        </p:spPr>
      </p:sp>
      <p:sp>
        <p:nvSpPr>
          <p:cNvPr id="23" name="Shape 21"/>
          <p:cNvSpPr/>
          <p:nvPr/>
        </p:nvSpPr>
        <p:spPr>
          <a:xfrm>
            <a:off x="4270248" y="1298448"/>
            <a:ext cx="457200" cy="457200"/>
          </a:xfrm>
          <a:prstGeom prst="ellipse">
            <a:avLst/>
          </a:prstGeom>
          <a:solidFill>
            <a:srgbClr val="00897B"/>
          </a:solidFill>
          <a:ln w="12700">
            <a:solidFill>
              <a:srgbClr val="00897B"/>
            </a:solidFill>
            <a:prstDash val="solid"/>
          </a:ln>
        </p:spPr>
      </p:sp>
      <p:sp>
        <p:nvSpPr>
          <p:cNvPr id="24" name="Text 22"/>
          <p:cNvSpPr/>
          <p:nvPr/>
        </p:nvSpPr>
        <p:spPr>
          <a:xfrm>
            <a:off x="4270248" y="1298448"/>
            <a:ext cx="457200" cy="4572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5" name="Text 23"/>
          <p:cNvSpPr/>
          <p:nvPr/>
        </p:nvSpPr>
        <p:spPr>
          <a:xfrm>
            <a:off x="4041648" y="1874520"/>
            <a:ext cx="914400" cy="548640"/>
          </a:xfrm>
          <a:prstGeom prst="rect">
            <a:avLst/>
          </a:prstGeom>
          <a:noFill/>
          <a:ln/>
        </p:spPr>
        <p:txBody>
          <a:bodyPr wrap="square" rtlCol="0" anchor="ctr"/>
          <a:lstStyle/>
          <a:p>
            <a:pPr marL="0" indent="0" algn="ctr">
              <a:buNone/>
            </a:pPr>
            <a:endParaRPr lang="en-US" sz="2600" dirty="0"/>
          </a:p>
        </p:txBody>
      </p:sp>
      <p:sp>
        <p:nvSpPr>
          <p:cNvPr id="26" name="Text 24"/>
          <p:cNvSpPr/>
          <p:nvPr/>
        </p:nvSpPr>
        <p:spPr>
          <a:xfrm>
            <a:off x="3803904" y="2423160"/>
            <a:ext cx="1389888" cy="320040"/>
          </a:xfrm>
          <a:prstGeom prst="rect">
            <a:avLst/>
          </a:prstGeom>
          <a:noFill/>
          <a:ln/>
        </p:spPr>
        <p:txBody>
          <a:bodyPr wrap="square" rtlCol="0" anchor="ctr"/>
          <a:lstStyle/>
          <a:p>
            <a:pPr marL="0" indent="0" algn="ctr">
              <a:buNone/>
            </a:pPr>
            <a:r>
              <a:rPr lang="en-US" sz="1150" b="1" dirty="0">
                <a:solidFill>
                  <a:srgbClr val="00897B"/>
                </a:solidFill>
              </a:rPr>
              <a:t>Feature Extraction</a:t>
            </a:r>
            <a:endParaRPr lang="en-US" sz="1150" dirty="0"/>
          </a:p>
        </p:txBody>
      </p:sp>
      <p:sp>
        <p:nvSpPr>
          <p:cNvPr id="27" name="Text 25"/>
          <p:cNvSpPr/>
          <p:nvPr/>
        </p:nvSpPr>
        <p:spPr>
          <a:xfrm>
            <a:off x="3803904"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25 engineered</a:t>
            </a:r>
            <a:endParaRPr lang="en-US" sz="950" dirty="0"/>
          </a:p>
          <a:p>
            <a:pPr marL="0" indent="0" algn="ctr">
              <a:lnSpc>
                <a:spcPct val="135000"/>
              </a:lnSpc>
              <a:buNone/>
            </a:pPr>
            <a:r>
              <a:rPr lang="en-US" sz="950" dirty="0">
                <a:solidFill>
                  <a:srgbClr val="37474F"/>
                </a:solidFill>
              </a:rPr>
              <a:t>time + frequency</a:t>
            </a:r>
            <a:endParaRPr lang="en-US" sz="950" dirty="0"/>
          </a:p>
          <a:p>
            <a:pPr marL="0" indent="0" algn="ctr">
              <a:lnSpc>
                <a:spcPct val="135000"/>
              </a:lnSpc>
              <a:buNone/>
            </a:pPr>
            <a:r>
              <a:rPr lang="en-US" sz="950" dirty="0">
                <a:solidFill>
                  <a:srgbClr val="37474F"/>
                </a:solidFill>
              </a:rPr>
              <a:t>domain features</a:t>
            </a:r>
            <a:endParaRPr lang="en-US" sz="950" dirty="0"/>
          </a:p>
        </p:txBody>
      </p:sp>
      <p:sp>
        <p:nvSpPr>
          <p:cNvPr id="28" name="Text 26"/>
          <p:cNvSpPr/>
          <p:nvPr/>
        </p:nvSpPr>
        <p:spPr>
          <a:xfrm>
            <a:off x="5285232"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9" name="Shape 27"/>
          <p:cNvSpPr/>
          <p:nvPr/>
        </p:nvSpPr>
        <p:spPr>
          <a:xfrm>
            <a:off x="5431536"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30" name="Shape 28"/>
          <p:cNvSpPr/>
          <p:nvPr/>
        </p:nvSpPr>
        <p:spPr>
          <a:xfrm>
            <a:off x="5431536" y="1170432"/>
            <a:ext cx="1572768" cy="73152"/>
          </a:xfrm>
          <a:prstGeom prst="rect">
            <a:avLst/>
          </a:prstGeom>
          <a:solidFill>
            <a:srgbClr val="1565C0"/>
          </a:solidFill>
          <a:ln w="12700">
            <a:solidFill>
              <a:srgbClr val="1565C0"/>
            </a:solidFill>
            <a:prstDash val="solid"/>
          </a:ln>
        </p:spPr>
      </p:sp>
      <p:sp>
        <p:nvSpPr>
          <p:cNvPr id="31" name="Shape 29"/>
          <p:cNvSpPr/>
          <p:nvPr/>
        </p:nvSpPr>
        <p:spPr>
          <a:xfrm>
            <a:off x="5989320" y="1298448"/>
            <a:ext cx="457200" cy="457200"/>
          </a:xfrm>
          <a:prstGeom prst="ellipse">
            <a:avLst/>
          </a:prstGeom>
          <a:solidFill>
            <a:srgbClr val="1565C0"/>
          </a:solidFill>
          <a:ln w="12700">
            <a:solidFill>
              <a:srgbClr val="1565C0"/>
            </a:solidFill>
            <a:prstDash val="solid"/>
          </a:ln>
        </p:spPr>
      </p:sp>
      <p:sp>
        <p:nvSpPr>
          <p:cNvPr id="32" name="Text 30"/>
          <p:cNvSpPr/>
          <p:nvPr/>
        </p:nvSpPr>
        <p:spPr>
          <a:xfrm>
            <a:off x="5989320" y="1298448"/>
            <a:ext cx="457200" cy="45720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33" name="Text 31"/>
          <p:cNvSpPr/>
          <p:nvPr/>
        </p:nvSpPr>
        <p:spPr>
          <a:xfrm>
            <a:off x="5760720" y="1874520"/>
            <a:ext cx="914400" cy="548640"/>
          </a:xfrm>
          <a:prstGeom prst="rect">
            <a:avLst/>
          </a:prstGeom>
          <a:noFill/>
          <a:ln/>
        </p:spPr>
        <p:txBody>
          <a:bodyPr wrap="square" rtlCol="0" anchor="ctr"/>
          <a:lstStyle/>
          <a:p>
            <a:pPr marL="0" indent="0" algn="ctr">
              <a:buNone/>
            </a:pPr>
            <a:endParaRPr lang="en-US" sz="2600" dirty="0"/>
          </a:p>
        </p:txBody>
      </p:sp>
      <p:sp>
        <p:nvSpPr>
          <p:cNvPr id="34" name="Text 32"/>
          <p:cNvSpPr/>
          <p:nvPr/>
        </p:nvSpPr>
        <p:spPr>
          <a:xfrm>
            <a:off x="5522976" y="2423160"/>
            <a:ext cx="1389888" cy="320040"/>
          </a:xfrm>
          <a:prstGeom prst="rect">
            <a:avLst/>
          </a:prstGeom>
          <a:noFill/>
          <a:ln/>
        </p:spPr>
        <p:txBody>
          <a:bodyPr wrap="square" rtlCol="0" anchor="ctr"/>
          <a:lstStyle/>
          <a:p>
            <a:pPr marL="0" indent="0" algn="ctr">
              <a:buNone/>
            </a:pPr>
            <a:r>
              <a:rPr lang="en-US" sz="1150" b="1" dirty="0">
                <a:solidFill>
                  <a:srgbClr val="1565C0"/>
                </a:solidFill>
              </a:rPr>
              <a:t>Modeling</a:t>
            </a:r>
            <a:endParaRPr lang="en-US" sz="1150" dirty="0"/>
          </a:p>
        </p:txBody>
      </p:sp>
      <p:sp>
        <p:nvSpPr>
          <p:cNvPr id="35" name="Text 33"/>
          <p:cNvSpPr/>
          <p:nvPr/>
        </p:nvSpPr>
        <p:spPr>
          <a:xfrm>
            <a:off x="5522976"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SVM (RBF) &amp;</a:t>
            </a:r>
            <a:endParaRPr lang="en-US" sz="950" dirty="0"/>
          </a:p>
          <a:p>
            <a:pPr marL="0" indent="0" algn="ctr">
              <a:lnSpc>
                <a:spcPct val="135000"/>
              </a:lnSpc>
              <a:buNone/>
            </a:pPr>
            <a:r>
              <a:rPr lang="en-US" sz="950" dirty="0">
                <a:solidFill>
                  <a:srgbClr val="37474F"/>
                </a:solidFill>
              </a:rPr>
              <a:t>Random Forest</a:t>
            </a:r>
            <a:endParaRPr lang="en-US" sz="950" dirty="0"/>
          </a:p>
          <a:p>
            <a:pPr marL="0" indent="0" algn="ctr">
              <a:lnSpc>
                <a:spcPct val="135000"/>
              </a:lnSpc>
              <a:buNone/>
            </a:pPr>
            <a:r>
              <a:rPr lang="en-US" sz="950" dirty="0">
                <a:solidFill>
                  <a:srgbClr val="37474F"/>
                </a:solidFill>
              </a:rPr>
              <a:t>80:20 split</a:t>
            </a:r>
            <a:endParaRPr lang="en-US" sz="950" dirty="0"/>
          </a:p>
        </p:txBody>
      </p:sp>
      <p:sp>
        <p:nvSpPr>
          <p:cNvPr id="36" name="Text 34"/>
          <p:cNvSpPr/>
          <p:nvPr/>
        </p:nvSpPr>
        <p:spPr>
          <a:xfrm>
            <a:off x="7004304"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37" name="Shape 35"/>
          <p:cNvSpPr/>
          <p:nvPr/>
        </p:nvSpPr>
        <p:spPr>
          <a:xfrm>
            <a:off x="7150608" y="1170432"/>
            <a:ext cx="1572768" cy="2560320"/>
          </a:xfrm>
          <a:prstGeom prst="rect">
            <a:avLst/>
          </a:prstGeom>
          <a:solidFill>
            <a:srgbClr val="FFFFFF"/>
          </a:solidFill>
          <a:ln w="12700">
            <a:solidFill>
              <a:srgbClr val="00BCD4"/>
            </a:solidFill>
            <a:prstDash val="solid"/>
          </a:ln>
          <a:effectLst>
            <a:outerShdw blurRad="101600" dist="38100" dir="8100000" algn="bl" rotWithShape="0">
              <a:srgbClr val="000000">
                <a:alpha val="12000"/>
              </a:srgbClr>
            </a:outerShdw>
          </a:effectLst>
        </p:spPr>
      </p:sp>
      <p:sp>
        <p:nvSpPr>
          <p:cNvPr id="38" name="Shape 36"/>
          <p:cNvSpPr/>
          <p:nvPr/>
        </p:nvSpPr>
        <p:spPr>
          <a:xfrm>
            <a:off x="7150608" y="1170432"/>
            <a:ext cx="1572768" cy="73152"/>
          </a:xfrm>
          <a:prstGeom prst="rect">
            <a:avLst/>
          </a:prstGeom>
          <a:solidFill>
            <a:srgbClr val="00BCD4"/>
          </a:solidFill>
          <a:ln w="12700">
            <a:solidFill>
              <a:srgbClr val="00BCD4"/>
            </a:solidFill>
            <a:prstDash val="solid"/>
          </a:ln>
        </p:spPr>
      </p:sp>
      <p:sp>
        <p:nvSpPr>
          <p:cNvPr id="39" name="Shape 37"/>
          <p:cNvSpPr/>
          <p:nvPr/>
        </p:nvSpPr>
        <p:spPr>
          <a:xfrm>
            <a:off x="7708392" y="1298448"/>
            <a:ext cx="457200" cy="457200"/>
          </a:xfrm>
          <a:prstGeom prst="ellipse">
            <a:avLst/>
          </a:prstGeom>
          <a:solidFill>
            <a:srgbClr val="00BCD4"/>
          </a:solidFill>
          <a:ln w="12700">
            <a:solidFill>
              <a:srgbClr val="00BCD4"/>
            </a:solidFill>
            <a:prstDash val="solid"/>
          </a:ln>
        </p:spPr>
      </p:sp>
      <p:sp>
        <p:nvSpPr>
          <p:cNvPr id="40" name="Text 38"/>
          <p:cNvSpPr/>
          <p:nvPr/>
        </p:nvSpPr>
        <p:spPr>
          <a:xfrm>
            <a:off x="7708392" y="1298448"/>
            <a:ext cx="457200" cy="45720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41" name="Text 39"/>
          <p:cNvSpPr/>
          <p:nvPr/>
        </p:nvSpPr>
        <p:spPr>
          <a:xfrm>
            <a:off x="7479792" y="1874520"/>
            <a:ext cx="914400" cy="548640"/>
          </a:xfrm>
          <a:prstGeom prst="rect">
            <a:avLst/>
          </a:prstGeom>
          <a:noFill/>
          <a:ln/>
        </p:spPr>
        <p:txBody>
          <a:bodyPr wrap="square" rtlCol="0" anchor="ctr"/>
          <a:lstStyle/>
          <a:p>
            <a:pPr marL="0" indent="0" algn="ctr">
              <a:buNone/>
            </a:pPr>
            <a:endParaRPr lang="en-US" sz="2600" dirty="0"/>
          </a:p>
        </p:txBody>
      </p:sp>
      <p:sp>
        <p:nvSpPr>
          <p:cNvPr id="42" name="Text 40"/>
          <p:cNvSpPr/>
          <p:nvPr/>
        </p:nvSpPr>
        <p:spPr>
          <a:xfrm>
            <a:off x="7242048" y="2423160"/>
            <a:ext cx="1389888" cy="320040"/>
          </a:xfrm>
          <a:prstGeom prst="rect">
            <a:avLst/>
          </a:prstGeom>
          <a:noFill/>
          <a:ln/>
        </p:spPr>
        <p:txBody>
          <a:bodyPr wrap="square" rtlCol="0" anchor="ctr"/>
          <a:lstStyle/>
          <a:p>
            <a:pPr marL="0" indent="0" algn="ctr">
              <a:buNone/>
            </a:pPr>
            <a:r>
              <a:rPr lang="en-US" sz="1150" b="1" dirty="0">
                <a:solidFill>
                  <a:srgbClr val="00BCD4"/>
                </a:solidFill>
              </a:rPr>
              <a:t>Deployment</a:t>
            </a:r>
            <a:endParaRPr lang="en-US" sz="1150" dirty="0"/>
          </a:p>
        </p:txBody>
      </p:sp>
      <p:sp>
        <p:nvSpPr>
          <p:cNvPr id="43" name="Text 41"/>
          <p:cNvSpPr/>
          <p:nvPr/>
        </p:nvSpPr>
        <p:spPr>
          <a:xfrm>
            <a:off x="7242048"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Streamlit Dashboard</a:t>
            </a:r>
            <a:endParaRPr lang="en-US" sz="950" dirty="0"/>
          </a:p>
          <a:p>
            <a:pPr marL="0" indent="0" algn="ctr">
              <a:lnSpc>
                <a:spcPct val="135000"/>
              </a:lnSpc>
              <a:buNone/>
            </a:pPr>
            <a:r>
              <a:rPr lang="en-US" sz="950" dirty="0">
                <a:solidFill>
                  <a:srgbClr val="37474F"/>
                </a:solidFill>
              </a:rPr>
              <a:t>Interactive GUI</a:t>
            </a:r>
            <a:endParaRPr lang="en-US" sz="950" dirty="0"/>
          </a:p>
          <a:p>
            <a:pPr marL="0" indent="0" algn="ctr">
              <a:lnSpc>
                <a:spcPct val="135000"/>
              </a:lnSpc>
              <a:buNone/>
            </a:pPr>
            <a:r>
              <a:rPr lang="en-US" sz="950" dirty="0">
                <a:solidFill>
                  <a:srgbClr val="37474F"/>
                </a:solidFill>
              </a:rPr>
              <a:t>Live inference</a:t>
            </a:r>
            <a:endParaRPr lang="en-US" sz="950" dirty="0"/>
          </a:p>
        </p:txBody>
      </p:sp>
      <p:sp>
        <p:nvSpPr>
          <p:cNvPr id="44" name="Shape 42"/>
          <p:cNvSpPr/>
          <p:nvPr/>
        </p:nvSpPr>
        <p:spPr>
          <a:xfrm>
            <a:off x="274320" y="3913632"/>
            <a:ext cx="8595360" cy="105156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45" name="Text 43"/>
          <p:cNvSpPr/>
          <p:nvPr/>
        </p:nvSpPr>
        <p:spPr>
          <a:xfrm>
            <a:off x="457200" y="4005072"/>
            <a:ext cx="2286000" cy="274320"/>
          </a:xfrm>
          <a:prstGeom prst="rect">
            <a:avLst/>
          </a:prstGeom>
          <a:noFill/>
          <a:ln/>
        </p:spPr>
        <p:txBody>
          <a:bodyPr wrap="square" rtlCol="0" anchor="ctr"/>
          <a:lstStyle/>
          <a:p>
            <a:pPr marL="0" indent="0">
              <a:buNone/>
            </a:pPr>
            <a:r>
              <a:rPr lang="en-US" sz="900" b="1" kern="0" spc="150" dirty="0">
                <a:solidFill>
                  <a:srgbClr val="0A1628"/>
                </a:solidFill>
              </a:rPr>
              <a:t>TECHNOLOGIES USED</a:t>
            </a:r>
            <a:endParaRPr lang="en-US" sz="900" dirty="0"/>
          </a:p>
        </p:txBody>
      </p:sp>
      <p:sp>
        <p:nvSpPr>
          <p:cNvPr id="46" name="Shape 44"/>
          <p:cNvSpPr/>
          <p:nvPr/>
        </p:nvSpPr>
        <p:spPr>
          <a:xfrm>
            <a:off x="411480" y="4315968"/>
            <a:ext cx="1115568" cy="457200"/>
          </a:xfrm>
          <a:prstGeom prst="roundRect">
            <a:avLst>
              <a:gd name="adj" fmla="val 12000"/>
            </a:avLst>
          </a:prstGeom>
          <a:solidFill>
            <a:srgbClr val="1565C0">
              <a:alpha val="15000"/>
            </a:srgbClr>
          </a:solidFill>
          <a:ln w="12700">
            <a:solidFill>
              <a:srgbClr val="1565C0"/>
            </a:solidFill>
            <a:prstDash val="solid"/>
          </a:ln>
        </p:spPr>
      </p:sp>
      <p:sp>
        <p:nvSpPr>
          <p:cNvPr id="47" name="Text 45"/>
          <p:cNvSpPr/>
          <p:nvPr/>
        </p:nvSpPr>
        <p:spPr>
          <a:xfrm>
            <a:off x="411480" y="4315968"/>
            <a:ext cx="1115568" cy="457200"/>
          </a:xfrm>
          <a:prstGeom prst="rect">
            <a:avLst/>
          </a:prstGeom>
          <a:noFill/>
          <a:ln/>
        </p:spPr>
        <p:txBody>
          <a:bodyPr wrap="square" rtlCol="0" anchor="ctr"/>
          <a:lstStyle/>
          <a:p>
            <a:pPr marL="0" indent="0" algn="ctr">
              <a:buNone/>
            </a:pPr>
            <a:r>
              <a:rPr lang="en-US" sz="900" b="1" dirty="0">
                <a:solidFill>
                  <a:srgbClr val="1565C0"/>
                </a:solidFill>
              </a:rPr>
              <a:t>Python</a:t>
            </a:r>
            <a:endParaRPr lang="en-US" sz="900" dirty="0"/>
          </a:p>
        </p:txBody>
      </p:sp>
      <p:sp>
        <p:nvSpPr>
          <p:cNvPr id="48" name="Shape 46"/>
          <p:cNvSpPr/>
          <p:nvPr/>
        </p:nvSpPr>
        <p:spPr>
          <a:xfrm>
            <a:off x="1627632" y="4315968"/>
            <a:ext cx="1115568" cy="457200"/>
          </a:xfrm>
          <a:prstGeom prst="roundRect">
            <a:avLst>
              <a:gd name="adj" fmla="val 12000"/>
            </a:avLst>
          </a:prstGeom>
          <a:solidFill>
            <a:srgbClr val="FF6F00">
              <a:alpha val="15000"/>
            </a:srgbClr>
          </a:solidFill>
          <a:ln w="12700">
            <a:solidFill>
              <a:srgbClr val="FF6F00"/>
            </a:solidFill>
            <a:prstDash val="solid"/>
          </a:ln>
        </p:spPr>
      </p:sp>
      <p:sp>
        <p:nvSpPr>
          <p:cNvPr id="49" name="Text 47"/>
          <p:cNvSpPr/>
          <p:nvPr/>
        </p:nvSpPr>
        <p:spPr>
          <a:xfrm>
            <a:off x="1627632" y="4315968"/>
            <a:ext cx="1115568" cy="457200"/>
          </a:xfrm>
          <a:prstGeom prst="rect">
            <a:avLst/>
          </a:prstGeom>
          <a:noFill/>
          <a:ln/>
        </p:spPr>
        <p:txBody>
          <a:bodyPr wrap="square" rtlCol="0" anchor="ctr"/>
          <a:lstStyle/>
          <a:p>
            <a:pPr marL="0" indent="0" algn="ctr">
              <a:buNone/>
            </a:pPr>
            <a:r>
              <a:rPr lang="en-US" sz="900" b="1" dirty="0">
                <a:solidFill>
                  <a:srgbClr val="FF6F00"/>
                </a:solidFill>
              </a:rPr>
              <a:t>NumPy / Pandas</a:t>
            </a:r>
            <a:endParaRPr lang="en-US" sz="900" dirty="0"/>
          </a:p>
        </p:txBody>
      </p:sp>
      <p:sp>
        <p:nvSpPr>
          <p:cNvPr id="50" name="Shape 48"/>
          <p:cNvSpPr/>
          <p:nvPr/>
        </p:nvSpPr>
        <p:spPr>
          <a:xfrm>
            <a:off x="2843784" y="4315968"/>
            <a:ext cx="1115568" cy="457200"/>
          </a:xfrm>
          <a:prstGeom prst="roundRect">
            <a:avLst>
              <a:gd name="adj" fmla="val 12000"/>
            </a:avLst>
          </a:prstGeom>
          <a:solidFill>
            <a:srgbClr val="00897B">
              <a:alpha val="15000"/>
            </a:srgbClr>
          </a:solidFill>
          <a:ln w="12700">
            <a:solidFill>
              <a:srgbClr val="00897B"/>
            </a:solidFill>
            <a:prstDash val="solid"/>
          </a:ln>
        </p:spPr>
      </p:sp>
      <p:sp>
        <p:nvSpPr>
          <p:cNvPr id="51" name="Text 49"/>
          <p:cNvSpPr/>
          <p:nvPr/>
        </p:nvSpPr>
        <p:spPr>
          <a:xfrm>
            <a:off x="2843784" y="4315968"/>
            <a:ext cx="1115568" cy="457200"/>
          </a:xfrm>
          <a:prstGeom prst="rect">
            <a:avLst/>
          </a:prstGeom>
          <a:noFill/>
          <a:ln/>
        </p:spPr>
        <p:txBody>
          <a:bodyPr wrap="square" rtlCol="0" anchor="ctr"/>
          <a:lstStyle/>
          <a:p>
            <a:pPr marL="0" indent="0" algn="ctr">
              <a:buNone/>
            </a:pPr>
            <a:r>
              <a:rPr lang="en-US" sz="900" b="1" dirty="0">
                <a:solidFill>
                  <a:srgbClr val="00897B"/>
                </a:solidFill>
              </a:rPr>
              <a:t>SciPy (FFT)</a:t>
            </a:r>
            <a:endParaRPr lang="en-US" sz="900" dirty="0"/>
          </a:p>
        </p:txBody>
      </p:sp>
      <p:sp>
        <p:nvSpPr>
          <p:cNvPr id="52" name="Shape 50"/>
          <p:cNvSpPr/>
          <p:nvPr/>
        </p:nvSpPr>
        <p:spPr>
          <a:xfrm>
            <a:off x="4059936" y="4315968"/>
            <a:ext cx="1115568" cy="457200"/>
          </a:xfrm>
          <a:prstGeom prst="roundRect">
            <a:avLst>
              <a:gd name="adj" fmla="val 12000"/>
            </a:avLst>
          </a:prstGeom>
          <a:solidFill>
            <a:srgbClr val="8E24AA">
              <a:alpha val="15000"/>
            </a:srgbClr>
          </a:solidFill>
          <a:ln w="12700">
            <a:solidFill>
              <a:srgbClr val="8E24AA"/>
            </a:solidFill>
            <a:prstDash val="solid"/>
          </a:ln>
        </p:spPr>
      </p:sp>
      <p:sp>
        <p:nvSpPr>
          <p:cNvPr id="53" name="Text 51"/>
          <p:cNvSpPr/>
          <p:nvPr/>
        </p:nvSpPr>
        <p:spPr>
          <a:xfrm>
            <a:off x="4059936" y="4315968"/>
            <a:ext cx="1115568" cy="457200"/>
          </a:xfrm>
          <a:prstGeom prst="rect">
            <a:avLst/>
          </a:prstGeom>
          <a:noFill/>
          <a:ln/>
        </p:spPr>
        <p:txBody>
          <a:bodyPr wrap="square" rtlCol="0" anchor="ctr"/>
          <a:lstStyle/>
          <a:p>
            <a:pPr marL="0" indent="0" algn="ctr">
              <a:buNone/>
            </a:pPr>
            <a:r>
              <a:rPr lang="en-US" sz="900" b="1" dirty="0">
                <a:solidFill>
                  <a:srgbClr val="8E24AA"/>
                </a:solidFill>
              </a:rPr>
              <a:t>scikit-learn</a:t>
            </a:r>
            <a:endParaRPr lang="en-US" sz="900" dirty="0"/>
          </a:p>
        </p:txBody>
      </p:sp>
      <p:sp>
        <p:nvSpPr>
          <p:cNvPr id="54" name="Shape 52"/>
          <p:cNvSpPr/>
          <p:nvPr/>
        </p:nvSpPr>
        <p:spPr>
          <a:xfrm>
            <a:off x="5276088" y="4315968"/>
            <a:ext cx="1115568" cy="457200"/>
          </a:xfrm>
          <a:prstGeom prst="roundRect">
            <a:avLst>
              <a:gd name="adj" fmla="val 12000"/>
            </a:avLst>
          </a:prstGeom>
          <a:solidFill>
            <a:srgbClr val="E53935">
              <a:alpha val="15000"/>
            </a:srgbClr>
          </a:solidFill>
          <a:ln w="12700">
            <a:solidFill>
              <a:srgbClr val="E53935"/>
            </a:solidFill>
            <a:prstDash val="solid"/>
          </a:ln>
        </p:spPr>
      </p:sp>
      <p:sp>
        <p:nvSpPr>
          <p:cNvPr id="55" name="Text 53"/>
          <p:cNvSpPr/>
          <p:nvPr/>
        </p:nvSpPr>
        <p:spPr>
          <a:xfrm>
            <a:off x="5276088" y="4315968"/>
            <a:ext cx="1115568" cy="457200"/>
          </a:xfrm>
          <a:prstGeom prst="rect">
            <a:avLst/>
          </a:prstGeom>
          <a:noFill/>
          <a:ln/>
        </p:spPr>
        <p:txBody>
          <a:bodyPr wrap="square" rtlCol="0" anchor="ctr"/>
          <a:lstStyle/>
          <a:p>
            <a:pPr marL="0" indent="0" algn="ctr">
              <a:buNone/>
            </a:pPr>
            <a:r>
              <a:rPr lang="en-US" sz="900" b="1" dirty="0">
                <a:solidFill>
                  <a:srgbClr val="E53935"/>
                </a:solidFill>
              </a:rPr>
              <a:t>Matplotlib</a:t>
            </a:r>
            <a:endParaRPr lang="en-US" sz="900" dirty="0"/>
          </a:p>
        </p:txBody>
      </p:sp>
      <p:sp>
        <p:nvSpPr>
          <p:cNvPr id="56" name="Shape 54"/>
          <p:cNvSpPr/>
          <p:nvPr/>
        </p:nvSpPr>
        <p:spPr>
          <a:xfrm>
            <a:off x="6492240" y="4315968"/>
            <a:ext cx="1115568" cy="457200"/>
          </a:xfrm>
          <a:prstGeom prst="roundRect">
            <a:avLst>
              <a:gd name="adj" fmla="val 12000"/>
            </a:avLst>
          </a:prstGeom>
          <a:solidFill>
            <a:srgbClr val="37474F">
              <a:alpha val="15000"/>
            </a:srgbClr>
          </a:solidFill>
          <a:ln w="12700">
            <a:solidFill>
              <a:srgbClr val="37474F"/>
            </a:solidFill>
            <a:prstDash val="solid"/>
          </a:ln>
        </p:spPr>
      </p:sp>
      <p:sp>
        <p:nvSpPr>
          <p:cNvPr id="57" name="Text 55"/>
          <p:cNvSpPr/>
          <p:nvPr/>
        </p:nvSpPr>
        <p:spPr>
          <a:xfrm>
            <a:off x="6492240" y="4315968"/>
            <a:ext cx="1115568" cy="457200"/>
          </a:xfrm>
          <a:prstGeom prst="rect">
            <a:avLst/>
          </a:prstGeom>
          <a:noFill/>
          <a:ln/>
        </p:spPr>
        <p:txBody>
          <a:bodyPr wrap="square" rtlCol="0" anchor="ctr"/>
          <a:lstStyle/>
          <a:p>
            <a:pPr marL="0" indent="0" algn="ctr">
              <a:buNone/>
            </a:pPr>
            <a:r>
              <a:rPr lang="en-US" sz="900" b="1" dirty="0">
                <a:solidFill>
                  <a:srgbClr val="37474F"/>
                </a:solidFill>
              </a:rPr>
              <a:t>Joblib</a:t>
            </a:r>
            <a:endParaRPr lang="en-US" sz="900" dirty="0"/>
          </a:p>
        </p:txBody>
      </p:sp>
      <p:sp>
        <p:nvSpPr>
          <p:cNvPr id="58" name="Shape 56"/>
          <p:cNvSpPr/>
          <p:nvPr/>
        </p:nvSpPr>
        <p:spPr>
          <a:xfrm>
            <a:off x="7708392" y="4315968"/>
            <a:ext cx="1115568" cy="457200"/>
          </a:xfrm>
          <a:prstGeom prst="roundRect">
            <a:avLst>
              <a:gd name="adj" fmla="val 12000"/>
            </a:avLst>
          </a:prstGeom>
          <a:solidFill>
            <a:srgbClr val="00BCD4">
              <a:alpha val="15000"/>
            </a:srgbClr>
          </a:solidFill>
          <a:ln w="12700">
            <a:solidFill>
              <a:srgbClr val="00BCD4"/>
            </a:solidFill>
            <a:prstDash val="solid"/>
          </a:ln>
        </p:spPr>
      </p:sp>
      <p:sp>
        <p:nvSpPr>
          <p:cNvPr id="59" name="Text 57"/>
          <p:cNvSpPr/>
          <p:nvPr/>
        </p:nvSpPr>
        <p:spPr>
          <a:xfrm>
            <a:off x="7708392" y="4315968"/>
            <a:ext cx="1115568" cy="457200"/>
          </a:xfrm>
          <a:prstGeom prst="rect">
            <a:avLst/>
          </a:prstGeom>
          <a:noFill/>
          <a:ln/>
        </p:spPr>
        <p:txBody>
          <a:bodyPr wrap="square" rtlCol="0" anchor="ctr"/>
          <a:lstStyle/>
          <a:p>
            <a:pPr marL="0" indent="0" algn="ctr">
              <a:buNone/>
            </a:pPr>
            <a:r>
              <a:rPr lang="en-US" sz="900" b="1" dirty="0">
                <a:solidFill>
                  <a:srgbClr val="00BCD4"/>
                </a:solidFill>
              </a:rPr>
              <a:t>Streamlit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0A1628"/>
          </a:solidFill>
          <a:ln w="12700">
            <a:solidFill>
              <a:srgbClr val="0A1628"/>
            </a:solidFill>
            <a:prstDash val="solid"/>
          </a:ln>
        </p:spPr>
      </p:sp>
      <p:sp>
        <p:nvSpPr>
          <p:cNvPr id="3" name="Shape 1"/>
          <p:cNvSpPr/>
          <p:nvPr/>
        </p:nvSpPr>
        <p:spPr>
          <a:xfrm>
            <a:off x="4572000" y="0"/>
            <a:ext cx="64008" cy="5143500"/>
          </a:xfrm>
          <a:prstGeom prst="rect">
            <a:avLst/>
          </a:prstGeom>
          <a:solidFill>
            <a:srgbClr val="00BCD4"/>
          </a:solidFill>
          <a:ln w="12700">
            <a:solidFill>
              <a:srgbClr val="00BCD4"/>
            </a:solidFill>
            <a:prstDash val="solid"/>
          </a:ln>
        </p:spPr>
      </p:sp>
      <p:sp>
        <p:nvSpPr>
          <p:cNvPr id="4" name="Text 2"/>
          <p:cNvSpPr/>
          <p:nvPr/>
        </p:nvSpPr>
        <p:spPr>
          <a:xfrm>
            <a:off x="274320" y="228600"/>
            <a:ext cx="4114800" cy="320040"/>
          </a:xfrm>
          <a:prstGeom prst="rect">
            <a:avLst/>
          </a:prstGeom>
          <a:noFill/>
          <a:ln/>
        </p:spPr>
        <p:txBody>
          <a:bodyPr wrap="square" rtlCol="0" anchor="ctr"/>
          <a:lstStyle/>
          <a:p>
            <a:pPr marL="0" indent="0">
              <a:buNone/>
            </a:pPr>
            <a:r>
              <a:rPr lang="en-US" sz="1100" b="1" kern="0" spc="200" dirty="0">
                <a:solidFill>
                  <a:srgbClr val="00BCD4"/>
                </a:solidFill>
              </a:rPr>
              <a:t>METHODOLOGY</a:t>
            </a:r>
            <a:endParaRPr lang="en-US" sz="1100" dirty="0"/>
          </a:p>
        </p:txBody>
      </p:sp>
      <p:sp>
        <p:nvSpPr>
          <p:cNvPr id="5" name="Text 3"/>
          <p:cNvSpPr/>
          <p:nvPr/>
        </p:nvSpPr>
        <p:spPr>
          <a:xfrm>
            <a:off x="274320" y="530352"/>
            <a:ext cx="4114800" cy="1097280"/>
          </a:xfrm>
          <a:prstGeom prst="rect">
            <a:avLst/>
          </a:prstGeom>
          <a:noFill/>
          <a:ln/>
        </p:spPr>
        <p:txBody>
          <a:bodyPr wrap="square" rtlCol="0" anchor="ctr"/>
          <a:lstStyle/>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Feature</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Extraction</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Module</a:t>
            </a:r>
            <a:endParaRPr lang="en-US" sz="3000" dirty="0"/>
          </a:p>
        </p:txBody>
      </p:sp>
      <p:sp>
        <p:nvSpPr>
          <p:cNvPr id="6" name="Shape 4"/>
          <p:cNvSpPr/>
          <p:nvPr/>
        </p:nvSpPr>
        <p:spPr>
          <a:xfrm>
            <a:off x="274320" y="1737360"/>
            <a:ext cx="4114800" cy="365760"/>
          </a:xfrm>
          <a:prstGeom prst="rect">
            <a:avLst/>
          </a:prstGeom>
          <a:solidFill>
            <a:srgbClr val="1E88E5"/>
          </a:solidFill>
          <a:ln w="12700">
            <a:solidFill>
              <a:srgbClr val="1E88E5"/>
            </a:solidFill>
            <a:prstDash val="solid"/>
          </a:ln>
        </p:spPr>
      </p:sp>
      <p:sp>
        <p:nvSpPr>
          <p:cNvPr id="7" name="Text 5"/>
          <p:cNvSpPr/>
          <p:nvPr/>
        </p:nvSpPr>
        <p:spPr>
          <a:xfrm>
            <a:off x="320040" y="1755648"/>
            <a:ext cx="4023360" cy="329184"/>
          </a:xfrm>
          <a:prstGeom prst="rect">
            <a:avLst/>
          </a:prstGeom>
          <a:noFill/>
          <a:ln/>
        </p:spPr>
        <p:txBody>
          <a:bodyPr wrap="square" rtlCol="0" anchor="ctr"/>
          <a:lstStyle/>
          <a:p>
            <a:pPr marL="0" indent="0">
              <a:buNone/>
            </a:pPr>
            <a:r>
              <a:rPr lang="en-US" sz="1050" b="1" dirty="0">
                <a:solidFill>
                  <a:srgbClr val="FFFFFF"/>
                </a:solidFill>
              </a:rPr>
              <a:t>⏱  TIME DOMAIN — Statistical Features</a:t>
            </a:r>
            <a:endParaRPr lang="en-US" sz="1050" dirty="0"/>
          </a:p>
        </p:txBody>
      </p:sp>
      <p:sp>
        <p:nvSpPr>
          <p:cNvPr id="8" name="Shape 6"/>
          <p:cNvSpPr/>
          <p:nvPr/>
        </p:nvSpPr>
        <p:spPr>
          <a:xfrm>
            <a:off x="320040" y="2176272"/>
            <a:ext cx="128016" cy="128016"/>
          </a:xfrm>
          <a:prstGeom prst="ellipse">
            <a:avLst/>
          </a:prstGeom>
          <a:solidFill>
            <a:srgbClr val="00BCD4"/>
          </a:solidFill>
          <a:ln w="12700">
            <a:solidFill>
              <a:srgbClr val="00BCD4"/>
            </a:solidFill>
            <a:prstDash val="solid"/>
          </a:ln>
        </p:spPr>
      </p:sp>
      <p:sp>
        <p:nvSpPr>
          <p:cNvPr id="9" name="Text 7"/>
          <p:cNvSpPr/>
          <p:nvPr/>
        </p:nvSpPr>
        <p:spPr>
          <a:xfrm>
            <a:off x="512064" y="2148840"/>
            <a:ext cx="3794760" cy="219456"/>
          </a:xfrm>
          <a:prstGeom prst="rect">
            <a:avLst/>
          </a:prstGeom>
          <a:noFill/>
          <a:ln/>
        </p:spPr>
        <p:txBody>
          <a:bodyPr wrap="square" rtlCol="0" anchor="ctr"/>
          <a:lstStyle/>
          <a:p>
            <a:pPr marL="0" indent="0">
              <a:buNone/>
            </a:pPr>
            <a:r>
              <a:rPr lang="en-US" sz="1050" dirty="0">
                <a:solidFill>
                  <a:srgbClr val="B0C4DE"/>
                </a:solidFill>
              </a:rPr>
              <a:t>Mean &amp; Standard Deviation</a:t>
            </a:r>
            <a:endParaRPr lang="en-US" sz="1050" dirty="0"/>
          </a:p>
        </p:txBody>
      </p:sp>
      <p:sp>
        <p:nvSpPr>
          <p:cNvPr id="10" name="Shape 8"/>
          <p:cNvSpPr/>
          <p:nvPr/>
        </p:nvSpPr>
        <p:spPr>
          <a:xfrm>
            <a:off x="320040" y="2523744"/>
            <a:ext cx="128016" cy="128016"/>
          </a:xfrm>
          <a:prstGeom prst="ellipse">
            <a:avLst/>
          </a:prstGeom>
          <a:solidFill>
            <a:srgbClr val="00BCD4"/>
          </a:solidFill>
          <a:ln w="12700">
            <a:solidFill>
              <a:srgbClr val="00BCD4"/>
            </a:solidFill>
            <a:prstDash val="solid"/>
          </a:ln>
        </p:spPr>
      </p:sp>
      <p:sp>
        <p:nvSpPr>
          <p:cNvPr id="11" name="Text 9"/>
          <p:cNvSpPr/>
          <p:nvPr/>
        </p:nvSpPr>
        <p:spPr>
          <a:xfrm>
            <a:off x="512064" y="2496312"/>
            <a:ext cx="3794760" cy="219456"/>
          </a:xfrm>
          <a:prstGeom prst="rect">
            <a:avLst/>
          </a:prstGeom>
          <a:noFill/>
          <a:ln/>
        </p:spPr>
        <p:txBody>
          <a:bodyPr wrap="square" rtlCol="0" anchor="ctr"/>
          <a:lstStyle/>
          <a:p>
            <a:pPr marL="0" indent="0">
              <a:buNone/>
            </a:pPr>
            <a:r>
              <a:rPr lang="en-US" sz="1050" dirty="0">
                <a:solidFill>
                  <a:srgbClr val="B0C4DE"/>
                </a:solidFill>
              </a:rPr>
              <a:t>Mean Absolute Deviation</a:t>
            </a:r>
            <a:endParaRPr lang="en-US" sz="1050" dirty="0"/>
          </a:p>
        </p:txBody>
      </p:sp>
      <p:sp>
        <p:nvSpPr>
          <p:cNvPr id="12" name="Shape 10"/>
          <p:cNvSpPr/>
          <p:nvPr/>
        </p:nvSpPr>
        <p:spPr>
          <a:xfrm>
            <a:off x="320040" y="2871216"/>
            <a:ext cx="128016" cy="128016"/>
          </a:xfrm>
          <a:prstGeom prst="ellipse">
            <a:avLst/>
          </a:prstGeom>
          <a:solidFill>
            <a:srgbClr val="00BCD4"/>
          </a:solidFill>
          <a:ln w="12700">
            <a:solidFill>
              <a:srgbClr val="00BCD4"/>
            </a:solidFill>
            <a:prstDash val="solid"/>
          </a:ln>
        </p:spPr>
      </p:sp>
      <p:sp>
        <p:nvSpPr>
          <p:cNvPr id="13" name="Text 11"/>
          <p:cNvSpPr/>
          <p:nvPr/>
        </p:nvSpPr>
        <p:spPr>
          <a:xfrm>
            <a:off x="512064" y="2843784"/>
            <a:ext cx="3794760" cy="219456"/>
          </a:xfrm>
          <a:prstGeom prst="rect">
            <a:avLst/>
          </a:prstGeom>
          <a:noFill/>
          <a:ln/>
        </p:spPr>
        <p:txBody>
          <a:bodyPr wrap="square" rtlCol="0" anchor="ctr"/>
          <a:lstStyle/>
          <a:p>
            <a:pPr marL="0" indent="0">
              <a:buNone/>
            </a:pPr>
            <a:r>
              <a:rPr lang="en-US" sz="1050" dirty="0">
                <a:solidFill>
                  <a:srgbClr val="B0C4DE"/>
                </a:solidFill>
              </a:rPr>
              <a:t>RMS (Root Mean Square)</a:t>
            </a:r>
            <a:endParaRPr lang="en-US" sz="1050" dirty="0"/>
          </a:p>
        </p:txBody>
      </p:sp>
      <p:sp>
        <p:nvSpPr>
          <p:cNvPr id="14" name="Shape 12"/>
          <p:cNvSpPr/>
          <p:nvPr/>
        </p:nvSpPr>
        <p:spPr>
          <a:xfrm>
            <a:off x="320040" y="3218688"/>
            <a:ext cx="128016" cy="128016"/>
          </a:xfrm>
          <a:prstGeom prst="ellipse">
            <a:avLst/>
          </a:prstGeom>
          <a:solidFill>
            <a:srgbClr val="00BCD4"/>
          </a:solidFill>
          <a:ln w="12700">
            <a:solidFill>
              <a:srgbClr val="00BCD4"/>
            </a:solidFill>
            <a:prstDash val="solid"/>
          </a:ln>
        </p:spPr>
      </p:sp>
      <p:sp>
        <p:nvSpPr>
          <p:cNvPr id="15" name="Text 13"/>
          <p:cNvSpPr/>
          <p:nvPr/>
        </p:nvSpPr>
        <p:spPr>
          <a:xfrm>
            <a:off x="512064" y="3191256"/>
            <a:ext cx="3794760" cy="219456"/>
          </a:xfrm>
          <a:prstGeom prst="rect">
            <a:avLst/>
          </a:prstGeom>
          <a:noFill/>
          <a:ln/>
        </p:spPr>
        <p:txBody>
          <a:bodyPr wrap="square" rtlCol="0" anchor="ctr"/>
          <a:lstStyle/>
          <a:p>
            <a:pPr marL="0" indent="0">
              <a:buNone/>
            </a:pPr>
            <a:r>
              <a:rPr lang="en-US" sz="1050" dirty="0">
                <a:solidFill>
                  <a:srgbClr val="B0C4DE"/>
                </a:solidFill>
              </a:rPr>
              <a:t>Maximum Absolute Amplitude</a:t>
            </a:r>
            <a:endParaRPr lang="en-US" sz="1050" dirty="0"/>
          </a:p>
        </p:txBody>
      </p:sp>
      <p:sp>
        <p:nvSpPr>
          <p:cNvPr id="16" name="Shape 14"/>
          <p:cNvSpPr/>
          <p:nvPr/>
        </p:nvSpPr>
        <p:spPr>
          <a:xfrm>
            <a:off x="320040" y="3566160"/>
            <a:ext cx="128016" cy="128016"/>
          </a:xfrm>
          <a:prstGeom prst="ellipse">
            <a:avLst/>
          </a:prstGeom>
          <a:solidFill>
            <a:srgbClr val="00BCD4"/>
          </a:solidFill>
          <a:ln w="12700">
            <a:solidFill>
              <a:srgbClr val="00BCD4"/>
            </a:solidFill>
            <a:prstDash val="solid"/>
          </a:ln>
        </p:spPr>
      </p:sp>
      <p:sp>
        <p:nvSpPr>
          <p:cNvPr id="17" name="Text 15"/>
          <p:cNvSpPr/>
          <p:nvPr/>
        </p:nvSpPr>
        <p:spPr>
          <a:xfrm>
            <a:off x="512064" y="3538728"/>
            <a:ext cx="3794760" cy="219456"/>
          </a:xfrm>
          <a:prstGeom prst="rect">
            <a:avLst/>
          </a:prstGeom>
          <a:noFill/>
          <a:ln/>
        </p:spPr>
        <p:txBody>
          <a:bodyPr wrap="square" rtlCol="0" anchor="ctr"/>
          <a:lstStyle/>
          <a:p>
            <a:pPr marL="0" indent="0">
              <a:buNone/>
            </a:pPr>
            <a:r>
              <a:rPr lang="en-US" sz="1050" dirty="0">
                <a:solidFill>
                  <a:srgbClr val="B0C4DE"/>
                </a:solidFill>
              </a:rPr>
              <a:t>Skewness &amp; Kurtosis</a:t>
            </a:r>
            <a:endParaRPr lang="en-US" sz="1050" dirty="0"/>
          </a:p>
        </p:txBody>
      </p:sp>
      <p:sp>
        <p:nvSpPr>
          <p:cNvPr id="18" name="Shape 16"/>
          <p:cNvSpPr/>
          <p:nvPr/>
        </p:nvSpPr>
        <p:spPr>
          <a:xfrm>
            <a:off x="320040" y="3913632"/>
            <a:ext cx="128016" cy="128016"/>
          </a:xfrm>
          <a:prstGeom prst="ellipse">
            <a:avLst/>
          </a:prstGeom>
          <a:solidFill>
            <a:srgbClr val="00BCD4"/>
          </a:solidFill>
          <a:ln w="12700">
            <a:solidFill>
              <a:srgbClr val="00BCD4"/>
            </a:solidFill>
            <a:prstDash val="solid"/>
          </a:ln>
        </p:spPr>
      </p:sp>
      <p:sp>
        <p:nvSpPr>
          <p:cNvPr id="19" name="Text 17"/>
          <p:cNvSpPr/>
          <p:nvPr/>
        </p:nvSpPr>
        <p:spPr>
          <a:xfrm>
            <a:off x="512064" y="3886200"/>
            <a:ext cx="3794760" cy="219456"/>
          </a:xfrm>
          <a:prstGeom prst="rect">
            <a:avLst/>
          </a:prstGeom>
          <a:noFill/>
          <a:ln/>
        </p:spPr>
        <p:txBody>
          <a:bodyPr wrap="square" rtlCol="0" anchor="ctr"/>
          <a:lstStyle/>
          <a:p>
            <a:pPr marL="0" indent="0">
              <a:buNone/>
            </a:pPr>
            <a:r>
              <a:rPr lang="en-US" sz="1050" dirty="0">
                <a:solidFill>
                  <a:srgbClr val="B0C4DE"/>
                </a:solidFill>
              </a:rPr>
              <a:t>Crest Factor, Form Factor</a:t>
            </a:r>
            <a:endParaRPr lang="en-US" sz="1050" dirty="0"/>
          </a:p>
        </p:txBody>
      </p:sp>
      <p:sp>
        <p:nvSpPr>
          <p:cNvPr id="20" name="Shape 18"/>
          <p:cNvSpPr/>
          <p:nvPr/>
        </p:nvSpPr>
        <p:spPr>
          <a:xfrm>
            <a:off x="320040" y="4261104"/>
            <a:ext cx="128016" cy="128016"/>
          </a:xfrm>
          <a:prstGeom prst="ellipse">
            <a:avLst/>
          </a:prstGeom>
          <a:solidFill>
            <a:srgbClr val="00BCD4"/>
          </a:solidFill>
          <a:ln w="12700">
            <a:solidFill>
              <a:srgbClr val="00BCD4"/>
            </a:solidFill>
            <a:prstDash val="solid"/>
          </a:ln>
        </p:spPr>
      </p:sp>
      <p:sp>
        <p:nvSpPr>
          <p:cNvPr id="21" name="Text 19"/>
          <p:cNvSpPr/>
          <p:nvPr/>
        </p:nvSpPr>
        <p:spPr>
          <a:xfrm>
            <a:off x="512064" y="4233672"/>
            <a:ext cx="3794760" cy="219456"/>
          </a:xfrm>
          <a:prstGeom prst="rect">
            <a:avLst/>
          </a:prstGeom>
          <a:noFill/>
          <a:ln/>
        </p:spPr>
        <p:txBody>
          <a:bodyPr wrap="square" rtlCol="0" anchor="ctr"/>
          <a:lstStyle/>
          <a:p>
            <a:pPr marL="0" indent="0">
              <a:buNone/>
            </a:pPr>
            <a:r>
              <a:rPr lang="en-US" sz="1050" dirty="0">
                <a:solidFill>
                  <a:srgbClr val="B0C4DE"/>
                </a:solidFill>
              </a:rPr>
              <a:t>Shape Factor, Impulse Factor</a:t>
            </a:r>
            <a:endParaRPr lang="en-US" sz="1050" dirty="0"/>
          </a:p>
        </p:txBody>
      </p:sp>
      <p:sp>
        <p:nvSpPr>
          <p:cNvPr id="22" name="Shape 20"/>
          <p:cNvSpPr/>
          <p:nvPr/>
        </p:nvSpPr>
        <p:spPr>
          <a:xfrm>
            <a:off x="274320" y="4617720"/>
            <a:ext cx="4114800" cy="411480"/>
          </a:xfrm>
          <a:prstGeom prst="rect">
            <a:avLst/>
          </a:prstGeom>
          <a:solidFill>
            <a:srgbClr val="071829"/>
          </a:solidFill>
          <a:ln w="12700">
            <a:solidFill>
              <a:srgbClr val="00BCD4"/>
            </a:solidFill>
            <a:prstDash val="solid"/>
          </a:ln>
        </p:spPr>
      </p:sp>
      <p:sp>
        <p:nvSpPr>
          <p:cNvPr id="23" name="Text 21"/>
          <p:cNvSpPr/>
          <p:nvPr/>
        </p:nvSpPr>
        <p:spPr>
          <a:xfrm>
            <a:off x="320040" y="4663440"/>
            <a:ext cx="4023360" cy="320040"/>
          </a:xfrm>
          <a:prstGeom prst="rect">
            <a:avLst/>
          </a:prstGeom>
          <a:noFill/>
          <a:ln/>
        </p:spPr>
        <p:txBody>
          <a:bodyPr wrap="square" rtlCol="0" anchor="ctr"/>
          <a:lstStyle/>
          <a:p>
            <a:pPr marL="0" indent="0" algn="ctr">
              <a:buNone/>
            </a:pPr>
            <a:r>
              <a:rPr lang="en-US" sz="1000" b="1" dirty="0">
                <a:solidFill>
                  <a:srgbClr val="00BCD4"/>
                </a:solidFill>
              </a:rPr>
              <a:t>Window: 2048 samples @ 48 kHz = 42.67 ms</a:t>
            </a:r>
            <a:endParaRPr lang="en-US" sz="1000" dirty="0"/>
          </a:p>
        </p:txBody>
      </p:sp>
      <p:sp>
        <p:nvSpPr>
          <p:cNvPr id="24" name="Shape 22"/>
          <p:cNvSpPr/>
          <p:nvPr/>
        </p:nvSpPr>
        <p:spPr>
          <a:xfrm>
            <a:off x="4773168" y="182880"/>
            <a:ext cx="4160520" cy="365760"/>
          </a:xfrm>
          <a:prstGeom prst="rect">
            <a:avLst/>
          </a:prstGeom>
          <a:solidFill>
            <a:srgbClr val="FF6F00"/>
          </a:solidFill>
          <a:ln w="12700">
            <a:solidFill>
              <a:srgbClr val="FF6F00"/>
            </a:solidFill>
            <a:prstDash val="solid"/>
          </a:ln>
        </p:spPr>
      </p:sp>
      <p:sp>
        <p:nvSpPr>
          <p:cNvPr id="25" name="Text 23"/>
          <p:cNvSpPr/>
          <p:nvPr/>
        </p:nvSpPr>
        <p:spPr>
          <a:xfrm>
            <a:off x="4846320" y="201168"/>
            <a:ext cx="4023360" cy="329184"/>
          </a:xfrm>
          <a:prstGeom prst="rect">
            <a:avLst/>
          </a:prstGeom>
          <a:noFill/>
          <a:ln/>
        </p:spPr>
        <p:txBody>
          <a:bodyPr wrap="square" rtlCol="0" anchor="ctr"/>
          <a:lstStyle/>
          <a:p>
            <a:pPr marL="0" indent="0">
              <a:buNone/>
            </a:pPr>
            <a:r>
              <a:rPr lang="en-US" sz="1000" b="1" dirty="0">
                <a:solidFill>
                  <a:srgbClr val="FFFFFF"/>
                </a:solidFill>
              </a:rPr>
              <a:t>〰  FREQUENCY DOMAIN — Spectral Features</a:t>
            </a:r>
            <a:endParaRPr lang="en-US" sz="1000" dirty="0"/>
          </a:p>
        </p:txBody>
      </p:sp>
      <p:sp>
        <p:nvSpPr>
          <p:cNvPr id="26" name="Shape 24"/>
          <p:cNvSpPr/>
          <p:nvPr/>
        </p:nvSpPr>
        <p:spPr>
          <a:xfrm>
            <a:off x="4828032" y="667512"/>
            <a:ext cx="128016" cy="128016"/>
          </a:xfrm>
          <a:prstGeom prst="ellipse">
            <a:avLst/>
          </a:prstGeom>
          <a:solidFill>
            <a:srgbClr val="FF6F00"/>
          </a:solidFill>
          <a:ln w="12700">
            <a:solidFill>
              <a:srgbClr val="FF6F00"/>
            </a:solidFill>
            <a:prstDash val="solid"/>
          </a:ln>
        </p:spPr>
      </p:sp>
      <p:sp>
        <p:nvSpPr>
          <p:cNvPr id="27" name="Text 25"/>
          <p:cNvSpPr/>
          <p:nvPr/>
        </p:nvSpPr>
        <p:spPr>
          <a:xfrm>
            <a:off x="5029200" y="640080"/>
            <a:ext cx="3840480" cy="219456"/>
          </a:xfrm>
          <a:prstGeom prst="rect">
            <a:avLst/>
          </a:prstGeom>
          <a:noFill/>
          <a:ln/>
        </p:spPr>
        <p:txBody>
          <a:bodyPr wrap="square" rtlCol="0" anchor="ctr"/>
          <a:lstStyle/>
          <a:p>
            <a:pPr marL="0" indent="0">
              <a:buNone/>
            </a:pPr>
            <a:r>
              <a:rPr lang="en-US" sz="1050" dirty="0">
                <a:solidFill>
                  <a:srgbClr val="0A1628"/>
                </a:solidFill>
              </a:rPr>
              <a:t>FFT Peak Amplitude</a:t>
            </a:r>
            <a:endParaRPr lang="en-US" sz="1050" dirty="0"/>
          </a:p>
        </p:txBody>
      </p:sp>
      <p:sp>
        <p:nvSpPr>
          <p:cNvPr id="28" name="Shape 26"/>
          <p:cNvSpPr/>
          <p:nvPr/>
        </p:nvSpPr>
        <p:spPr>
          <a:xfrm>
            <a:off x="4828032" y="1014984"/>
            <a:ext cx="128016" cy="128016"/>
          </a:xfrm>
          <a:prstGeom prst="ellipse">
            <a:avLst/>
          </a:prstGeom>
          <a:solidFill>
            <a:srgbClr val="FF6F00"/>
          </a:solidFill>
          <a:ln w="12700">
            <a:solidFill>
              <a:srgbClr val="FF6F00"/>
            </a:solidFill>
            <a:prstDash val="solid"/>
          </a:ln>
        </p:spPr>
      </p:sp>
      <p:sp>
        <p:nvSpPr>
          <p:cNvPr id="29" name="Text 27"/>
          <p:cNvSpPr/>
          <p:nvPr/>
        </p:nvSpPr>
        <p:spPr>
          <a:xfrm>
            <a:off x="5029200" y="987552"/>
            <a:ext cx="3840480" cy="219456"/>
          </a:xfrm>
          <a:prstGeom prst="rect">
            <a:avLst/>
          </a:prstGeom>
          <a:noFill/>
          <a:ln/>
        </p:spPr>
        <p:txBody>
          <a:bodyPr wrap="square" rtlCol="0" anchor="ctr"/>
          <a:lstStyle/>
          <a:p>
            <a:pPr marL="0" indent="0">
              <a:buNone/>
            </a:pPr>
            <a:r>
              <a:rPr lang="en-US" sz="1050" dirty="0">
                <a:solidFill>
                  <a:srgbClr val="0A1628"/>
                </a:solidFill>
              </a:rPr>
              <a:t>Spectral Mean</a:t>
            </a:r>
            <a:endParaRPr lang="en-US" sz="1050" dirty="0"/>
          </a:p>
        </p:txBody>
      </p:sp>
      <p:sp>
        <p:nvSpPr>
          <p:cNvPr id="30" name="Shape 28"/>
          <p:cNvSpPr/>
          <p:nvPr/>
        </p:nvSpPr>
        <p:spPr>
          <a:xfrm>
            <a:off x="4828032" y="1362456"/>
            <a:ext cx="128016" cy="128016"/>
          </a:xfrm>
          <a:prstGeom prst="ellipse">
            <a:avLst/>
          </a:prstGeom>
          <a:solidFill>
            <a:srgbClr val="FF6F00"/>
          </a:solidFill>
          <a:ln w="12700">
            <a:solidFill>
              <a:srgbClr val="FF6F00"/>
            </a:solidFill>
            <a:prstDash val="solid"/>
          </a:ln>
        </p:spPr>
      </p:sp>
      <p:sp>
        <p:nvSpPr>
          <p:cNvPr id="31" name="Text 29"/>
          <p:cNvSpPr/>
          <p:nvPr/>
        </p:nvSpPr>
        <p:spPr>
          <a:xfrm>
            <a:off x="5029200" y="1335024"/>
            <a:ext cx="3840480" cy="219456"/>
          </a:xfrm>
          <a:prstGeom prst="rect">
            <a:avLst/>
          </a:prstGeom>
          <a:noFill/>
          <a:ln/>
        </p:spPr>
        <p:txBody>
          <a:bodyPr wrap="square" rtlCol="0" anchor="ctr"/>
          <a:lstStyle/>
          <a:p>
            <a:pPr marL="0" indent="0">
              <a:buNone/>
            </a:pPr>
            <a:r>
              <a:rPr lang="en-US" sz="1050" dirty="0">
                <a:solidFill>
                  <a:srgbClr val="0A1628"/>
                </a:solidFill>
              </a:rPr>
              <a:t>Spectral Standard Deviation</a:t>
            </a:r>
            <a:endParaRPr lang="en-US" sz="1050" dirty="0"/>
          </a:p>
        </p:txBody>
      </p:sp>
      <p:sp>
        <p:nvSpPr>
          <p:cNvPr id="32" name="Shape 30"/>
          <p:cNvSpPr/>
          <p:nvPr/>
        </p:nvSpPr>
        <p:spPr>
          <a:xfrm>
            <a:off x="4828032" y="1709928"/>
            <a:ext cx="128016" cy="128016"/>
          </a:xfrm>
          <a:prstGeom prst="ellipse">
            <a:avLst/>
          </a:prstGeom>
          <a:solidFill>
            <a:srgbClr val="FF6F00"/>
          </a:solidFill>
          <a:ln w="12700">
            <a:solidFill>
              <a:srgbClr val="FF6F00"/>
            </a:solidFill>
            <a:prstDash val="solid"/>
          </a:ln>
        </p:spPr>
      </p:sp>
      <p:sp>
        <p:nvSpPr>
          <p:cNvPr id="33" name="Text 31"/>
          <p:cNvSpPr/>
          <p:nvPr/>
        </p:nvSpPr>
        <p:spPr>
          <a:xfrm>
            <a:off x="5029200" y="1682496"/>
            <a:ext cx="3840480" cy="219456"/>
          </a:xfrm>
          <a:prstGeom prst="rect">
            <a:avLst/>
          </a:prstGeom>
          <a:noFill/>
          <a:ln/>
        </p:spPr>
        <p:txBody>
          <a:bodyPr wrap="square" rtlCol="0" anchor="ctr"/>
          <a:lstStyle/>
          <a:p>
            <a:pPr marL="0" indent="0">
              <a:buNone/>
            </a:pPr>
            <a:r>
              <a:rPr lang="en-US" sz="1050" dirty="0">
                <a:solidFill>
                  <a:srgbClr val="0A1628"/>
                </a:solidFill>
              </a:rPr>
              <a:t>Dominant Frequency</a:t>
            </a:r>
            <a:endParaRPr lang="en-US" sz="1050" dirty="0"/>
          </a:p>
        </p:txBody>
      </p:sp>
      <p:sp>
        <p:nvSpPr>
          <p:cNvPr id="34" name="Shape 32"/>
          <p:cNvSpPr/>
          <p:nvPr/>
        </p:nvSpPr>
        <p:spPr>
          <a:xfrm>
            <a:off x="4828032" y="2057400"/>
            <a:ext cx="128016" cy="128016"/>
          </a:xfrm>
          <a:prstGeom prst="ellipse">
            <a:avLst/>
          </a:prstGeom>
          <a:solidFill>
            <a:srgbClr val="FF6F00"/>
          </a:solidFill>
          <a:ln w="12700">
            <a:solidFill>
              <a:srgbClr val="FF6F00"/>
            </a:solidFill>
            <a:prstDash val="solid"/>
          </a:ln>
        </p:spPr>
      </p:sp>
      <p:sp>
        <p:nvSpPr>
          <p:cNvPr id="35" name="Text 33"/>
          <p:cNvSpPr/>
          <p:nvPr/>
        </p:nvSpPr>
        <p:spPr>
          <a:xfrm>
            <a:off x="5029200" y="2029968"/>
            <a:ext cx="3840480" cy="219456"/>
          </a:xfrm>
          <a:prstGeom prst="rect">
            <a:avLst/>
          </a:prstGeom>
          <a:noFill/>
          <a:ln/>
        </p:spPr>
        <p:txBody>
          <a:bodyPr wrap="square" rtlCol="0" anchor="ctr"/>
          <a:lstStyle/>
          <a:p>
            <a:pPr marL="0" indent="0">
              <a:buNone/>
            </a:pPr>
            <a:r>
              <a:rPr lang="en-US" sz="1050" dirty="0">
                <a:solidFill>
                  <a:srgbClr val="0A1628"/>
                </a:solidFill>
              </a:rPr>
              <a:t>Spectral Centroid Proxy</a:t>
            </a:r>
            <a:endParaRPr lang="en-US" sz="1050" dirty="0"/>
          </a:p>
        </p:txBody>
      </p:sp>
      <p:sp>
        <p:nvSpPr>
          <p:cNvPr id="36" name="Shape 34"/>
          <p:cNvSpPr/>
          <p:nvPr/>
        </p:nvSpPr>
        <p:spPr>
          <a:xfrm>
            <a:off x="4828032" y="2404872"/>
            <a:ext cx="128016" cy="128016"/>
          </a:xfrm>
          <a:prstGeom prst="ellipse">
            <a:avLst/>
          </a:prstGeom>
          <a:solidFill>
            <a:srgbClr val="FF6F00"/>
          </a:solidFill>
          <a:ln w="12700">
            <a:solidFill>
              <a:srgbClr val="FF6F00"/>
            </a:solidFill>
            <a:prstDash val="solid"/>
          </a:ln>
        </p:spPr>
      </p:sp>
      <p:sp>
        <p:nvSpPr>
          <p:cNvPr id="37" name="Text 35"/>
          <p:cNvSpPr/>
          <p:nvPr/>
        </p:nvSpPr>
        <p:spPr>
          <a:xfrm>
            <a:off x="5029200" y="2377440"/>
            <a:ext cx="3840480" cy="219456"/>
          </a:xfrm>
          <a:prstGeom prst="rect">
            <a:avLst/>
          </a:prstGeom>
          <a:noFill/>
          <a:ln/>
        </p:spPr>
        <p:txBody>
          <a:bodyPr wrap="square" rtlCol="0" anchor="ctr"/>
          <a:lstStyle/>
          <a:p>
            <a:pPr marL="0" indent="0">
              <a:buNone/>
            </a:pPr>
            <a:r>
              <a:rPr lang="en-US" sz="1050" dirty="0">
                <a:solidFill>
                  <a:srgbClr val="0A1628"/>
                </a:solidFill>
              </a:rPr>
              <a:t>Frequency Variance</a:t>
            </a:r>
            <a:endParaRPr lang="en-US" sz="1050" dirty="0"/>
          </a:p>
        </p:txBody>
      </p:sp>
      <p:sp>
        <p:nvSpPr>
          <p:cNvPr id="38" name="Shape 36"/>
          <p:cNvSpPr/>
          <p:nvPr/>
        </p:nvSpPr>
        <p:spPr>
          <a:xfrm>
            <a:off x="4828032" y="2752344"/>
            <a:ext cx="128016" cy="128016"/>
          </a:xfrm>
          <a:prstGeom prst="ellipse">
            <a:avLst/>
          </a:prstGeom>
          <a:solidFill>
            <a:srgbClr val="FF6F00"/>
          </a:solidFill>
          <a:ln w="12700">
            <a:solidFill>
              <a:srgbClr val="FF6F00"/>
            </a:solidFill>
            <a:prstDash val="solid"/>
          </a:ln>
        </p:spPr>
      </p:sp>
      <p:sp>
        <p:nvSpPr>
          <p:cNvPr id="39" name="Text 37"/>
          <p:cNvSpPr/>
          <p:nvPr/>
        </p:nvSpPr>
        <p:spPr>
          <a:xfrm>
            <a:off x="5029200" y="2724912"/>
            <a:ext cx="3840480" cy="219456"/>
          </a:xfrm>
          <a:prstGeom prst="rect">
            <a:avLst/>
          </a:prstGeom>
          <a:noFill/>
          <a:ln/>
        </p:spPr>
        <p:txBody>
          <a:bodyPr wrap="square" rtlCol="0" anchor="ctr"/>
          <a:lstStyle/>
          <a:p>
            <a:pPr marL="0" indent="0">
              <a:buNone/>
            </a:pPr>
            <a:r>
              <a:rPr lang="en-US" sz="1050" dirty="0">
                <a:solidFill>
                  <a:srgbClr val="0A1628"/>
                </a:solidFill>
              </a:rPr>
              <a:t>Frequency Variation Factor</a:t>
            </a:r>
            <a:endParaRPr lang="en-US" sz="1050" dirty="0"/>
          </a:p>
        </p:txBody>
      </p:sp>
      <p:sp>
        <p:nvSpPr>
          <p:cNvPr id="40" name="Shape 38"/>
          <p:cNvSpPr/>
          <p:nvPr/>
        </p:nvSpPr>
        <p:spPr>
          <a:xfrm>
            <a:off x="4773168" y="3291840"/>
            <a:ext cx="4160520" cy="1664208"/>
          </a:xfrm>
          <a:prstGeom prst="rect">
            <a:avLst/>
          </a:prstGeom>
          <a:solidFill>
            <a:srgbClr val="0A1628"/>
          </a:solidFill>
          <a:ln w="12700">
            <a:solidFill>
              <a:srgbClr val="0A1628"/>
            </a:solidFill>
            <a:prstDash val="solid"/>
          </a:ln>
        </p:spPr>
      </p:sp>
      <p:sp>
        <p:nvSpPr>
          <p:cNvPr id="41" name="Text 39"/>
          <p:cNvSpPr/>
          <p:nvPr/>
        </p:nvSpPr>
        <p:spPr>
          <a:xfrm>
            <a:off x="4937760" y="3401568"/>
            <a:ext cx="3840480" cy="292608"/>
          </a:xfrm>
          <a:prstGeom prst="rect">
            <a:avLst/>
          </a:prstGeom>
          <a:noFill/>
          <a:ln/>
        </p:spPr>
        <p:txBody>
          <a:bodyPr wrap="square" rtlCol="0" anchor="ctr"/>
          <a:lstStyle/>
          <a:p>
            <a:pPr marL="0" indent="0">
              <a:buNone/>
            </a:pPr>
            <a:r>
              <a:rPr lang="en-US" sz="1000" b="1" kern="0" spc="150" dirty="0">
                <a:solidFill>
                  <a:srgbClr val="00BCD4"/>
                </a:solidFill>
              </a:rPr>
              <a:t>DATASET SUMMARY</a:t>
            </a:r>
            <a:endParaRPr lang="en-US" sz="1000" dirty="0"/>
          </a:p>
        </p:txBody>
      </p:sp>
      <p:sp>
        <p:nvSpPr>
          <p:cNvPr id="42" name="Text 40"/>
          <p:cNvSpPr/>
          <p:nvPr/>
        </p:nvSpPr>
        <p:spPr>
          <a:xfrm>
            <a:off x="4892040" y="3767328"/>
            <a:ext cx="1920240" cy="411480"/>
          </a:xfrm>
          <a:prstGeom prst="rect">
            <a:avLst/>
          </a:prstGeom>
          <a:noFill/>
          <a:ln/>
        </p:spPr>
        <p:txBody>
          <a:bodyPr wrap="square" rtlCol="0" anchor="ctr"/>
          <a:lstStyle/>
          <a:p>
            <a:pPr marL="0" indent="0">
              <a:buNone/>
            </a:pPr>
            <a:r>
              <a:rPr lang="en-US" sz="2600" b="1" dirty="0">
                <a:solidFill>
                  <a:srgbClr val="FF6F00"/>
                </a:solidFill>
              </a:rPr>
              <a:t>9,736</a:t>
            </a:r>
            <a:endParaRPr lang="en-US" sz="2600" dirty="0"/>
          </a:p>
        </p:txBody>
      </p:sp>
      <p:sp>
        <p:nvSpPr>
          <p:cNvPr id="43" name="Text 41"/>
          <p:cNvSpPr/>
          <p:nvPr/>
        </p:nvSpPr>
        <p:spPr>
          <a:xfrm>
            <a:off x="4892040" y="4151376"/>
            <a:ext cx="1920240" cy="256032"/>
          </a:xfrm>
          <a:prstGeom prst="rect">
            <a:avLst/>
          </a:prstGeom>
          <a:noFill/>
          <a:ln/>
        </p:spPr>
        <p:txBody>
          <a:bodyPr wrap="square" rtlCol="0" anchor="ctr"/>
          <a:lstStyle/>
          <a:p>
            <a:pPr marL="0" indent="0">
              <a:buNone/>
            </a:pPr>
            <a:r>
              <a:rPr lang="en-US" sz="950" dirty="0">
                <a:solidFill>
                  <a:srgbClr val="8ECAE6"/>
                </a:solidFill>
              </a:rPr>
              <a:t>labeled windows</a:t>
            </a:r>
            <a:endParaRPr lang="en-US" sz="950" dirty="0"/>
          </a:p>
        </p:txBody>
      </p:sp>
      <p:sp>
        <p:nvSpPr>
          <p:cNvPr id="44" name="Text 42"/>
          <p:cNvSpPr/>
          <p:nvPr/>
        </p:nvSpPr>
        <p:spPr>
          <a:xfrm>
            <a:off x="6922008" y="3767328"/>
            <a:ext cx="1920240" cy="411480"/>
          </a:xfrm>
          <a:prstGeom prst="rect">
            <a:avLst/>
          </a:prstGeom>
          <a:noFill/>
          <a:ln/>
        </p:spPr>
        <p:txBody>
          <a:bodyPr wrap="square" rtlCol="0" anchor="ctr"/>
          <a:lstStyle/>
          <a:p>
            <a:pPr marL="0" indent="0">
              <a:buNone/>
            </a:pPr>
            <a:r>
              <a:rPr lang="en-US" sz="2600" b="1" dirty="0">
                <a:solidFill>
                  <a:srgbClr val="FF6F00"/>
                </a:solidFill>
              </a:rPr>
              <a:t>25</a:t>
            </a:r>
            <a:endParaRPr lang="en-US" sz="2600" dirty="0"/>
          </a:p>
        </p:txBody>
      </p:sp>
      <p:sp>
        <p:nvSpPr>
          <p:cNvPr id="45" name="Text 43"/>
          <p:cNvSpPr/>
          <p:nvPr/>
        </p:nvSpPr>
        <p:spPr>
          <a:xfrm>
            <a:off x="6922008" y="4151376"/>
            <a:ext cx="1920240" cy="256032"/>
          </a:xfrm>
          <a:prstGeom prst="rect">
            <a:avLst/>
          </a:prstGeom>
          <a:noFill/>
          <a:ln/>
        </p:spPr>
        <p:txBody>
          <a:bodyPr wrap="square" rtlCol="0" anchor="ctr"/>
          <a:lstStyle/>
          <a:p>
            <a:pPr marL="0" indent="0">
              <a:buNone/>
            </a:pPr>
            <a:r>
              <a:rPr lang="en-US" sz="950" dirty="0">
                <a:solidFill>
                  <a:srgbClr val="8ECAE6"/>
                </a:solidFill>
              </a:rPr>
              <a:t>engineered features</a:t>
            </a:r>
            <a:endParaRPr lang="en-US" sz="950" dirty="0"/>
          </a:p>
        </p:txBody>
      </p:sp>
      <p:sp>
        <p:nvSpPr>
          <p:cNvPr id="46" name="Text 44"/>
          <p:cNvSpPr/>
          <p:nvPr/>
        </p:nvSpPr>
        <p:spPr>
          <a:xfrm>
            <a:off x="4892040" y="4590288"/>
            <a:ext cx="1920240" cy="411480"/>
          </a:xfrm>
          <a:prstGeom prst="rect">
            <a:avLst/>
          </a:prstGeom>
          <a:noFill/>
          <a:ln/>
        </p:spPr>
        <p:txBody>
          <a:bodyPr wrap="square" rtlCol="0" anchor="ctr"/>
          <a:lstStyle/>
          <a:p>
            <a:pPr marL="0" indent="0">
              <a:buNone/>
            </a:pPr>
            <a:r>
              <a:rPr lang="en-US" sz="2600" b="1" dirty="0">
                <a:solidFill>
                  <a:srgbClr val="FF6F00"/>
                </a:solidFill>
              </a:rPr>
              <a:t>4</a:t>
            </a:r>
            <a:endParaRPr lang="en-US" sz="2600" dirty="0"/>
          </a:p>
        </p:txBody>
      </p:sp>
      <p:sp>
        <p:nvSpPr>
          <p:cNvPr id="47" name="Text 45"/>
          <p:cNvSpPr/>
          <p:nvPr/>
        </p:nvSpPr>
        <p:spPr>
          <a:xfrm>
            <a:off x="4892040" y="4974336"/>
            <a:ext cx="1920240" cy="256032"/>
          </a:xfrm>
          <a:prstGeom prst="rect">
            <a:avLst/>
          </a:prstGeom>
          <a:noFill/>
          <a:ln/>
        </p:spPr>
        <p:txBody>
          <a:bodyPr wrap="square" rtlCol="0" anchor="ctr"/>
          <a:lstStyle/>
          <a:p>
            <a:pPr marL="0" indent="0">
              <a:buNone/>
            </a:pPr>
            <a:r>
              <a:rPr lang="en-US" sz="950" dirty="0">
                <a:solidFill>
                  <a:srgbClr val="8ECAE6"/>
                </a:solidFill>
              </a:rPr>
              <a:t>bearing conditions</a:t>
            </a:r>
            <a:endParaRPr lang="en-US" sz="950" dirty="0"/>
          </a:p>
        </p:txBody>
      </p:sp>
      <p:sp>
        <p:nvSpPr>
          <p:cNvPr id="48" name="Text 46"/>
          <p:cNvSpPr/>
          <p:nvPr/>
        </p:nvSpPr>
        <p:spPr>
          <a:xfrm>
            <a:off x="6922008" y="4590288"/>
            <a:ext cx="1920240" cy="411480"/>
          </a:xfrm>
          <a:prstGeom prst="rect">
            <a:avLst/>
          </a:prstGeom>
          <a:noFill/>
          <a:ln/>
        </p:spPr>
        <p:txBody>
          <a:bodyPr wrap="square" rtlCol="0" anchor="ctr"/>
          <a:lstStyle/>
          <a:p>
            <a:pPr marL="0" indent="0">
              <a:buNone/>
            </a:pPr>
            <a:r>
              <a:rPr lang="en-US" sz="2600" b="1" dirty="0">
                <a:solidFill>
                  <a:srgbClr val="FF6F00"/>
                </a:solidFill>
              </a:rPr>
              <a:t>48 kHz</a:t>
            </a:r>
            <a:endParaRPr lang="en-US" sz="2600" dirty="0"/>
          </a:p>
        </p:txBody>
      </p:sp>
      <p:sp>
        <p:nvSpPr>
          <p:cNvPr id="49" name="Text 47"/>
          <p:cNvSpPr/>
          <p:nvPr/>
        </p:nvSpPr>
        <p:spPr>
          <a:xfrm>
            <a:off x="6922008" y="4974336"/>
            <a:ext cx="1920240" cy="256032"/>
          </a:xfrm>
          <a:prstGeom prst="rect">
            <a:avLst/>
          </a:prstGeom>
          <a:noFill/>
          <a:ln/>
        </p:spPr>
        <p:txBody>
          <a:bodyPr wrap="square" rtlCol="0" anchor="ctr"/>
          <a:lstStyle/>
          <a:p>
            <a:pPr marL="0" indent="0">
              <a:buNone/>
            </a:pPr>
            <a:r>
              <a:rPr lang="en-US" sz="950" dirty="0">
                <a:solidFill>
                  <a:srgbClr val="8ECAE6"/>
                </a:solidFill>
              </a:rPr>
              <a:t>sampling rate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RESULTS: Model Performance</a:t>
            </a:r>
            <a:endParaRPr lang="en-US" sz="2800" dirty="0"/>
          </a:p>
        </p:txBody>
      </p:sp>
      <p:sp>
        <p:nvSpPr>
          <p:cNvPr id="5" name="Shape 3"/>
          <p:cNvSpPr/>
          <p:nvPr/>
        </p:nvSpPr>
        <p:spPr>
          <a:xfrm>
            <a:off x="274320" y="1188720"/>
            <a:ext cx="4160520" cy="14630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6" name="Shape 4"/>
          <p:cNvSpPr/>
          <p:nvPr/>
        </p:nvSpPr>
        <p:spPr>
          <a:xfrm>
            <a:off x="274320" y="1188720"/>
            <a:ext cx="4160520" cy="73152"/>
          </a:xfrm>
          <a:prstGeom prst="rect">
            <a:avLst/>
          </a:prstGeom>
          <a:solidFill>
            <a:srgbClr val="00897B"/>
          </a:solidFill>
          <a:ln w="12700">
            <a:solidFill>
              <a:srgbClr val="00897B"/>
            </a:solidFill>
            <a:prstDash val="solid"/>
          </a:ln>
        </p:spPr>
      </p:sp>
      <p:sp>
        <p:nvSpPr>
          <p:cNvPr id="7" name="Text 5"/>
          <p:cNvSpPr/>
          <p:nvPr/>
        </p:nvSpPr>
        <p:spPr>
          <a:xfrm>
            <a:off x="457200" y="1371600"/>
            <a:ext cx="3794760" cy="658368"/>
          </a:xfrm>
          <a:prstGeom prst="rect">
            <a:avLst/>
          </a:prstGeom>
          <a:noFill/>
          <a:ln/>
        </p:spPr>
        <p:txBody>
          <a:bodyPr wrap="square" rtlCol="0" anchor="ctr"/>
          <a:lstStyle/>
          <a:p>
            <a:pPr marL="0" indent="0" algn="ctr">
              <a:buNone/>
            </a:pPr>
            <a:r>
              <a:rPr lang="en-US" sz="4800" b="1" dirty="0">
                <a:solidFill>
                  <a:srgbClr val="00897B"/>
                </a:solidFill>
                <a:latin typeface="Calibri" pitchFamily="34" charset="0"/>
                <a:ea typeface="Calibri" pitchFamily="34" charset="-122"/>
                <a:cs typeface="Calibri" pitchFamily="34" charset="-120"/>
              </a:rPr>
              <a:t>97.59%</a:t>
            </a:r>
            <a:endParaRPr lang="en-US" sz="4800" dirty="0"/>
          </a:p>
        </p:txBody>
      </p:sp>
      <p:sp>
        <p:nvSpPr>
          <p:cNvPr id="8" name="Text 6"/>
          <p:cNvSpPr/>
          <p:nvPr/>
        </p:nvSpPr>
        <p:spPr>
          <a:xfrm>
            <a:off x="457200" y="1993392"/>
            <a:ext cx="3794760" cy="292608"/>
          </a:xfrm>
          <a:prstGeom prst="rect">
            <a:avLst/>
          </a:prstGeom>
          <a:noFill/>
          <a:ln/>
        </p:spPr>
        <p:txBody>
          <a:bodyPr wrap="square" rtlCol="0" anchor="ctr"/>
          <a:lstStyle/>
          <a:p>
            <a:pPr marL="0" indent="0" algn="ctr">
              <a:buNone/>
            </a:pPr>
            <a:r>
              <a:rPr lang="en-US" sz="1200" b="1" dirty="0">
                <a:solidFill>
                  <a:srgbClr val="37474F"/>
                </a:solidFill>
              </a:rPr>
              <a:t>Random Forest Accuracy</a:t>
            </a:r>
            <a:endParaRPr lang="en-US" sz="1200" dirty="0"/>
          </a:p>
        </p:txBody>
      </p:sp>
      <p:sp>
        <p:nvSpPr>
          <p:cNvPr id="9" name="Shape 7"/>
          <p:cNvSpPr/>
          <p:nvPr/>
        </p:nvSpPr>
        <p:spPr>
          <a:xfrm>
            <a:off x="1463040" y="2286000"/>
            <a:ext cx="1783080" cy="274320"/>
          </a:xfrm>
          <a:prstGeom prst="roundRect">
            <a:avLst>
              <a:gd name="adj" fmla="val 20000"/>
            </a:avLst>
          </a:prstGeom>
          <a:solidFill>
            <a:srgbClr val="00897B"/>
          </a:solidFill>
          <a:ln w="12700">
            <a:solidFill>
              <a:srgbClr val="00897B"/>
            </a:solidFill>
            <a:prstDash val="solid"/>
          </a:ln>
        </p:spPr>
      </p:sp>
      <p:sp>
        <p:nvSpPr>
          <p:cNvPr id="10" name="Text 8"/>
          <p:cNvSpPr/>
          <p:nvPr/>
        </p:nvSpPr>
        <p:spPr>
          <a:xfrm>
            <a:off x="1463040" y="2286000"/>
            <a:ext cx="1783080" cy="274320"/>
          </a:xfrm>
          <a:prstGeom prst="rect">
            <a:avLst/>
          </a:prstGeom>
          <a:noFill/>
          <a:ln/>
        </p:spPr>
        <p:txBody>
          <a:bodyPr wrap="square" rtlCol="0" anchor="ctr"/>
          <a:lstStyle/>
          <a:p>
            <a:pPr marL="0" indent="0" algn="ctr">
              <a:buNone/>
            </a:pPr>
            <a:r>
              <a:rPr lang="en-US" sz="900" b="1" dirty="0">
                <a:solidFill>
                  <a:srgbClr val="FFFFFF"/>
                </a:solidFill>
              </a:rPr>
              <a:t>Best Model</a:t>
            </a:r>
            <a:endParaRPr lang="en-US" sz="900" dirty="0"/>
          </a:p>
        </p:txBody>
      </p:sp>
      <p:sp>
        <p:nvSpPr>
          <p:cNvPr id="11" name="Shape 9"/>
          <p:cNvSpPr/>
          <p:nvPr/>
        </p:nvSpPr>
        <p:spPr>
          <a:xfrm>
            <a:off x="4663440" y="1188720"/>
            <a:ext cx="4160520" cy="14630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12" name="Shape 10"/>
          <p:cNvSpPr/>
          <p:nvPr/>
        </p:nvSpPr>
        <p:spPr>
          <a:xfrm>
            <a:off x="4663440" y="1188720"/>
            <a:ext cx="4160520" cy="73152"/>
          </a:xfrm>
          <a:prstGeom prst="rect">
            <a:avLst/>
          </a:prstGeom>
          <a:solidFill>
            <a:srgbClr val="1565C0"/>
          </a:solidFill>
          <a:ln w="12700">
            <a:solidFill>
              <a:srgbClr val="1565C0"/>
            </a:solidFill>
            <a:prstDash val="solid"/>
          </a:ln>
        </p:spPr>
      </p:sp>
      <p:sp>
        <p:nvSpPr>
          <p:cNvPr id="13" name="Text 11"/>
          <p:cNvSpPr/>
          <p:nvPr/>
        </p:nvSpPr>
        <p:spPr>
          <a:xfrm>
            <a:off x="4846320" y="1371600"/>
            <a:ext cx="3794760" cy="658368"/>
          </a:xfrm>
          <a:prstGeom prst="rect">
            <a:avLst/>
          </a:prstGeom>
          <a:noFill/>
          <a:ln/>
        </p:spPr>
        <p:txBody>
          <a:bodyPr wrap="square" rtlCol="0" anchor="ctr"/>
          <a:lstStyle/>
          <a:p>
            <a:pPr marL="0" indent="0" algn="ctr">
              <a:buNone/>
            </a:pPr>
            <a:r>
              <a:rPr lang="en-US" sz="4800" b="1" dirty="0">
                <a:solidFill>
                  <a:srgbClr val="1565C0"/>
                </a:solidFill>
                <a:latin typeface="Calibri" pitchFamily="34" charset="0"/>
                <a:ea typeface="Calibri" pitchFamily="34" charset="-122"/>
                <a:cs typeface="Calibri" pitchFamily="34" charset="-120"/>
              </a:rPr>
              <a:t>97.48%</a:t>
            </a:r>
            <a:endParaRPr lang="en-US" sz="4800" dirty="0"/>
          </a:p>
        </p:txBody>
      </p:sp>
      <p:sp>
        <p:nvSpPr>
          <p:cNvPr id="14" name="Text 12"/>
          <p:cNvSpPr/>
          <p:nvPr/>
        </p:nvSpPr>
        <p:spPr>
          <a:xfrm>
            <a:off x="4846320" y="1993392"/>
            <a:ext cx="3794760" cy="292608"/>
          </a:xfrm>
          <a:prstGeom prst="rect">
            <a:avLst/>
          </a:prstGeom>
          <a:noFill/>
          <a:ln/>
        </p:spPr>
        <p:txBody>
          <a:bodyPr wrap="square" rtlCol="0" anchor="ctr"/>
          <a:lstStyle/>
          <a:p>
            <a:pPr marL="0" indent="0" algn="ctr">
              <a:buNone/>
            </a:pPr>
            <a:r>
              <a:rPr lang="en-US" sz="1200" b="1" dirty="0">
                <a:solidFill>
                  <a:srgbClr val="37474F"/>
                </a:solidFill>
              </a:rPr>
              <a:t>SVM (RBF) Accuracy</a:t>
            </a:r>
            <a:endParaRPr lang="en-US" sz="1200" dirty="0"/>
          </a:p>
        </p:txBody>
      </p:sp>
      <p:sp>
        <p:nvSpPr>
          <p:cNvPr id="15" name="Shape 13"/>
          <p:cNvSpPr/>
          <p:nvPr/>
        </p:nvSpPr>
        <p:spPr>
          <a:xfrm>
            <a:off x="5852160" y="2286000"/>
            <a:ext cx="1783080" cy="274320"/>
          </a:xfrm>
          <a:prstGeom prst="roundRect">
            <a:avLst>
              <a:gd name="adj" fmla="val 20000"/>
            </a:avLst>
          </a:prstGeom>
          <a:solidFill>
            <a:srgbClr val="1565C0"/>
          </a:solidFill>
          <a:ln w="12700">
            <a:solidFill>
              <a:srgbClr val="1565C0"/>
            </a:solidFill>
            <a:prstDash val="solid"/>
          </a:ln>
        </p:spPr>
      </p:sp>
      <p:sp>
        <p:nvSpPr>
          <p:cNvPr id="16" name="Text 14"/>
          <p:cNvSpPr/>
          <p:nvPr/>
        </p:nvSpPr>
        <p:spPr>
          <a:xfrm>
            <a:off x="5852160" y="2286000"/>
            <a:ext cx="1783080" cy="274320"/>
          </a:xfrm>
          <a:prstGeom prst="rect">
            <a:avLst/>
          </a:prstGeom>
          <a:noFill/>
          <a:ln/>
        </p:spPr>
        <p:txBody>
          <a:bodyPr wrap="square" rtlCol="0" anchor="ctr"/>
          <a:lstStyle/>
          <a:p>
            <a:pPr marL="0" indent="0" algn="ctr">
              <a:buNone/>
            </a:pPr>
            <a:r>
              <a:rPr lang="en-US" sz="900" b="1" dirty="0">
                <a:solidFill>
                  <a:srgbClr val="FFFFFF"/>
                </a:solidFill>
              </a:rPr>
              <a:t>Strong Baseline</a:t>
            </a:r>
            <a:endParaRPr lang="en-US" sz="900" dirty="0"/>
          </a:p>
        </p:txBody>
      </p:sp>
      <p:sp>
        <p:nvSpPr>
          <p:cNvPr id="17" name="Shape 15"/>
          <p:cNvSpPr/>
          <p:nvPr/>
        </p:nvSpPr>
        <p:spPr>
          <a:xfrm>
            <a:off x="274320" y="2743200"/>
            <a:ext cx="8595360" cy="221284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18" name="Shape 16"/>
          <p:cNvSpPr/>
          <p:nvPr/>
        </p:nvSpPr>
        <p:spPr>
          <a:xfrm>
            <a:off x="274320" y="2743200"/>
            <a:ext cx="8595360" cy="411480"/>
          </a:xfrm>
          <a:prstGeom prst="rect">
            <a:avLst/>
          </a:prstGeom>
          <a:solidFill>
            <a:srgbClr val="0A1628"/>
          </a:solidFill>
          <a:ln w="12700">
            <a:solidFill>
              <a:srgbClr val="0A1628"/>
            </a:solidFill>
            <a:prstDash val="solid"/>
          </a:ln>
        </p:spPr>
      </p:sp>
      <p:sp>
        <p:nvSpPr>
          <p:cNvPr id="19" name="Text 17"/>
          <p:cNvSpPr/>
          <p:nvPr/>
        </p:nvSpPr>
        <p:spPr>
          <a:xfrm>
            <a:off x="365760" y="2761488"/>
            <a:ext cx="2011680" cy="365760"/>
          </a:xfrm>
          <a:prstGeom prst="rect">
            <a:avLst/>
          </a:prstGeom>
          <a:noFill/>
          <a:ln/>
        </p:spPr>
        <p:txBody>
          <a:bodyPr wrap="square" rtlCol="0" anchor="ctr"/>
          <a:lstStyle/>
          <a:p>
            <a:pPr marL="0" indent="0" algn="l">
              <a:buNone/>
            </a:pPr>
            <a:r>
              <a:rPr lang="en-US" sz="1100" b="1" dirty="0">
                <a:solidFill>
                  <a:srgbClr val="FFFFFF"/>
                </a:solidFill>
              </a:rPr>
              <a:t>Model</a:t>
            </a:r>
            <a:endParaRPr lang="en-US" sz="1100" dirty="0"/>
          </a:p>
        </p:txBody>
      </p:sp>
      <p:sp>
        <p:nvSpPr>
          <p:cNvPr id="20" name="Text 18"/>
          <p:cNvSpPr/>
          <p:nvPr/>
        </p:nvSpPr>
        <p:spPr>
          <a:xfrm>
            <a:off x="2377440" y="2761488"/>
            <a:ext cx="1645920" cy="365760"/>
          </a:xfrm>
          <a:prstGeom prst="rect">
            <a:avLst/>
          </a:prstGeom>
          <a:noFill/>
          <a:ln/>
        </p:spPr>
        <p:txBody>
          <a:bodyPr wrap="square" rtlCol="0" anchor="ctr"/>
          <a:lstStyle/>
          <a:p>
            <a:pPr marL="0" indent="0" algn="ctr">
              <a:buNone/>
            </a:pPr>
            <a:r>
              <a:rPr lang="en-US" sz="1100" b="1" dirty="0">
                <a:solidFill>
                  <a:srgbClr val="FFFFFF"/>
                </a:solidFill>
              </a:rPr>
              <a:t>Accuracy (%)</a:t>
            </a:r>
            <a:endParaRPr lang="en-US" sz="1100" dirty="0"/>
          </a:p>
        </p:txBody>
      </p:sp>
      <p:sp>
        <p:nvSpPr>
          <p:cNvPr id="21" name="Text 19"/>
          <p:cNvSpPr/>
          <p:nvPr/>
        </p:nvSpPr>
        <p:spPr>
          <a:xfrm>
            <a:off x="4023360" y="2761488"/>
            <a:ext cx="1645920" cy="365760"/>
          </a:xfrm>
          <a:prstGeom prst="rect">
            <a:avLst/>
          </a:prstGeom>
          <a:noFill/>
          <a:ln/>
        </p:spPr>
        <p:txBody>
          <a:bodyPr wrap="square" rtlCol="0" anchor="ctr"/>
          <a:lstStyle/>
          <a:p>
            <a:pPr marL="0" indent="0" algn="ctr">
              <a:buNone/>
            </a:pPr>
            <a:r>
              <a:rPr lang="en-US" sz="1100" b="1" dirty="0">
                <a:solidFill>
                  <a:srgbClr val="FFFFFF"/>
                </a:solidFill>
              </a:rPr>
              <a:t>Precision (%)</a:t>
            </a:r>
            <a:endParaRPr lang="en-US" sz="1100" dirty="0"/>
          </a:p>
        </p:txBody>
      </p:sp>
      <p:sp>
        <p:nvSpPr>
          <p:cNvPr id="22" name="Text 20"/>
          <p:cNvSpPr/>
          <p:nvPr/>
        </p:nvSpPr>
        <p:spPr>
          <a:xfrm>
            <a:off x="5669280" y="2761488"/>
            <a:ext cx="1645920" cy="365760"/>
          </a:xfrm>
          <a:prstGeom prst="rect">
            <a:avLst/>
          </a:prstGeom>
          <a:noFill/>
          <a:ln/>
        </p:spPr>
        <p:txBody>
          <a:bodyPr wrap="square" rtlCol="0" anchor="ctr"/>
          <a:lstStyle/>
          <a:p>
            <a:pPr marL="0" indent="0" algn="ctr">
              <a:buNone/>
            </a:pPr>
            <a:r>
              <a:rPr lang="en-US" sz="1100" b="1" dirty="0">
                <a:solidFill>
                  <a:srgbClr val="FFFFFF"/>
                </a:solidFill>
              </a:rPr>
              <a:t>Recall (%)</a:t>
            </a:r>
            <a:endParaRPr lang="en-US" sz="1100" dirty="0"/>
          </a:p>
        </p:txBody>
      </p:sp>
      <p:sp>
        <p:nvSpPr>
          <p:cNvPr id="23" name="Text 21"/>
          <p:cNvSpPr/>
          <p:nvPr/>
        </p:nvSpPr>
        <p:spPr>
          <a:xfrm>
            <a:off x="7315200" y="2761488"/>
            <a:ext cx="1645920" cy="365760"/>
          </a:xfrm>
          <a:prstGeom prst="rect">
            <a:avLst/>
          </a:prstGeom>
          <a:noFill/>
          <a:ln/>
        </p:spPr>
        <p:txBody>
          <a:bodyPr wrap="square" rtlCol="0" anchor="ctr"/>
          <a:lstStyle/>
          <a:p>
            <a:pPr marL="0" indent="0" algn="ctr">
              <a:buNone/>
            </a:pPr>
            <a:r>
              <a:rPr lang="en-US" sz="1100" b="1" dirty="0">
                <a:solidFill>
                  <a:srgbClr val="FFFFFF"/>
                </a:solidFill>
              </a:rPr>
              <a:t>Weighted F1 (%)</a:t>
            </a:r>
            <a:endParaRPr lang="en-US" sz="1100" dirty="0"/>
          </a:p>
        </p:txBody>
      </p:sp>
      <p:sp>
        <p:nvSpPr>
          <p:cNvPr id="24" name="Shape 22"/>
          <p:cNvSpPr/>
          <p:nvPr/>
        </p:nvSpPr>
        <p:spPr>
          <a:xfrm>
            <a:off x="274320" y="3182112"/>
            <a:ext cx="8595360" cy="621792"/>
          </a:xfrm>
          <a:prstGeom prst="rect">
            <a:avLst/>
          </a:prstGeom>
          <a:solidFill>
            <a:srgbClr val="F0FFF4"/>
          </a:solidFill>
          <a:ln w="12700">
            <a:solidFill>
              <a:srgbClr val="E3EAF5"/>
            </a:solidFill>
            <a:prstDash val="solid"/>
          </a:ln>
        </p:spPr>
      </p:sp>
      <p:sp>
        <p:nvSpPr>
          <p:cNvPr id="25" name="Shape 23"/>
          <p:cNvSpPr/>
          <p:nvPr/>
        </p:nvSpPr>
        <p:spPr>
          <a:xfrm>
            <a:off x="274320" y="3182112"/>
            <a:ext cx="54864" cy="621792"/>
          </a:xfrm>
          <a:prstGeom prst="rect">
            <a:avLst/>
          </a:prstGeom>
          <a:solidFill>
            <a:srgbClr val="00897B"/>
          </a:solidFill>
          <a:ln w="12700">
            <a:solidFill>
              <a:srgbClr val="00897B"/>
            </a:solidFill>
            <a:prstDash val="solid"/>
          </a:ln>
        </p:spPr>
      </p:sp>
      <p:sp>
        <p:nvSpPr>
          <p:cNvPr id="26" name="Text 24"/>
          <p:cNvSpPr/>
          <p:nvPr/>
        </p:nvSpPr>
        <p:spPr>
          <a:xfrm>
            <a:off x="365760" y="3291840"/>
            <a:ext cx="1920240" cy="402336"/>
          </a:xfrm>
          <a:prstGeom prst="rect">
            <a:avLst/>
          </a:prstGeom>
          <a:noFill/>
          <a:ln/>
        </p:spPr>
        <p:txBody>
          <a:bodyPr wrap="square" rtlCol="0" anchor="ctr"/>
          <a:lstStyle/>
          <a:p>
            <a:pPr marL="0" indent="0">
              <a:buNone/>
            </a:pPr>
            <a:r>
              <a:rPr lang="en-US" sz="1150" b="1" dirty="0">
                <a:solidFill>
                  <a:srgbClr val="00897B"/>
                </a:solidFill>
              </a:rPr>
              <a:t>🏆  Random Forest</a:t>
            </a:r>
            <a:endParaRPr lang="en-US" sz="1150" dirty="0"/>
          </a:p>
        </p:txBody>
      </p:sp>
      <p:sp>
        <p:nvSpPr>
          <p:cNvPr id="27" name="Text 25"/>
          <p:cNvSpPr/>
          <p:nvPr/>
        </p:nvSpPr>
        <p:spPr>
          <a:xfrm>
            <a:off x="237744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28" name="Text 26"/>
          <p:cNvSpPr/>
          <p:nvPr/>
        </p:nvSpPr>
        <p:spPr>
          <a:xfrm>
            <a:off x="4023360" y="3291840"/>
            <a:ext cx="1645920" cy="402336"/>
          </a:xfrm>
          <a:prstGeom prst="rect">
            <a:avLst/>
          </a:prstGeom>
          <a:noFill/>
          <a:ln/>
        </p:spPr>
        <p:txBody>
          <a:bodyPr wrap="square" rtlCol="0" anchor="ctr"/>
          <a:lstStyle/>
          <a:p>
            <a:pPr marL="0" indent="0" algn="ctr">
              <a:buNone/>
            </a:pPr>
            <a:r>
              <a:rPr lang="en-US" sz="1300" b="1" dirty="0">
                <a:solidFill>
                  <a:srgbClr val="00897B"/>
                </a:solidFill>
              </a:rPr>
              <a:t>97.62</a:t>
            </a:r>
            <a:endParaRPr lang="en-US" sz="1300" dirty="0"/>
          </a:p>
        </p:txBody>
      </p:sp>
      <p:sp>
        <p:nvSpPr>
          <p:cNvPr id="29" name="Text 27"/>
          <p:cNvSpPr/>
          <p:nvPr/>
        </p:nvSpPr>
        <p:spPr>
          <a:xfrm>
            <a:off x="566928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0" name="Text 28"/>
          <p:cNvSpPr/>
          <p:nvPr/>
        </p:nvSpPr>
        <p:spPr>
          <a:xfrm>
            <a:off x="731520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1" name="Shape 29"/>
          <p:cNvSpPr/>
          <p:nvPr/>
        </p:nvSpPr>
        <p:spPr>
          <a:xfrm>
            <a:off x="274320" y="3840480"/>
            <a:ext cx="8595360" cy="621792"/>
          </a:xfrm>
          <a:prstGeom prst="rect">
            <a:avLst/>
          </a:prstGeom>
          <a:solidFill>
            <a:srgbClr val="FAFAFA"/>
          </a:solidFill>
          <a:ln w="12700">
            <a:solidFill>
              <a:srgbClr val="E3EAF5"/>
            </a:solidFill>
            <a:prstDash val="solid"/>
          </a:ln>
        </p:spPr>
      </p:sp>
      <p:sp>
        <p:nvSpPr>
          <p:cNvPr id="32" name="Text 30"/>
          <p:cNvSpPr/>
          <p:nvPr/>
        </p:nvSpPr>
        <p:spPr>
          <a:xfrm>
            <a:off x="365760" y="3950208"/>
            <a:ext cx="1920240" cy="402336"/>
          </a:xfrm>
          <a:prstGeom prst="rect">
            <a:avLst/>
          </a:prstGeom>
          <a:noFill/>
          <a:ln/>
        </p:spPr>
        <p:txBody>
          <a:bodyPr wrap="square" rtlCol="0" anchor="ctr"/>
          <a:lstStyle/>
          <a:p>
            <a:pPr marL="0" indent="0">
              <a:buNone/>
            </a:pPr>
            <a:r>
              <a:rPr lang="en-US" sz="1150" dirty="0">
                <a:solidFill>
                  <a:srgbClr val="0A1628"/>
                </a:solidFill>
              </a:rPr>
              <a:t>SVM (RBF)</a:t>
            </a:r>
            <a:endParaRPr lang="en-US" sz="1150" dirty="0"/>
          </a:p>
        </p:txBody>
      </p:sp>
      <p:sp>
        <p:nvSpPr>
          <p:cNvPr id="33" name="Text 31"/>
          <p:cNvSpPr/>
          <p:nvPr/>
        </p:nvSpPr>
        <p:spPr>
          <a:xfrm>
            <a:off x="237744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4" name="Text 32"/>
          <p:cNvSpPr/>
          <p:nvPr/>
        </p:nvSpPr>
        <p:spPr>
          <a:xfrm>
            <a:off x="4023360" y="3950208"/>
            <a:ext cx="1645920" cy="402336"/>
          </a:xfrm>
          <a:prstGeom prst="rect">
            <a:avLst/>
          </a:prstGeom>
          <a:noFill/>
          <a:ln/>
        </p:spPr>
        <p:txBody>
          <a:bodyPr wrap="square" rtlCol="0" anchor="ctr"/>
          <a:lstStyle/>
          <a:p>
            <a:pPr marL="0" indent="0" algn="ctr">
              <a:buNone/>
            </a:pPr>
            <a:r>
              <a:rPr lang="en-US" sz="1300" dirty="0">
                <a:solidFill>
                  <a:srgbClr val="0A1628"/>
                </a:solidFill>
              </a:rPr>
              <a:t>97.50</a:t>
            </a:r>
            <a:endParaRPr lang="en-US" sz="1300" dirty="0"/>
          </a:p>
        </p:txBody>
      </p:sp>
      <p:sp>
        <p:nvSpPr>
          <p:cNvPr id="35" name="Text 33"/>
          <p:cNvSpPr/>
          <p:nvPr/>
        </p:nvSpPr>
        <p:spPr>
          <a:xfrm>
            <a:off x="566928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6" name="Text 34"/>
          <p:cNvSpPr/>
          <p:nvPr/>
        </p:nvSpPr>
        <p:spPr>
          <a:xfrm>
            <a:off x="7315200" y="3950208"/>
            <a:ext cx="1645920" cy="402336"/>
          </a:xfrm>
          <a:prstGeom prst="rect">
            <a:avLst/>
          </a:prstGeom>
          <a:noFill/>
          <a:ln/>
        </p:spPr>
        <p:txBody>
          <a:bodyPr wrap="square" rtlCol="0" anchor="ctr"/>
          <a:lstStyle/>
          <a:p>
            <a:pPr marL="0" indent="0" algn="ctr">
              <a:buNone/>
            </a:pPr>
            <a:r>
              <a:rPr lang="en-US" sz="1300" dirty="0">
                <a:solidFill>
                  <a:srgbClr val="0A1628"/>
                </a:solidFill>
              </a:rPr>
              <a:t>97.49</a:t>
            </a:r>
            <a:endParaRPr lang="en-US" sz="1300" dirty="0"/>
          </a:p>
        </p:txBody>
      </p:sp>
      <p:sp>
        <p:nvSpPr>
          <p:cNvPr id="37" name="Text 35"/>
          <p:cNvSpPr/>
          <p:nvPr/>
        </p:nvSpPr>
        <p:spPr>
          <a:xfrm>
            <a:off x="365760" y="4800600"/>
            <a:ext cx="8412480" cy="228600"/>
          </a:xfrm>
          <a:prstGeom prst="rect">
            <a:avLst/>
          </a:prstGeom>
          <a:noFill/>
          <a:ln/>
        </p:spPr>
        <p:txBody>
          <a:bodyPr wrap="square" rtlCol="0" anchor="ctr"/>
          <a:lstStyle/>
          <a:p>
            <a:pPr marL="0" indent="0" algn="ctr">
              <a:buNone/>
            </a:pPr>
            <a:r>
              <a:rPr lang="en-US" sz="850" i="1" dirty="0">
                <a:solidFill>
                  <a:srgbClr val="78909C"/>
                </a:solidFill>
              </a:rPr>
              <a:t>Metric: Accuracy &amp; Weighted F1-Score on held-out 20% test set  •  Stratified split  •  Random Forest selected as final deployment model</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RESULTS: Confusion Matrix &amp; Feature Importance</a:t>
            </a:r>
            <a:endParaRPr lang="en-US" sz="2400" dirty="0"/>
          </a:p>
        </p:txBody>
      </p:sp>
      <p:sp>
        <p:nvSpPr>
          <p:cNvPr id="5" name="Shape 3"/>
          <p:cNvSpPr/>
          <p:nvPr/>
        </p:nvSpPr>
        <p:spPr>
          <a:xfrm>
            <a:off x="128016" y="1064160"/>
            <a:ext cx="416052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6" name="Text 4"/>
          <p:cNvSpPr/>
          <p:nvPr/>
        </p:nvSpPr>
        <p:spPr>
          <a:xfrm>
            <a:off x="365760" y="1207008"/>
            <a:ext cx="3977640" cy="274320"/>
          </a:xfrm>
          <a:prstGeom prst="rect">
            <a:avLst/>
          </a:prstGeom>
          <a:noFill/>
          <a:ln/>
        </p:spPr>
        <p:txBody>
          <a:bodyPr wrap="square" rtlCol="0" anchor="ctr"/>
          <a:lstStyle/>
          <a:p>
            <a:pPr marL="0" indent="0">
              <a:buNone/>
            </a:pPr>
            <a:r>
              <a:rPr lang="en-US" sz="1000" b="1" kern="0" spc="50" dirty="0">
                <a:solidFill>
                  <a:srgbClr val="0A1628"/>
                </a:solidFill>
              </a:rPr>
              <a:t>CONFUSION MATRIX — Random Forest</a:t>
            </a:r>
            <a:endParaRPr lang="en-US" sz="1000" dirty="0"/>
          </a:p>
        </p:txBody>
      </p:sp>
      <p:sp>
        <p:nvSpPr>
          <p:cNvPr id="7" name="Text 5"/>
          <p:cNvSpPr/>
          <p:nvPr/>
        </p:nvSpPr>
        <p:spPr>
          <a:xfrm>
            <a:off x="347472" y="1719072"/>
            <a:ext cx="914400" cy="548640"/>
          </a:xfrm>
          <a:prstGeom prst="rect">
            <a:avLst/>
          </a:prstGeom>
          <a:noFill/>
          <a:ln/>
        </p:spPr>
        <p:txBody>
          <a:bodyPr wrap="square" rtlCol="0" anchor="ctr"/>
          <a:lstStyle/>
          <a:p>
            <a:pPr marL="0" indent="0" algn="r">
              <a:buNone/>
            </a:pPr>
            <a:r>
              <a:rPr lang="en-US" sz="800" dirty="0">
                <a:solidFill>
                  <a:srgbClr val="37474F"/>
                </a:solidFill>
              </a:rPr>
              <a:t>Ball Fault</a:t>
            </a:r>
            <a:endParaRPr lang="en-US" sz="800" dirty="0"/>
          </a:p>
        </p:txBody>
      </p:sp>
      <p:sp>
        <p:nvSpPr>
          <p:cNvPr id="8" name="Text 6"/>
          <p:cNvSpPr/>
          <p:nvPr/>
        </p:nvSpPr>
        <p:spPr>
          <a:xfrm>
            <a:off x="1298448" y="1581912"/>
            <a:ext cx="658368" cy="274320"/>
          </a:xfrm>
          <a:prstGeom prst="rect">
            <a:avLst/>
          </a:prstGeom>
          <a:noFill/>
          <a:ln/>
        </p:spPr>
        <p:txBody>
          <a:bodyPr wrap="square" rtlCol="0" anchor="ctr"/>
          <a:lstStyle/>
          <a:p>
            <a:pPr marL="0" indent="0" algn="ctr">
              <a:buNone/>
            </a:pPr>
            <a:r>
              <a:rPr lang="en-US" sz="750" dirty="0">
                <a:solidFill>
                  <a:srgbClr val="37474F"/>
                </a:solidFill>
              </a:rPr>
              <a:t>Ball Fault</a:t>
            </a:r>
            <a:endParaRPr lang="en-US" sz="750" dirty="0"/>
          </a:p>
        </p:txBody>
      </p:sp>
      <p:sp>
        <p:nvSpPr>
          <p:cNvPr id="9" name="Text 7"/>
          <p:cNvSpPr/>
          <p:nvPr/>
        </p:nvSpPr>
        <p:spPr>
          <a:xfrm>
            <a:off x="347472" y="2377440"/>
            <a:ext cx="914400" cy="548640"/>
          </a:xfrm>
          <a:prstGeom prst="rect">
            <a:avLst/>
          </a:prstGeom>
          <a:noFill/>
          <a:ln/>
        </p:spPr>
        <p:txBody>
          <a:bodyPr wrap="square" rtlCol="0" anchor="ctr"/>
          <a:lstStyle/>
          <a:p>
            <a:pPr marL="0" indent="0" algn="r">
              <a:buNone/>
            </a:pPr>
            <a:r>
              <a:rPr lang="en-US" sz="800" dirty="0">
                <a:solidFill>
                  <a:srgbClr val="37474F"/>
                </a:solidFill>
              </a:rPr>
              <a:t>Inner Race</a:t>
            </a:r>
            <a:endParaRPr lang="en-US" sz="800" dirty="0"/>
          </a:p>
        </p:txBody>
      </p:sp>
      <p:sp>
        <p:nvSpPr>
          <p:cNvPr id="10" name="Text 8"/>
          <p:cNvSpPr/>
          <p:nvPr/>
        </p:nvSpPr>
        <p:spPr>
          <a:xfrm>
            <a:off x="1956816" y="1581912"/>
            <a:ext cx="658368" cy="274320"/>
          </a:xfrm>
          <a:prstGeom prst="rect">
            <a:avLst/>
          </a:prstGeom>
          <a:noFill/>
          <a:ln/>
        </p:spPr>
        <p:txBody>
          <a:bodyPr wrap="square" rtlCol="0" anchor="ctr"/>
          <a:lstStyle/>
          <a:p>
            <a:pPr marL="0" indent="0" algn="ctr">
              <a:buNone/>
            </a:pPr>
            <a:r>
              <a:rPr lang="en-US" sz="750" dirty="0">
                <a:solidFill>
                  <a:srgbClr val="37474F"/>
                </a:solidFill>
              </a:rPr>
              <a:t>Inner Race</a:t>
            </a:r>
            <a:endParaRPr lang="en-US" sz="750" dirty="0"/>
          </a:p>
        </p:txBody>
      </p:sp>
      <p:sp>
        <p:nvSpPr>
          <p:cNvPr id="11" name="Text 9"/>
          <p:cNvSpPr/>
          <p:nvPr/>
        </p:nvSpPr>
        <p:spPr>
          <a:xfrm>
            <a:off x="347472" y="3035808"/>
            <a:ext cx="914400" cy="548640"/>
          </a:xfrm>
          <a:prstGeom prst="rect">
            <a:avLst/>
          </a:prstGeom>
          <a:noFill/>
          <a:ln/>
        </p:spPr>
        <p:txBody>
          <a:bodyPr wrap="square" rtlCol="0" anchor="ctr"/>
          <a:lstStyle/>
          <a:p>
            <a:pPr marL="0" indent="0" algn="r">
              <a:buNone/>
            </a:pPr>
            <a:r>
              <a:rPr lang="en-US" sz="800" dirty="0">
                <a:solidFill>
                  <a:srgbClr val="37474F"/>
                </a:solidFill>
              </a:rPr>
              <a:t>Normal</a:t>
            </a:r>
            <a:endParaRPr lang="en-US" sz="800" dirty="0"/>
          </a:p>
        </p:txBody>
      </p:sp>
      <p:sp>
        <p:nvSpPr>
          <p:cNvPr id="12" name="Text 10"/>
          <p:cNvSpPr/>
          <p:nvPr/>
        </p:nvSpPr>
        <p:spPr>
          <a:xfrm>
            <a:off x="2615184" y="1581912"/>
            <a:ext cx="658368" cy="274320"/>
          </a:xfrm>
          <a:prstGeom prst="rect">
            <a:avLst/>
          </a:prstGeom>
          <a:noFill/>
          <a:ln/>
        </p:spPr>
        <p:txBody>
          <a:bodyPr wrap="square" rtlCol="0" anchor="ctr"/>
          <a:lstStyle/>
          <a:p>
            <a:pPr marL="0" indent="0" algn="ctr">
              <a:buNone/>
            </a:pPr>
            <a:r>
              <a:rPr lang="en-US" sz="750" dirty="0">
                <a:solidFill>
                  <a:srgbClr val="37474F"/>
                </a:solidFill>
              </a:rPr>
              <a:t>Normal</a:t>
            </a:r>
            <a:endParaRPr lang="en-US" sz="750" dirty="0"/>
          </a:p>
        </p:txBody>
      </p:sp>
      <p:sp>
        <p:nvSpPr>
          <p:cNvPr id="13" name="Text 11"/>
          <p:cNvSpPr/>
          <p:nvPr/>
        </p:nvSpPr>
        <p:spPr>
          <a:xfrm>
            <a:off x="347472" y="3694176"/>
            <a:ext cx="914400" cy="548640"/>
          </a:xfrm>
          <a:prstGeom prst="rect">
            <a:avLst/>
          </a:prstGeom>
          <a:noFill/>
          <a:ln/>
        </p:spPr>
        <p:txBody>
          <a:bodyPr wrap="square" rtlCol="0" anchor="ctr"/>
          <a:lstStyle/>
          <a:p>
            <a:pPr marL="0" indent="0" algn="r">
              <a:buNone/>
            </a:pPr>
            <a:r>
              <a:rPr lang="en-US" sz="800" dirty="0">
                <a:solidFill>
                  <a:srgbClr val="37474F"/>
                </a:solidFill>
              </a:rPr>
              <a:t>Outer Race</a:t>
            </a:r>
            <a:endParaRPr lang="en-US" sz="800" dirty="0"/>
          </a:p>
        </p:txBody>
      </p:sp>
      <p:sp>
        <p:nvSpPr>
          <p:cNvPr id="14" name="Text 12"/>
          <p:cNvSpPr/>
          <p:nvPr/>
        </p:nvSpPr>
        <p:spPr>
          <a:xfrm>
            <a:off x="3273552" y="1581912"/>
            <a:ext cx="658368" cy="274320"/>
          </a:xfrm>
          <a:prstGeom prst="rect">
            <a:avLst/>
          </a:prstGeom>
          <a:noFill/>
          <a:ln/>
        </p:spPr>
        <p:txBody>
          <a:bodyPr wrap="square" rtlCol="0" anchor="ctr"/>
          <a:lstStyle/>
          <a:p>
            <a:pPr marL="0" indent="0" algn="ctr">
              <a:buNone/>
            </a:pPr>
            <a:r>
              <a:rPr lang="en-US" sz="750" dirty="0">
                <a:solidFill>
                  <a:srgbClr val="37474F"/>
                </a:solidFill>
              </a:rPr>
              <a:t>Outer Race</a:t>
            </a:r>
            <a:endParaRPr lang="en-US" sz="750" dirty="0"/>
          </a:p>
        </p:txBody>
      </p:sp>
      <p:sp>
        <p:nvSpPr>
          <p:cNvPr id="15" name="Shape 13"/>
          <p:cNvSpPr/>
          <p:nvPr/>
        </p:nvSpPr>
        <p:spPr>
          <a:xfrm>
            <a:off x="1305393" y="1944270"/>
            <a:ext cx="640080" cy="594360"/>
          </a:xfrm>
          <a:prstGeom prst="rect">
            <a:avLst/>
          </a:prstGeom>
          <a:solidFill>
            <a:srgbClr val="1565C0"/>
          </a:solidFill>
          <a:ln w="12700">
            <a:solidFill>
              <a:srgbClr val="E3EAF5"/>
            </a:solidFill>
            <a:prstDash val="solid"/>
          </a:ln>
        </p:spPr>
      </p:sp>
      <p:sp>
        <p:nvSpPr>
          <p:cNvPr id="16" name="Text 14"/>
          <p:cNvSpPr/>
          <p:nvPr/>
        </p:nvSpPr>
        <p:spPr>
          <a:xfrm>
            <a:off x="1298448" y="1719072"/>
            <a:ext cx="640080" cy="594360"/>
          </a:xfrm>
          <a:prstGeom prst="rect">
            <a:avLst/>
          </a:prstGeom>
          <a:noFill/>
          <a:ln/>
        </p:spPr>
        <p:txBody>
          <a:bodyPr wrap="square" rtlCol="0" anchor="ctr"/>
          <a:lstStyle/>
          <a:p>
            <a:pPr marL="0" indent="0" algn="ctr">
              <a:buNone/>
            </a:pPr>
            <a:r>
              <a:rPr lang="en-US" sz="1400" b="1" dirty="0">
                <a:solidFill>
                  <a:srgbClr val="FFFFFF"/>
                </a:solidFill>
              </a:rPr>
              <a:t>558</a:t>
            </a:r>
            <a:endParaRPr lang="en-US" sz="1400" dirty="0"/>
          </a:p>
        </p:txBody>
      </p:sp>
      <p:sp>
        <p:nvSpPr>
          <p:cNvPr id="17" name="Shape 15"/>
          <p:cNvSpPr/>
          <p:nvPr/>
        </p:nvSpPr>
        <p:spPr>
          <a:xfrm>
            <a:off x="1949871" y="1949112"/>
            <a:ext cx="640080" cy="594360"/>
          </a:xfrm>
          <a:prstGeom prst="rect">
            <a:avLst/>
          </a:prstGeom>
          <a:solidFill>
            <a:srgbClr val="FFB3B3"/>
          </a:solidFill>
          <a:ln w="12700">
            <a:solidFill>
              <a:srgbClr val="E3EAF5"/>
            </a:solidFill>
            <a:prstDash val="solid"/>
          </a:ln>
        </p:spPr>
      </p:sp>
      <p:sp>
        <p:nvSpPr>
          <p:cNvPr id="18" name="Text 16"/>
          <p:cNvSpPr/>
          <p:nvPr/>
        </p:nvSpPr>
        <p:spPr>
          <a:xfrm>
            <a:off x="1956816" y="1719072"/>
            <a:ext cx="640080" cy="594360"/>
          </a:xfrm>
          <a:prstGeom prst="rect">
            <a:avLst/>
          </a:prstGeom>
          <a:noFill/>
          <a:ln/>
        </p:spPr>
        <p:txBody>
          <a:bodyPr wrap="square" rtlCol="0" anchor="ctr"/>
          <a:lstStyle/>
          <a:p>
            <a:pPr marL="0" indent="0" algn="ctr">
              <a:buNone/>
            </a:pPr>
            <a:r>
              <a:rPr lang="en-US" sz="1100" dirty="0">
                <a:solidFill>
                  <a:srgbClr val="C62828"/>
                </a:solidFill>
              </a:rPr>
              <a:t>6</a:t>
            </a:r>
            <a:endParaRPr lang="en-US" sz="1100" dirty="0"/>
          </a:p>
        </p:txBody>
      </p:sp>
      <p:sp>
        <p:nvSpPr>
          <p:cNvPr id="19" name="Shape 17"/>
          <p:cNvSpPr/>
          <p:nvPr/>
        </p:nvSpPr>
        <p:spPr>
          <a:xfrm>
            <a:off x="2576409" y="1947096"/>
            <a:ext cx="640080" cy="594360"/>
          </a:xfrm>
          <a:prstGeom prst="rect">
            <a:avLst/>
          </a:prstGeom>
          <a:solidFill>
            <a:srgbClr val="F5F5F5"/>
          </a:solidFill>
          <a:ln w="12700">
            <a:solidFill>
              <a:srgbClr val="E3EAF5"/>
            </a:solidFill>
            <a:prstDash val="solid"/>
          </a:ln>
        </p:spPr>
      </p:sp>
      <p:sp>
        <p:nvSpPr>
          <p:cNvPr id="20" name="Text 18"/>
          <p:cNvSpPr/>
          <p:nvPr/>
        </p:nvSpPr>
        <p:spPr>
          <a:xfrm>
            <a:off x="2615184" y="1719072"/>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1" name="Shape 19"/>
          <p:cNvSpPr/>
          <p:nvPr/>
        </p:nvSpPr>
        <p:spPr>
          <a:xfrm>
            <a:off x="3230031" y="1954170"/>
            <a:ext cx="640080" cy="594360"/>
          </a:xfrm>
          <a:prstGeom prst="rect">
            <a:avLst/>
          </a:prstGeom>
          <a:solidFill>
            <a:srgbClr val="FFB3B3"/>
          </a:solidFill>
          <a:ln w="12700">
            <a:solidFill>
              <a:srgbClr val="E3EAF5"/>
            </a:solidFill>
            <a:prstDash val="solid"/>
          </a:ln>
        </p:spPr>
      </p:sp>
      <p:sp>
        <p:nvSpPr>
          <p:cNvPr id="22" name="Text 20"/>
          <p:cNvSpPr/>
          <p:nvPr/>
        </p:nvSpPr>
        <p:spPr>
          <a:xfrm>
            <a:off x="3273552" y="1719072"/>
            <a:ext cx="640080" cy="594360"/>
          </a:xfrm>
          <a:prstGeom prst="rect">
            <a:avLst/>
          </a:prstGeom>
          <a:noFill/>
          <a:ln/>
        </p:spPr>
        <p:txBody>
          <a:bodyPr wrap="square" rtlCol="0" anchor="ctr"/>
          <a:lstStyle/>
          <a:p>
            <a:pPr marL="0" indent="0" algn="ctr">
              <a:buNone/>
            </a:pPr>
            <a:r>
              <a:rPr lang="en-US" sz="1100" dirty="0">
                <a:solidFill>
                  <a:srgbClr val="C62828"/>
                </a:solidFill>
              </a:rPr>
              <a:t>5</a:t>
            </a:r>
            <a:endParaRPr lang="en-US" sz="1100" dirty="0"/>
          </a:p>
        </p:txBody>
      </p:sp>
      <p:sp>
        <p:nvSpPr>
          <p:cNvPr id="23" name="Shape 21"/>
          <p:cNvSpPr/>
          <p:nvPr/>
        </p:nvSpPr>
        <p:spPr>
          <a:xfrm>
            <a:off x="1298448" y="2579274"/>
            <a:ext cx="640080" cy="594360"/>
          </a:xfrm>
          <a:prstGeom prst="rect">
            <a:avLst/>
          </a:prstGeom>
          <a:solidFill>
            <a:srgbClr val="FFB3B3"/>
          </a:solidFill>
          <a:ln w="12700">
            <a:solidFill>
              <a:srgbClr val="E3EAF5"/>
            </a:solidFill>
            <a:prstDash val="solid"/>
          </a:ln>
        </p:spPr>
      </p:sp>
      <p:sp>
        <p:nvSpPr>
          <p:cNvPr id="24" name="Text 22"/>
          <p:cNvSpPr/>
          <p:nvPr/>
        </p:nvSpPr>
        <p:spPr>
          <a:xfrm>
            <a:off x="1298448" y="2377440"/>
            <a:ext cx="640080" cy="594360"/>
          </a:xfrm>
          <a:prstGeom prst="rect">
            <a:avLst/>
          </a:prstGeom>
          <a:noFill/>
          <a:ln/>
        </p:spPr>
        <p:txBody>
          <a:bodyPr wrap="square" rtlCol="0" anchor="ctr"/>
          <a:lstStyle/>
          <a:p>
            <a:pPr marL="0" indent="0" algn="ctr">
              <a:buNone/>
            </a:pPr>
            <a:r>
              <a:rPr lang="en-US" sz="1100" dirty="0">
                <a:solidFill>
                  <a:srgbClr val="C62828"/>
                </a:solidFill>
              </a:rPr>
              <a:t>14</a:t>
            </a:r>
            <a:endParaRPr lang="en-US" sz="1100" dirty="0"/>
          </a:p>
        </p:txBody>
      </p:sp>
      <p:sp>
        <p:nvSpPr>
          <p:cNvPr id="25" name="Shape 23"/>
          <p:cNvSpPr/>
          <p:nvPr/>
        </p:nvSpPr>
        <p:spPr>
          <a:xfrm>
            <a:off x="1952244" y="2578608"/>
            <a:ext cx="640080" cy="594360"/>
          </a:xfrm>
          <a:prstGeom prst="rect">
            <a:avLst/>
          </a:prstGeom>
          <a:solidFill>
            <a:srgbClr val="1565C0"/>
          </a:solidFill>
          <a:ln w="12700">
            <a:solidFill>
              <a:srgbClr val="E3EAF5"/>
            </a:solidFill>
            <a:prstDash val="solid"/>
          </a:ln>
        </p:spPr>
      </p:sp>
      <p:sp>
        <p:nvSpPr>
          <p:cNvPr id="26" name="Text 24"/>
          <p:cNvSpPr/>
          <p:nvPr/>
        </p:nvSpPr>
        <p:spPr>
          <a:xfrm>
            <a:off x="1956816" y="2377440"/>
            <a:ext cx="640080" cy="594360"/>
          </a:xfrm>
          <a:prstGeom prst="rect">
            <a:avLst/>
          </a:prstGeom>
          <a:noFill/>
          <a:ln/>
        </p:spPr>
        <p:txBody>
          <a:bodyPr wrap="square" rtlCol="0" anchor="ctr"/>
          <a:lstStyle/>
          <a:p>
            <a:pPr marL="0" indent="0" algn="ctr">
              <a:buNone/>
            </a:pPr>
            <a:r>
              <a:rPr lang="en-US" sz="1400" b="1" dirty="0">
                <a:solidFill>
                  <a:srgbClr val="FFFFFF"/>
                </a:solidFill>
              </a:rPr>
              <a:t>606</a:t>
            </a:r>
            <a:endParaRPr lang="en-US" sz="1400" dirty="0"/>
          </a:p>
        </p:txBody>
      </p:sp>
      <p:sp>
        <p:nvSpPr>
          <p:cNvPr id="27" name="Shape 25"/>
          <p:cNvSpPr/>
          <p:nvPr/>
        </p:nvSpPr>
        <p:spPr>
          <a:xfrm>
            <a:off x="2615184" y="2543472"/>
            <a:ext cx="640080" cy="594360"/>
          </a:xfrm>
          <a:prstGeom prst="rect">
            <a:avLst/>
          </a:prstGeom>
          <a:solidFill>
            <a:srgbClr val="F5F5F5"/>
          </a:solidFill>
          <a:ln w="12700">
            <a:solidFill>
              <a:srgbClr val="E3EAF5"/>
            </a:solidFill>
            <a:prstDash val="solid"/>
          </a:ln>
        </p:spPr>
      </p:sp>
      <p:sp>
        <p:nvSpPr>
          <p:cNvPr id="28" name="Text 26"/>
          <p:cNvSpPr/>
          <p:nvPr/>
        </p:nvSpPr>
        <p:spPr>
          <a:xfrm>
            <a:off x="2615184" y="2377440"/>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9" name="Shape 27"/>
          <p:cNvSpPr/>
          <p:nvPr/>
        </p:nvSpPr>
        <p:spPr>
          <a:xfrm>
            <a:off x="3230031" y="2556900"/>
            <a:ext cx="640080" cy="594360"/>
          </a:xfrm>
          <a:prstGeom prst="rect">
            <a:avLst/>
          </a:prstGeom>
          <a:solidFill>
            <a:srgbClr val="FFB3B3"/>
          </a:solidFill>
          <a:ln w="12700">
            <a:solidFill>
              <a:srgbClr val="E3EAF5"/>
            </a:solidFill>
            <a:prstDash val="solid"/>
          </a:ln>
        </p:spPr>
      </p:sp>
      <p:sp>
        <p:nvSpPr>
          <p:cNvPr id="30" name="Text 28"/>
          <p:cNvSpPr/>
          <p:nvPr/>
        </p:nvSpPr>
        <p:spPr>
          <a:xfrm>
            <a:off x="3273552" y="2377440"/>
            <a:ext cx="640080" cy="594360"/>
          </a:xfrm>
          <a:prstGeom prst="rect">
            <a:avLst/>
          </a:prstGeom>
          <a:noFill/>
          <a:ln/>
        </p:spPr>
        <p:txBody>
          <a:bodyPr wrap="square" rtlCol="0" anchor="ctr"/>
          <a:lstStyle/>
          <a:p>
            <a:pPr marL="0" indent="0" algn="ctr">
              <a:buNone/>
            </a:pPr>
            <a:r>
              <a:rPr lang="en-US" sz="1100" dirty="0">
                <a:solidFill>
                  <a:srgbClr val="C62828"/>
                </a:solidFill>
              </a:rPr>
              <a:t>2</a:t>
            </a:r>
            <a:endParaRPr lang="en-US" sz="1100" dirty="0"/>
          </a:p>
        </p:txBody>
      </p:sp>
      <p:sp>
        <p:nvSpPr>
          <p:cNvPr id="31" name="Shape 29"/>
          <p:cNvSpPr/>
          <p:nvPr/>
        </p:nvSpPr>
        <p:spPr>
          <a:xfrm>
            <a:off x="1298448" y="3214116"/>
            <a:ext cx="640080" cy="594360"/>
          </a:xfrm>
          <a:prstGeom prst="rect">
            <a:avLst/>
          </a:prstGeom>
          <a:solidFill>
            <a:srgbClr val="FFB3B3"/>
          </a:solidFill>
          <a:ln w="12700">
            <a:solidFill>
              <a:srgbClr val="E3EAF5"/>
            </a:solidFill>
            <a:prstDash val="solid"/>
          </a:ln>
        </p:spPr>
      </p:sp>
      <p:sp>
        <p:nvSpPr>
          <p:cNvPr id="32" name="Text 30"/>
          <p:cNvSpPr/>
          <p:nvPr/>
        </p:nvSpPr>
        <p:spPr>
          <a:xfrm>
            <a:off x="1298448" y="3035808"/>
            <a:ext cx="640080" cy="594360"/>
          </a:xfrm>
          <a:prstGeom prst="rect">
            <a:avLst/>
          </a:prstGeom>
          <a:noFill/>
          <a:ln/>
        </p:spPr>
        <p:txBody>
          <a:bodyPr wrap="square" rtlCol="0" anchor="ctr"/>
          <a:lstStyle/>
          <a:p>
            <a:pPr marL="0" indent="0" algn="ctr">
              <a:buNone/>
            </a:pPr>
            <a:r>
              <a:rPr lang="en-US" sz="1100" dirty="0">
                <a:solidFill>
                  <a:srgbClr val="C62828"/>
                </a:solidFill>
              </a:rPr>
              <a:t>1</a:t>
            </a:r>
            <a:endParaRPr lang="en-US" sz="1100" dirty="0"/>
          </a:p>
        </p:txBody>
      </p:sp>
      <p:sp>
        <p:nvSpPr>
          <p:cNvPr id="33" name="Shape 31"/>
          <p:cNvSpPr/>
          <p:nvPr/>
        </p:nvSpPr>
        <p:spPr>
          <a:xfrm>
            <a:off x="1929384" y="3187260"/>
            <a:ext cx="640080" cy="594360"/>
          </a:xfrm>
          <a:prstGeom prst="rect">
            <a:avLst/>
          </a:prstGeom>
          <a:solidFill>
            <a:srgbClr val="F5F5F5"/>
          </a:solidFill>
          <a:ln w="12700">
            <a:solidFill>
              <a:srgbClr val="E3EAF5"/>
            </a:solidFill>
            <a:prstDash val="solid"/>
          </a:ln>
        </p:spPr>
      </p:sp>
      <p:sp>
        <p:nvSpPr>
          <p:cNvPr id="34" name="Text 32"/>
          <p:cNvSpPr/>
          <p:nvPr/>
        </p:nvSpPr>
        <p:spPr>
          <a:xfrm>
            <a:off x="1956816"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5" name="Shape 33"/>
          <p:cNvSpPr/>
          <p:nvPr/>
        </p:nvSpPr>
        <p:spPr>
          <a:xfrm>
            <a:off x="2615184" y="3164688"/>
            <a:ext cx="640080" cy="594360"/>
          </a:xfrm>
          <a:prstGeom prst="rect">
            <a:avLst/>
          </a:prstGeom>
          <a:solidFill>
            <a:srgbClr val="1565C0"/>
          </a:solidFill>
          <a:ln w="12700">
            <a:solidFill>
              <a:srgbClr val="E3EAF5"/>
            </a:solidFill>
            <a:prstDash val="solid"/>
          </a:ln>
        </p:spPr>
      </p:sp>
      <p:sp>
        <p:nvSpPr>
          <p:cNvPr id="36" name="Text 34"/>
          <p:cNvSpPr/>
          <p:nvPr/>
        </p:nvSpPr>
        <p:spPr>
          <a:xfrm>
            <a:off x="2615184" y="3035808"/>
            <a:ext cx="640080" cy="594360"/>
          </a:xfrm>
          <a:prstGeom prst="rect">
            <a:avLst/>
          </a:prstGeom>
          <a:noFill/>
          <a:ln/>
        </p:spPr>
        <p:txBody>
          <a:bodyPr wrap="square" rtlCol="0" anchor="ctr"/>
          <a:lstStyle/>
          <a:p>
            <a:pPr marL="0" indent="0" algn="ctr">
              <a:buNone/>
            </a:pPr>
            <a:r>
              <a:rPr lang="en-US" sz="1400" b="1" dirty="0">
                <a:solidFill>
                  <a:srgbClr val="FFFFFF"/>
                </a:solidFill>
              </a:rPr>
              <a:t>187</a:t>
            </a:r>
            <a:endParaRPr lang="en-US" sz="1400" dirty="0"/>
          </a:p>
        </p:txBody>
      </p:sp>
      <p:sp>
        <p:nvSpPr>
          <p:cNvPr id="37" name="Shape 35"/>
          <p:cNvSpPr/>
          <p:nvPr/>
        </p:nvSpPr>
        <p:spPr>
          <a:xfrm>
            <a:off x="3273552" y="3193992"/>
            <a:ext cx="640080" cy="594360"/>
          </a:xfrm>
          <a:prstGeom prst="rect">
            <a:avLst/>
          </a:prstGeom>
          <a:solidFill>
            <a:srgbClr val="F5F5F5"/>
          </a:solidFill>
          <a:ln w="12700">
            <a:solidFill>
              <a:srgbClr val="E3EAF5"/>
            </a:solidFill>
            <a:prstDash val="solid"/>
          </a:ln>
        </p:spPr>
      </p:sp>
      <p:sp>
        <p:nvSpPr>
          <p:cNvPr id="38" name="Text 36"/>
          <p:cNvSpPr/>
          <p:nvPr/>
        </p:nvSpPr>
        <p:spPr>
          <a:xfrm>
            <a:off x="3273552"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9" name="Shape 37"/>
          <p:cNvSpPr/>
          <p:nvPr/>
        </p:nvSpPr>
        <p:spPr>
          <a:xfrm>
            <a:off x="1298448" y="3817188"/>
            <a:ext cx="640080" cy="594360"/>
          </a:xfrm>
          <a:prstGeom prst="rect">
            <a:avLst/>
          </a:prstGeom>
          <a:solidFill>
            <a:srgbClr val="FFB3B3"/>
          </a:solidFill>
          <a:ln w="12700">
            <a:solidFill>
              <a:srgbClr val="E3EAF5"/>
            </a:solidFill>
            <a:prstDash val="solid"/>
          </a:ln>
        </p:spPr>
      </p:sp>
      <p:sp>
        <p:nvSpPr>
          <p:cNvPr id="40" name="Text 38"/>
          <p:cNvSpPr/>
          <p:nvPr/>
        </p:nvSpPr>
        <p:spPr>
          <a:xfrm>
            <a:off x="1298448" y="3694176"/>
            <a:ext cx="640080" cy="594360"/>
          </a:xfrm>
          <a:prstGeom prst="rect">
            <a:avLst/>
          </a:prstGeom>
          <a:noFill/>
          <a:ln/>
        </p:spPr>
        <p:txBody>
          <a:bodyPr wrap="square" rtlCol="0" anchor="ctr"/>
          <a:lstStyle/>
          <a:p>
            <a:pPr marL="0" indent="0" algn="ctr">
              <a:buNone/>
            </a:pPr>
            <a:r>
              <a:rPr lang="en-US" sz="1100" dirty="0">
                <a:solidFill>
                  <a:srgbClr val="C62828"/>
                </a:solidFill>
              </a:rPr>
              <a:t>15</a:t>
            </a:r>
            <a:endParaRPr lang="en-US" sz="1100" dirty="0"/>
          </a:p>
        </p:txBody>
      </p:sp>
      <p:sp>
        <p:nvSpPr>
          <p:cNvPr id="41" name="Shape 39"/>
          <p:cNvSpPr/>
          <p:nvPr/>
        </p:nvSpPr>
        <p:spPr>
          <a:xfrm>
            <a:off x="1956816" y="3801636"/>
            <a:ext cx="640080" cy="594360"/>
          </a:xfrm>
          <a:prstGeom prst="rect">
            <a:avLst/>
          </a:prstGeom>
          <a:solidFill>
            <a:srgbClr val="FFB3B3"/>
          </a:solidFill>
          <a:ln w="12700">
            <a:solidFill>
              <a:srgbClr val="E3EAF5"/>
            </a:solidFill>
            <a:prstDash val="solid"/>
          </a:ln>
        </p:spPr>
      </p:sp>
      <p:sp>
        <p:nvSpPr>
          <p:cNvPr id="42" name="Text 40"/>
          <p:cNvSpPr/>
          <p:nvPr/>
        </p:nvSpPr>
        <p:spPr>
          <a:xfrm>
            <a:off x="1956816" y="3694176"/>
            <a:ext cx="640080" cy="594360"/>
          </a:xfrm>
          <a:prstGeom prst="rect">
            <a:avLst/>
          </a:prstGeom>
          <a:noFill/>
          <a:ln/>
        </p:spPr>
        <p:txBody>
          <a:bodyPr wrap="square" rtlCol="0" anchor="ctr"/>
          <a:lstStyle/>
          <a:p>
            <a:pPr marL="0" indent="0" algn="ctr">
              <a:buNone/>
            </a:pPr>
            <a:r>
              <a:rPr lang="en-US" sz="1100" dirty="0">
                <a:solidFill>
                  <a:srgbClr val="C62828"/>
                </a:solidFill>
              </a:rPr>
              <a:t>4</a:t>
            </a:r>
            <a:endParaRPr lang="en-US" sz="1100" dirty="0"/>
          </a:p>
        </p:txBody>
      </p:sp>
      <p:sp>
        <p:nvSpPr>
          <p:cNvPr id="43" name="Shape 41"/>
          <p:cNvSpPr/>
          <p:nvPr/>
        </p:nvSpPr>
        <p:spPr>
          <a:xfrm>
            <a:off x="2624328" y="3793032"/>
            <a:ext cx="640080" cy="594360"/>
          </a:xfrm>
          <a:prstGeom prst="rect">
            <a:avLst/>
          </a:prstGeom>
          <a:solidFill>
            <a:srgbClr val="F5F5F5"/>
          </a:solidFill>
          <a:ln w="12700">
            <a:solidFill>
              <a:srgbClr val="E3EAF5"/>
            </a:solidFill>
            <a:prstDash val="solid"/>
          </a:ln>
        </p:spPr>
      </p:sp>
      <p:sp>
        <p:nvSpPr>
          <p:cNvPr id="44" name="Text 42"/>
          <p:cNvSpPr/>
          <p:nvPr/>
        </p:nvSpPr>
        <p:spPr>
          <a:xfrm>
            <a:off x="2615184" y="3694176"/>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45" name="Shape 43"/>
          <p:cNvSpPr/>
          <p:nvPr/>
        </p:nvSpPr>
        <p:spPr>
          <a:xfrm>
            <a:off x="3273552" y="3801636"/>
            <a:ext cx="640080" cy="594360"/>
          </a:xfrm>
          <a:prstGeom prst="rect">
            <a:avLst/>
          </a:prstGeom>
          <a:solidFill>
            <a:srgbClr val="1565C0"/>
          </a:solidFill>
          <a:ln w="12700">
            <a:solidFill>
              <a:srgbClr val="E3EAF5"/>
            </a:solidFill>
            <a:prstDash val="solid"/>
          </a:ln>
        </p:spPr>
      </p:sp>
      <p:sp>
        <p:nvSpPr>
          <p:cNvPr id="46" name="Text 44"/>
          <p:cNvSpPr/>
          <p:nvPr/>
        </p:nvSpPr>
        <p:spPr>
          <a:xfrm>
            <a:off x="3273552" y="3694176"/>
            <a:ext cx="640080" cy="594360"/>
          </a:xfrm>
          <a:prstGeom prst="rect">
            <a:avLst/>
          </a:prstGeom>
          <a:noFill/>
          <a:ln/>
        </p:spPr>
        <p:txBody>
          <a:bodyPr wrap="square" rtlCol="0" anchor="ctr"/>
          <a:lstStyle/>
          <a:p>
            <a:pPr marL="0" indent="0" algn="ctr">
              <a:buNone/>
            </a:pPr>
            <a:r>
              <a:rPr lang="en-US" sz="1400" b="1" dirty="0">
                <a:solidFill>
                  <a:srgbClr val="FFFFFF"/>
                </a:solidFill>
              </a:rPr>
              <a:t>550</a:t>
            </a:r>
            <a:endParaRPr lang="en-US" sz="1400" dirty="0"/>
          </a:p>
        </p:txBody>
      </p:sp>
      <p:sp>
        <p:nvSpPr>
          <p:cNvPr id="47" name="Text 45"/>
          <p:cNvSpPr/>
          <p:nvPr/>
        </p:nvSpPr>
        <p:spPr>
          <a:xfrm rot="16200000">
            <a:off x="85827" y="2547645"/>
            <a:ext cx="512064" cy="1268933"/>
          </a:xfrm>
          <a:prstGeom prst="rect">
            <a:avLst/>
          </a:prstGeom>
          <a:noFill/>
          <a:ln/>
        </p:spPr>
        <p:txBody>
          <a:bodyPr wrap="square" rtlCol="0" anchor="ctr"/>
          <a:lstStyle/>
          <a:p>
            <a:pPr marL="0" indent="0" algn="ctr">
              <a:buNone/>
            </a:pPr>
            <a:r>
              <a:rPr lang="en-US" sz="800" dirty="0">
                <a:solidFill>
                  <a:srgbClr val="37474F"/>
                </a:solidFill>
              </a:rPr>
              <a:t> True Label</a:t>
            </a:r>
            <a:endParaRPr lang="en-US" sz="800" dirty="0"/>
          </a:p>
        </p:txBody>
      </p:sp>
      <p:sp>
        <p:nvSpPr>
          <p:cNvPr id="48" name="Text 46"/>
          <p:cNvSpPr/>
          <p:nvPr/>
        </p:nvSpPr>
        <p:spPr>
          <a:xfrm>
            <a:off x="1371600" y="4407408"/>
            <a:ext cx="2468880" cy="274320"/>
          </a:xfrm>
          <a:prstGeom prst="rect">
            <a:avLst/>
          </a:prstGeom>
          <a:noFill/>
          <a:ln/>
        </p:spPr>
        <p:txBody>
          <a:bodyPr wrap="square" rtlCol="0" anchor="ctr"/>
          <a:lstStyle/>
          <a:p>
            <a:pPr marL="0" indent="0" algn="ctr">
              <a:buNone/>
            </a:pPr>
            <a:r>
              <a:rPr lang="en-US" sz="800" dirty="0">
                <a:solidFill>
                  <a:srgbClr val="37474F"/>
                </a:solidFill>
              </a:rPr>
              <a:t>Predicted Label</a:t>
            </a:r>
            <a:endParaRPr lang="en-US" sz="800" dirty="0"/>
          </a:p>
        </p:txBody>
      </p:sp>
      <p:sp>
        <p:nvSpPr>
          <p:cNvPr id="49" name="Shape 47"/>
          <p:cNvSpPr/>
          <p:nvPr/>
        </p:nvSpPr>
        <p:spPr>
          <a:xfrm>
            <a:off x="4663440" y="1143000"/>
            <a:ext cx="429768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50" name="Text 48"/>
          <p:cNvSpPr/>
          <p:nvPr/>
        </p:nvSpPr>
        <p:spPr>
          <a:xfrm>
            <a:off x="4754880" y="1207008"/>
            <a:ext cx="4114800" cy="274320"/>
          </a:xfrm>
          <a:prstGeom prst="rect">
            <a:avLst/>
          </a:prstGeom>
          <a:noFill/>
          <a:ln/>
        </p:spPr>
        <p:txBody>
          <a:bodyPr wrap="square" rtlCol="0" anchor="ctr"/>
          <a:lstStyle/>
          <a:p>
            <a:pPr marL="0" indent="0">
              <a:buNone/>
            </a:pPr>
            <a:r>
              <a:rPr lang="en-US" sz="950" b="1" kern="0" spc="50" dirty="0">
                <a:solidFill>
                  <a:srgbClr val="0A1628"/>
                </a:solidFill>
              </a:rPr>
              <a:t>TOP FEATURE IMPORTANCES — Random Forest</a:t>
            </a:r>
            <a:endParaRPr lang="en-US" sz="950" dirty="0"/>
          </a:p>
        </p:txBody>
      </p:sp>
      <p:sp>
        <p:nvSpPr>
          <p:cNvPr id="51" name="Text 49"/>
          <p:cNvSpPr/>
          <p:nvPr/>
        </p:nvSpPr>
        <p:spPr>
          <a:xfrm>
            <a:off x="4754880" y="1636776"/>
            <a:ext cx="1234440" cy="274320"/>
          </a:xfrm>
          <a:prstGeom prst="rect">
            <a:avLst/>
          </a:prstGeom>
          <a:noFill/>
          <a:ln/>
        </p:spPr>
        <p:txBody>
          <a:bodyPr wrap="square" rtlCol="0" anchor="ctr"/>
          <a:lstStyle/>
          <a:p>
            <a:pPr marL="0" indent="0" algn="r">
              <a:buNone/>
            </a:pPr>
            <a:r>
              <a:rPr lang="en-US" sz="900" dirty="0">
                <a:solidFill>
                  <a:srgbClr val="37474F"/>
                </a:solidFill>
              </a:rPr>
              <a:t>Spectral Mean</a:t>
            </a:r>
            <a:endParaRPr lang="en-US" sz="900" dirty="0"/>
          </a:p>
        </p:txBody>
      </p:sp>
      <p:sp>
        <p:nvSpPr>
          <p:cNvPr id="52" name="Shape 50"/>
          <p:cNvSpPr/>
          <p:nvPr/>
        </p:nvSpPr>
        <p:spPr>
          <a:xfrm>
            <a:off x="6035040" y="1645920"/>
            <a:ext cx="2926080" cy="256032"/>
          </a:xfrm>
          <a:prstGeom prst="rect">
            <a:avLst/>
          </a:prstGeom>
          <a:solidFill>
            <a:srgbClr val="00897B"/>
          </a:solidFill>
          <a:ln w="12700">
            <a:solidFill>
              <a:srgbClr val="000000"/>
            </a:solidFill>
            <a:prstDash val="solid"/>
          </a:ln>
        </p:spPr>
      </p:sp>
      <p:sp>
        <p:nvSpPr>
          <p:cNvPr id="53" name="Text 51"/>
          <p:cNvSpPr/>
          <p:nvPr/>
        </p:nvSpPr>
        <p:spPr>
          <a:xfrm>
            <a:off x="9006840" y="1645920"/>
            <a:ext cx="457200" cy="256032"/>
          </a:xfrm>
          <a:prstGeom prst="rect">
            <a:avLst/>
          </a:prstGeom>
          <a:noFill/>
          <a:ln/>
        </p:spPr>
        <p:txBody>
          <a:bodyPr wrap="square" rtlCol="0" anchor="ctr"/>
          <a:lstStyle/>
          <a:p>
            <a:pPr marL="0" indent="0">
              <a:buNone/>
            </a:pPr>
            <a:r>
              <a:rPr lang="en-US" sz="900" dirty="0">
                <a:solidFill>
                  <a:srgbClr val="37474F"/>
                </a:solidFill>
              </a:rPr>
              <a:t>0.158</a:t>
            </a:r>
            <a:endParaRPr lang="en-US" sz="900" dirty="0"/>
          </a:p>
        </p:txBody>
      </p:sp>
      <p:sp>
        <p:nvSpPr>
          <p:cNvPr id="54" name="Text 52"/>
          <p:cNvSpPr/>
          <p:nvPr/>
        </p:nvSpPr>
        <p:spPr>
          <a:xfrm>
            <a:off x="4754880" y="2020824"/>
            <a:ext cx="1234440" cy="274320"/>
          </a:xfrm>
          <a:prstGeom prst="rect">
            <a:avLst/>
          </a:prstGeom>
          <a:noFill/>
          <a:ln/>
        </p:spPr>
        <p:txBody>
          <a:bodyPr wrap="square" rtlCol="0" anchor="ctr"/>
          <a:lstStyle/>
          <a:p>
            <a:pPr marL="0" indent="0" algn="r">
              <a:buNone/>
            </a:pPr>
            <a:r>
              <a:rPr lang="en-US" sz="900" dirty="0">
                <a:solidFill>
                  <a:srgbClr val="37474F"/>
                </a:solidFill>
              </a:rPr>
              <a:t>Impulse Factor</a:t>
            </a:r>
            <a:endParaRPr lang="en-US" sz="900" dirty="0"/>
          </a:p>
        </p:txBody>
      </p:sp>
      <p:sp>
        <p:nvSpPr>
          <p:cNvPr id="55" name="Shape 53"/>
          <p:cNvSpPr/>
          <p:nvPr/>
        </p:nvSpPr>
        <p:spPr>
          <a:xfrm>
            <a:off x="6035040" y="2029968"/>
            <a:ext cx="1814910" cy="256032"/>
          </a:xfrm>
          <a:prstGeom prst="rect">
            <a:avLst/>
          </a:prstGeom>
          <a:solidFill>
            <a:srgbClr val="1565C0"/>
          </a:solidFill>
          <a:ln w="12700">
            <a:solidFill>
              <a:srgbClr val="000000"/>
            </a:solidFill>
            <a:prstDash val="solid"/>
          </a:ln>
        </p:spPr>
      </p:sp>
      <p:sp>
        <p:nvSpPr>
          <p:cNvPr id="56" name="Text 54"/>
          <p:cNvSpPr/>
          <p:nvPr/>
        </p:nvSpPr>
        <p:spPr>
          <a:xfrm>
            <a:off x="7895670" y="2029968"/>
            <a:ext cx="457200" cy="256032"/>
          </a:xfrm>
          <a:prstGeom prst="rect">
            <a:avLst/>
          </a:prstGeom>
          <a:noFill/>
          <a:ln/>
        </p:spPr>
        <p:txBody>
          <a:bodyPr wrap="square" rtlCol="0" anchor="ctr"/>
          <a:lstStyle/>
          <a:p>
            <a:pPr marL="0" indent="0">
              <a:buNone/>
            </a:pPr>
            <a:r>
              <a:rPr lang="en-US" sz="900" dirty="0">
                <a:solidFill>
                  <a:srgbClr val="37474F"/>
                </a:solidFill>
              </a:rPr>
              <a:t>0.098</a:t>
            </a:r>
            <a:endParaRPr lang="en-US" sz="900" dirty="0"/>
          </a:p>
        </p:txBody>
      </p:sp>
      <p:sp>
        <p:nvSpPr>
          <p:cNvPr id="57" name="Text 55"/>
          <p:cNvSpPr/>
          <p:nvPr/>
        </p:nvSpPr>
        <p:spPr>
          <a:xfrm>
            <a:off x="4754880" y="2404872"/>
            <a:ext cx="1234440" cy="274320"/>
          </a:xfrm>
          <a:prstGeom prst="rect">
            <a:avLst/>
          </a:prstGeom>
          <a:noFill/>
          <a:ln/>
        </p:spPr>
        <p:txBody>
          <a:bodyPr wrap="square" rtlCol="0" anchor="ctr"/>
          <a:lstStyle/>
          <a:p>
            <a:pPr marL="0" indent="0" algn="r">
              <a:buNone/>
            </a:pPr>
            <a:r>
              <a:rPr lang="en-US" sz="900" dirty="0">
                <a:solidFill>
                  <a:srgbClr val="37474F"/>
                </a:solidFill>
              </a:rPr>
              <a:t>Std Deviation</a:t>
            </a:r>
            <a:endParaRPr lang="en-US" sz="900" dirty="0"/>
          </a:p>
        </p:txBody>
      </p:sp>
      <p:sp>
        <p:nvSpPr>
          <p:cNvPr id="58" name="Shape 56"/>
          <p:cNvSpPr/>
          <p:nvPr/>
        </p:nvSpPr>
        <p:spPr>
          <a:xfrm>
            <a:off x="6035040" y="2414016"/>
            <a:ext cx="1703793" cy="256032"/>
          </a:xfrm>
          <a:prstGeom prst="rect">
            <a:avLst/>
          </a:prstGeom>
          <a:solidFill>
            <a:srgbClr val="1565C0"/>
          </a:solidFill>
          <a:ln w="12700">
            <a:solidFill>
              <a:srgbClr val="000000"/>
            </a:solidFill>
            <a:prstDash val="solid"/>
          </a:ln>
        </p:spPr>
      </p:sp>
      <p:sp>
        <p:nvSpPr>
          <p:cNvPr id="59" name="Text 57"/>
          <p:cNvSpPr/>
          <p:nvPr/>
        </p:nvSpPr>
        <p:spPr>
          <a:xfrm>
            <a:off x="7784553" y="2414016"/>
            <a:ext cx="457200" cy="256032"/>
          </a:xfrm>
          <a:prstGeom prst="rect">
            <a:avLst/>
          </a:prstGeom>
          <a:noFill/>
          <a:ln/>
        </p:spPr>
        <p:txBody>
          <a:bodyPr wrap="square" rtlCol="0" anchor="ctr"/>
          <a:lstStyle/>
          <a:p>
            <a:pPr marL="0" indent="0">
              <a:buNone/>
            </a:pPr>
            <a:r>
              <a:rPr lang="en-US" sz="900" dirty="0">
                <a:solidFill>
                  <a:srgbClr val="37474F"/>
                </a:solidFill>
              </a:rPr>
              <a:t>0.092</a:t>
            </a:r>
            <a:endParaRPr lang="en-US" sz="900" dirty="0"/>
          </a:p>
        </p:txBody>
      </p:sp>
      <p:sp>
        <p:nvSpPr>
          <p:cNvPr id="60" name="Text 58"/>
          <p:cNvSpPr/>
          <p:nvPr/>
        </p:nvSpPr>
        <p:spPr>
          <a:xfrm>
            <a:off x="4754880" y="2788920"/>
            <a:ext cx="1234440" cy="274320"/>
          </a:xfrm>
          <a:prstGeom prst="rect">
            <a:avLst/>
          </a:prstGeom>
          <a:noFill/>
          <a:ln/>
        </p:spPr>
        <p:txBody>
          <a:bodyPr wrap="square" rtlCol="0" anchor="ctr"/>
          <a:lstStyle/>
          <a:p>
            <a:pPr marL="0" indent="0" algn="r">
              <a:buNone/>
            </a:pPr>
            <a:r>
              <a:rPr lang="en-US" sz="900" dirty="0">
                <a:solidFill>
                  <a:srgbClr val="37474F"/>
                </a:solidFill>
              </a:rPr>
              <a:t>Freq. Variation</a:t>
            </a:r>
            <a:endParaRPr lang="en-US" sz="900" dirty="0"/>
          </a:p>
        </p:txBody>
      </p:sp>
      <p:sp>
        <p:nvSpPr>
          <p:cNvPr id="61" name="Shape 59"/>
          <p:cNvSpPr/>
          <p:nvPr/>
        </p:nvSpPr>
        <p:spPr>
          <a:xfrm>
            <a:off x="6035040" y="2798064"/>
            <a:ext cx="1629715" cy="256032"/>
          </a:xfrm>
          <a:prstGeom prst="rect">
            <a:avLst/>
          </a:prstGeom>
          <a:solidFill>
            <a:srgbClr val="1565C0"/>
          </a:solidFill>
          <a:ln w="12700">
            <a:solidFill>
              <a:srgbClr val="000000"/>
            </a:solidFill>
            <a:prstDash val="solid"/>
          </a:ln>
        </p:spPr>
      </p:sp>
      <p:sp>
        <p:nvSpPr>
          <p:cNvPr id="62" name="Text 60"/>
          <p:cNvSpPr/>
          <p:nvPr/>
        </p:nvSpPr>
        <p:spPr>
          <a:xfrm>
            <a:off x="7710475" y="2798064"/>
            <a:ext cx="457200" cy="256032"/>
          </a:xfrm>
          <a:prstGeom prst="rect">
            <a:avLst/>
          </a:prstGeom>
          <a:noFill/>
          <a:ln/>
        </p:spPr>
        <p:txBody>
          <a:bodyPr wrap="square" rtlCol="0" anchor="ctr"/>
          <a:lstStyle/>
          <a:p>
            <a:pPr marL="0" indent="0">
              <a:buNone/>
            </a:pPr>
            <a:r>
              <a:rPr lang="en-US" sz="900" dirty="0">
                <a:solidFill>
                  <a:srgbClr val="37474F"/>
                </a:solidFill>
              </a:rPr>
              <a:t>0.088</a:t>
            </a:r>
            <a:endParaRPr lang="en-US" sz="900" dirty="0"/>
          </a:p>
        </p:txBody>
      </p:sp>
      <p:sp>
        <p:nvSpPr>
          <p:cNvPr id="63" name="Text 61"/>
          <p:cNvSpPr/>
          <p:nvPr/>
        </p:nvSpPr>
        <p:spPr>
          <a:xfrm>
            <a:off x="4754880" y="3172968"/>
            <a:ext cx="1234440" cy="274320"/>
          </a:xfrm>
          <a:prstGeom prst="rect">
            <a:avLst/>
          </a:prstGeom>
          <a:noFill/>
          <a:ln/>
        </p:spPr>
        <p:txBody>
          <a:bodyPr wrap="square" rtlCol="0" anchor="ctr"/>
          <a:lstStyle/>
          <a:p>
            <a:pPr marL="0" indent="0" algn="r">
              <a:buNone/>
            </a:pPr>
            <a:r>
              <a:rPr lang="en-US" sz="900" dirty="0">
                <a:solidFill>
                  <a:srgbClr val="37474F"/>
                </a:solidFill>
              </a:rPr>
              <a:t>Max Absolute</a:t>
            </a:r>
            <a:endParaRPr lang="en-US" sz="900" dirty="0"/>
          </a:p>
        </p:txBody>
      </p:sp>
      <p:sp>
        <p:nvSpPr>
          <p:cNvPr id="64" name="Shape 62"/>
          <p:cNvSpPr/>
          <p:nvPr/>
        </p:nvSpPr>
        <p:spPr>
          <a:xfrm>
            <a:off x="6035040" y="3182112"/>
            <a:ext cx="1518598" cy="256032"/>
          </a:xfrm>
          <a:prstGeom prst="rect">
            <a:avLst/>
          </a:prstGeom>
          <a:solidFill>
            <a:srgbClr val="1565C0"/>
          </a:solidFill>
          <a:ln w="12700">
            <a:solidFill>
              <a:srgbClr val="000000"/>
            </a:solidFill>
            <a:prstDash val="solid"/>
          </a:ln>
        </p:spPr>
      </p:sp>
      <p:sp>
        <p:nvSpPr>
          <p:cNvPr id="65" name="Text 63"/>
          <p:cNvSpPr/>
          <p:nvPr/>
        </p:nvSpPr>
        <p:spPr>
          <a:xfrm>
            <a:off x="7599358" y="3182112"/>
            <a:ext cx="457200" cy="256032"/>
          </a:xfrm>
          <a:prstGeom prst="rect">
            <a:avLst/>
          </a:prstGeom>
          <a:noFill/>
          <a:ln/>
        </p:spPr>
        <p:txBody>
          <a:bodyPr wrap="square" rtlCol="0" anchor="ctr"/>
          <a:lstStyle/>
          <a:p>
            <a:pPr marL="0" indent="0">
              <a:buNone/>
            </a:pPr>
            <a:r>
              <a:rPr lang="en-US" sz="900" dirty="0">
                <a:solidFill>
                  <a:srgbClr val="37474F"/>
                </a:solidFill>
              </a:rPr>
              <a:t>0.082</a:t>
            </a:r>
            <a:endParaRPr lang="en-US" sz="900" dirty="0"/>
          </a:p>
        </p:txBody>
      </p:sp>
      <p:sp>
        <p:nvSpPr>
          <p:cNvPr id="66" name="Text 64"/>
          <p:cNvSpPr/>
          <p:nvPr/>
        </p:nvSpPr>
        <p:spPr>
          <a:xfrm>
            <a:off x="4754880" y="3557016"/>
            <a:ext cx="1234440" cy="274320"/>
          </a:xfrm>
          <a:prstGeom prst="rect">
            <a:avLst/>
          </a:prstGeom>
          <a:noFill/>
          <a:ln/>
        </p:spPr>
        <p:txBody>
          <a:bodyPr wrap="square" rtlCol="0" anchor="ctr"/>
          <a:lstStyle/>
          <a:p>
            <a:pPr marL="0" indent="0" algn="r">
              <a:buNone/>
            </a:pPr>
            <a:r>
              <a:rPr lang="en-US" sz="900" dirty="0">
                <a:solidFill>
                  <a:srgbClr val="37474F"/>
                </a:solidFill>
              </a:rPr>
              <a:t>RMS</a:t>
            </a:r>
            <a:endParaRPr lang="en-US" sz="900" dirty="0"/>
          </a:p>
        </p:txBody>
      </p:sp>
      <p:sp>
        <p:nvSpPr>
          <p:cNvPr id="67" name="Shape 65"/>
          <p:cNvSpPr/>
          <p:nvPr/>
        </p:nvSpPr>
        <p:spPr>
          <a:xfrm>
            <a:off x="6035040" y="3566160"/>
            <a:ext cx="1388962" cy="256032"/>
          </a:xfrm>
          <a:prstGeom prst="rect">
            <a:avLst/>
          </a:prstGeom>
          <a:solidFill>
            <a:srgbClr val="1565C0"/>
          </a:solidFill>
          <a:ln w="12700">
            <a:solidFill>
              <a:srgbClr val="000000"/>
            </a:solidFill>
            <a:prstDash val="solid"/>
          </a:ln>
        </p:spPr>
      </p:sp>
      <p:sp>
        <p:nvSpPr>
          <p:cNvPr id="68" name="Text 66"/>
          <p:cNvSpPr/>
          <p:nvPr/>
        </p:nvSpPr>
        <p:spPr>
          <a:xfrm>
            <a:off x="7469722" y="3566160"/>
            <a:ext cx="457200" cy="256032"/>
          </a:xfrm>
          <a:prstGeom prst="rect">
            <a:avLst/>
          </a:prstGeom>
          <a:noFill/>
          <a:ln/>
        </p:spPr>
        <p:txBody>
          <a:bodyPr wrap="square" rtlCol="0" anchor="ctr"/>
          <a:lstStyle/>
          <a:p>
            <a:pPr marL="0" indent="0">
              <a:buNone/>
            </a:pPr>
            <a:r>
              <a:rPr lang="en-US" sz="900" dirty="0">
                <a:solidFill>
                  <a:srgbClr val="37474F"/>
                </a:solidFill>
              </a:rPr>
              <a:t>0.075</a:t>
            </a:r>
            <a:endParaRPr lang="en-US" sz="900" dirty="0"/>
          </a:p>
        </p:txBody>
      </p:sp>
      <p:sp>
        <p:nvSpPr>
          <p:cNvPr id="69" name="Text 67"/>
          <p:cNvSpPr/>
          <p:nvPr/>
        </p:nvSpPr>
        <p:spPr>
          <a:xfrm>
            <a:off x="4754880" y="3941064"/>
            <a:ext cx="1234440" cy="274320"/>
          </a:xfrm>
          <a:prstGeom prst="rect">
            <a:avLst/>
          </a:prstGeom>
          <a:noFill/>
          <a:ln/>
        </p:spPr>
        <p:txBody>
          <a:bodyPr wrap="square" rtlCol="0" anchor="ctr"/>
          <a:lstStyle/>
          <a:p>
            <a:pPr marL="0" indent="0" algn="r">
              <a:buNone/>
            </a:pPr>
            <a:r>
              <a:rPr lang="en-US" sz="900" dirty="0">
                <a:solidFill>
                  <a:srgbClr val="37474F"/>
                </a:solidFill>
              </a:rPr>
              <a:t>Mean Abs Dev</a:t>
            </a:r>
            <a:endParaRPr lang="en-US" sz="900" dirty="0"/>
          </a:p>
        </p:txBody>
      </p:sp>
      <p:sp>
        <p:nvSpPr>
          <p:cNvPr id="70" name="Shape 68"/>
          <p:cNvSpPr/>
          <p:nvPr/>
        </p:nvSpPr>
        <p:spPr>
          <a:xfrm>
            <a:off x="6035040" y="3950208"/>
            <a:ext cx="1203767" cy="256032"/>
          </a:xfrm>
          <a:prstGeom prst="rect">
            <a:avLst/>
          </a:prstGeom>
          <a:solidFill>
            <a:srgbClr val="1565C0"/>
          </a:solidFill>
          <a:ln w="12700">
            <a:solidFill>
              <a:srgbClr val="000000"/>
            </a:solidFill>
            <a:prstDash val="solid"/>
          </a:ln>
        </p:spPr>
      </p:sp>
      <p:sp>
        <p:nvSpPr>
          <p:cNvPr id="71" name="Text 69"/>
          <p:cNvSpPr/>
          <p:nvPr/>
        </p:nvSpPr>
        <p:spPr>
          <a:xfrm>
            <a:off x="7284527" y="3950208"/>
            <a:ext cx="457200" cy="256032"/>
          </a:xfrm>
          <a:prstGeom prst="rect">
            <a:avLst/>
          </a:prstGeom>
          <a:noFill/>
          <a:ln/>
        </p:spPr>
        <p:txBody>
          <a:bodyPr wrap="square" rtlCol="0" anchor="ctr"/>
          <a:lstStyle/>
          <a:p>
            <a:pPr marL="0" indent="0">
              <a:buNone/>
            </a:pPr>
            <a:r>
              <a:rPr lang="en-US" sz="900" dirty="0">
                <a:solidFill>
                  <a:srgbClr val="37474F"/>
                </a:solidFill>
              </a:rPr>
              <a:t>0.065</a:t>
            </a:r>
            <a:endParaRPr lang="en-US" sz="900" dirty="0"/>
          </a:p>
        </p:txBody>
      </p:sp>
      <p:sp>
        <p:nvSpPr>
          <p:cNvPr id="72" name="Text 70"/>
          <p:cNvSpPr/>
          <p:nvPr/>
        </p:nvSpPr>
        <p:spPr>
          <a:xfrm>
            <a:off x="4754880" y="4325112"/>
            <a:ext cx="1234440" cy="274320"/>
          </a:xfrm>
          <a:prstGeom prst="rect">
            <a:avLst/>
          </a:prstGeom>
          <a:noFill/>
          <a:ln/>
        </p:spPr>
        <p:txBody>
          <a:bodyPr wrap="square" rtlCol="0" anchor="ctr"/>
          <a:lstStyle/>
          <a:p>
            <a:pPr marL="0" indent="0" algn="r">
              <a:buNone/>
            </a:pPr>
            <a:r>
              <a:rPr lang="en-US" sz="900" dirty="0">
                <a:solidFill>
                  <a:srgbClr val="37474F"/>
                </a:solidFill>
              </a:rPr>
              <a:t>Spectral Std</a:t>
            </a:r>
            <a:endParaRPr lang="en-US" sz="900" dirty="0"/>
          </a:p>
        </p:txBody>
      </p:sp>
      <p:sp>
        <p:nvSpPr>
          <p:cNvPr id="73" name="Shape 71"/>
          <p:cNvSpPr/>
          <p:nvPr/>
        </p:nvSpPr>
        <p:spPr>
          <a:xfrm>
            <a:off x="6035040" y="4334256"/>
            <a:ext cx="1018572" cy="256032"/>
          </a:xfrm>
          <a:prstGeom prst="rect">
            <a:avLst/>
          </a:prstGeom>
          <a:solidFill>
            <a:srgbClr val="1565C0"/>
          </a:solidFill>
          <a:ln w="12700">
            <a:solidFill>
              <a:srgbClr val="000000"/>
            </a:solidFill>
            <a:prstDash val="solid"/>
          </a:ln>
        </p:spPr>
      </p:sp>
      <p:sp>
        <p:nvSpPr>
          <p:cNvPr id="74" name="Text 72"/>
          <p:cNvSpPr/>
          <p:nvPr/>
        </p:nvSpPr>
        <p:spPr>
          <a:xfrm>
            <a:off x="7099332" y="4334256"/>
            <a:ext cx="457200" cy="256032"/>
          </a:xfrm>
          <a:prstGeom prst="rect">
            <a:avLst/>
          </a:prstGeom>
          <a:noFill/>
          <a:ln/>
        </p:spPr>
        <p:txBody>
          <a:bodyPr wrap="square" rtlCol="0" anchor="ctr"/>
          <a:lstStyle/>
          <a:p>
            <a:pPr marL="0" indent="0">
              <a:buNone/>
            </a:pPr>
            <a:r>
              <a:rPr lang="en-US" sz="900" dirty="0">
                <a:solidFill>
                  <a:srgbClr val="37474F"/>
                </a:solidFill>
              </a:rPr>
              <a:t>0.055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D2547"/>
          </a:solidFill>
          <a:ln w="12700">
            <a:solidFill>
              <a:srgbClr val="0D2547"/>
            </a:solidFill>
            <a:prstDash val="solid"/>
          </a:ln>
        </p:spPr>
      </p:sp>
      <p:sp>
        <p:nvSpPr>
          <p:cNvPr id="3" name="Shape 1"/>
          <p:cNvSpPr/>
          <p:nvPr/>
        </p:nvSpPr>
        <p:spPr>
          <a:xfrm>
            <a:off x="5486400" y="2743200"/>
            <a:ext cx="4572000" cy="4572000"/>
          </a:xfrm>
          <a:prstGeom prst="ellipse">
            <a:avLst/>
          </a:prstGeom>
          <a:solidFill>
            <a:srgbClr val="0D2547"/>
          </a:solidFill>
          <a:ln w="12700">
            <a:solidFill>
              <a:srgbClr val="0D2547"/>
            </a:solidFill>
            <a:prstDash val="solid"/>
          </a:ln>
        </p:spPr>
      </p:sp>
      <p:sp>
        <p:nvSpPr>
          <p:cNvPr id="4" name="Text 2"/>
          <p:cNvSpPr/>
          <p:nvPr/>
        </p:nvSpPr>
        <p:spPr>
          <a:xfrm>
            <a:off x="914400" y="274320"/>
            <a:ext cx="7315200" cy="64008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SUMMARY &amp;</a:t>
            </a:r>
            <a:endParaRPr lang="en-US" sz="4200" dirty="0"/>
          </a:p>
        </p:txBody>
      </p:sp>
      <p:sp>
        <p:nvSpPr>
          <p:cNvPr id="5" name="Text 3"/>
          <p:cNvSpPr/>
          <p:nvPr/>
        </p:nvSpPr>
        <p:spPr>
          <a:xfrm>
            <a:off x="914400" y="722376"/>
            <a:ext cx="7315200" cy="640080"/>
          </a:xfrm>
          <a:prstGeom prst="rect">
            <a:avLst/>
          </a:prstGeom>
          <a:noFill/>
          <a:ln/>
        </p:spPr>
        <p:txBody>
          <a:bodyPr wrap="square" rtlCol="0" anchor="ctr"/>
          <a:lstStyle/>
          <a:p>
            <a:pPr marL="0" indent="0" algn="ctr">
              <a:buNone/>
            </a:pPr>
            <a:r>
              <a:rPr lang="en-US" sz="4200" b="1" dirty="0">
                <a:solidFill>
                  <a:srgbClr val="00BCD4"/>
                </a:solidFill>
                <a:latin typeface="Calibri" pitchFamily="34" charset="0"/>
                <a:ea typeface="Calibri" pitchFamily="34" charset="-122"/>
                <a:cs typeface="Calibri" pitchFamily="34" charset="-120"/>
              </a:rPr>
              <a:t>CONCLUSION</a:t>
            </a:r>
            <a:endParaRPr lang="en-US" sz="4200" dirty="0"/>
          </a:p>
        </p:txBody>
      </p:sp>
      <p:sp>
        <p:nvSpPr>
          <p:cNvPr id="6" name="Shape 4"/>
          <p:cNvSpPr/>
          <p:nvPr/>
        </p:nvSpPr>
        <p:spPr>
          <a:xfrm>
            <a:off x="274320" y="1600200"/>
            <a:ext cx="4160520" cy="2697480"/>
          </a:xfrm>
          <a:prstGeom prst="rect">
            <a:avLst/>
          </a:prstGeom>
          <a:solidFill>
            <a:srgbClr val="0D2547"/>
          </a:solidFill>
          <a:ln w="12700">
            <a:solidFill>
              <a:srgbClr val="1E88E5"/>
            </a:solidFill>
            <a:prstDash val="solid"/>
          </a:ln>
        </p:spPr>
      </p:sp>
      <p:sp>
        <p:nvSpPr>
          <p:cNvPr id="7" name="Text 5"/>
          <p:cNvSpPr/>
          <p:nvPr/>
        </p:nvSpPr>
        <p:spPr>
          <a:xfrm>
            <a:off x="457200" y="1709928"/>
            <a:ext cx="3794760" cy="320040"/>
          </a:xfrm>
          <a:prstGeom prst="rect">
            <a:avLst/>
          </a:prstGeom>
          <a:noFill/>
          <a:ln/>
        </p:spPr>
        <p:txBody>
          <a:bodyPr wrap="square" rtlCol="0" anchor="ctr"/>
          <a:lstStyle/>
          <a:p>
            <a:pPr marL="0" indent="0">
              <a:buNone/>
            </a:pPr>
            <a:r>
              <a:rPr lang="en-US" sz="1100" b="1" kern="0" spc="200" dirty="0">
                <a:solidFill>
                  <a:srgbClr val="00BCD4"/>
                </a:solidFill>
              </a:rPr>
              <a:t>KEY ACHIEVEMENTS</a:t>
            </a:r>
            <a:endParaRPr lang="en-US" sz="1100" dirty="0"/>
          </a:p>
        </p:txBody>
      </p:sp>
      <p:sp>
        <p:nvSpPr>
          <p:cNvPr id="8" name="Shape 6"/>
          <p:cNvSpPr/>
          <p:nvPr/>
        </p:nvSpPr>
        <p:spPr>
          <a:xfrm>
            <a:off x="457200" y="2011680"/>
            <a:ext cx="3749040" cy="36576"/>
          </a:xfrm>
          <a:prstGeom prst="rect">
            <a:avLst/>
          </a:prstGeom>
          <a:solidFill>
            <a:srgbClr val="00BCD4"/>
          </a:solidFill>
          <a:ln w="12700">
            <a:solidFill>
              <a:srgbClr val="00BCD4"/>
            </a:solidFill>
            <a:prstDash val="solid"/>
          </a:ln>
        </p:spPr>
      </p:sp>
      <p:sp>
        <p:nvSpPr>
          <p:cNvPr id="9" name="Shape 7"/>
          <p:cNvSpPr/>
          <p:nvPr/>
        </p:nvSpPr>
        <p:spPr>
          <a:xfrm>
            <a:off x="457200" y="2148840"/>
            <a:ext cx="182880" cy="182880"/>
          </a:xfrm>
          <a:prstGeom prst="ellipse">
            <a:avLst/>
          </a:prstGeom>
          <a:solidFill>
            <a:srgbClr val="00897B"/>
          </a:solidFill>
          <a:ln w="12700">
            <a:solidFill>
              <a:srgbClr val="00897B"/>
            </a:solidFill>
            <a:prstDash val="solid"/>
          </a:ln>
        </p:spPr>
      </p:sp>
      <p:sp>
        <p:nvSpPr>
          <p:cNvPr id="10" name="Text 8"/>
          <p:cNvSpPr/>
          <p:nvPr/>
        </p:nvSpPr>
        <p:spPr>
          <a:xfrm>
            <a:off x="71323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Integrated mechanical vibration analysis with explainable ML pipeline</a:t>
            </a:r>
            <a:endParaRPr lang="en-US" sz="1000" dirty="0"/>
          </a:p>
        </p:txBody>
      </p:sp>
      <p:sp>
        <p:nvSpPr>
          <p:cNvPr id="11" name="Shape 9"/>
          <p:cNvSpPr/>
          <p:nvPr/>
        </p:nvSpPr>
        <p:spPr>
          <a:xfrm>
            <a:off x="457200" y="2660904"/>
            <a:ext cx="182880" cy="182880"/>
          </a:xfrm>
          <a:prstGeom prst="ellipse">
            <a:avLst/>
          </a:prstGeom>
          <a:solidFill>
            <a:srgbClr val="00897B"/>
          </a:solidFill>
          <a:ln w="12700">
            <a:solidFill>
              <a:srgbClr val="00897B"/>
            </a:solidFill>
            <a:prstDash val="solid"/>
          </a:ln>
        </p:spPr>
      </p:sp>
      <p:sp>
        <p:nvSpPr>
          <p:cNvPr id="12" name="Text 10"/>
          <p:cNvSpPr/>
          <p:nvPr/>
        </p:nvSpPr>
        <p:spPr>
          <a:xfrm>
            <a:off x="71323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Developed practical tool bridging academia and industry deployment</a:t>
            </a:r>
            <a:endParaRPr lang="en-US" sz="1000" dirty="0"/>
          </a:p>
        </p:txBody>
      </p:sp>
      <p:sp>
        <p:nvSpPr>
          <p:cNvPr id="13" name="Shape 11"/>
          <p:cNvSpPr/>
          <p:nvPr/>
        </p:nvSpPr>
        <p:spPr>
          <a:xfrm>
            <a:off x="457200" y="3172968"/>
            <a:ext cx="182880" cy="182880"/>
          </a:xfrm>
          <a:prstGeom prst="ellipse">
            <a:avLst/>
          </a:prstGeom>
          <a:solidFill>
            <a:srgbClr val="00897B"/>
          </a:solidFill>
          <a:ln w="12700">
            <a:solidFill>
              <a:srgbClr val="00897B"/>
            </a:solidFill>
            <a:prstDash val="solid"/>
          </a:ln>
        </p:spPr>
      </p:sp>
      <p:sp>
        <p:nvSpPr>
          <p:cNvPr id="14" name="Text 12"/>
          <p:cNvSpPr/>
          <p:nvPr/>
        </p:nvSpPr>
        <p:spPr>
          <a:xfrm>
            <a:off x="71323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97.59% accuracy with Random Forest on CWRU benchmark dataset</a:t>
            </a:r>
            <a:endParaRPr lang="en-US" sz="1000" dirty="0"/>
          </a:p>
        </p:txBody>
      </p:sp>
      <p:sp>
        <p:nvSpPr>
          <p:cNvPr id="15" name="Shape 13"/>
          <p:cNvSpPr/>
          <p:nvPr/>
        </p:nvSpPr>
        <p:spPr>
          <a:xfrm>
            <a:off x="457200" y="3685032"/>
            <a:ext cx="182880" cy="182880"/>
          </a:xfrm>
          <a:prstGeom prst="ellipse">
            <a:avLst/>
          </a:prstGeom>
          <a:solidFill>
            <a:srgbClr val="00897B"/>
          </a:solidFill>
          <a:ln w="12700">
            <a:solidFill>
              <a:srgbClr val="00897B"/>
            </a:solidFill>
            <a:prstDash val="solid"/>
          </a:ln>
        </p:spPr>
      </p:sp>
      <p:sp>
        <p:nvSpPr>
          <p:cNvPr id="16" name="Text 14"/>
          <p:cNvSpPr/>
          <p:nvPr/>
        </p:nvSpPr>
        <p:spPr>
          <a:xfrm>
            <a:off x="71323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Interactive Streamlit dashboard for live inference &amp; demo</a:t>
            </a:r>
            <a:endParaRPr lang="en-US" sz="1000" dirty="0"/>
          </a:p>
        </p:txBody>
      </p:sp>
      <p:sp>
        <p:nvSpPr>
          <p:cNvPr id="17" name="Shape 15"/>
          <p:cNvSpPr/>
          <p:nvPr/>
        </p:nvSpPr>
        <p:spPr>
          <a:xfrm>
            <a:off x="4709160" y="1600200"/>
            <a:ext cx="4160520" cy="2697480"/>
          </a:xfrm>
          <a:prstGeom prst="rect">
            <a:avLst/>
          </a:prstGeom>
          <a:solidFill>
            <a:srgbClr val="0D2547"/>
          </a:solidFill>
          <a:ln w="12700">
            <a:solidFill>
              <a:srgbClr val="FF6F00"/>
            </a:solidFill>
            <a:prstDash val="solid"/>
          </a:ln>
        </p:spPr>
      </p:sp>
      <p:sp>
        <p:nvSpPr>
          <p:cNvPr id="18" name="Text 16"/>
          <p:cNvSpPr/>
          <p:nvPr/>
        </p:nvSpPr>
        <p:spPr>
          <a:xfrm>
            <a:off x="4892040" y="1709928"/>
            <a:ext cx="3794760" cy="320040"/>
          </a:xfrm>
          <a:prstGeom prst="rect">
            <a:avLst/>
          </a:prstGeom>
          <a:noFill/>
          <a:ln/>
        </p:spPr>
        <p:txBody>
          <a:bodyPr wrap="square" rtlCol="0" anchor="ctr"/>
          <a:lstStyle/>
          <a:p>
            <a:pPr marL="0" indent="0">
              <a:buNone/>
            </a:pPr>
            <a:r>
              <a:rPr lang="en-US" sz="1100" b="1" kern="0" spc="200" dirty="0">
                <a:solidFill>
                  <a:srgbClr val="FF6F00"/>
                </a:solidFill>
              </a:rPr>
              <a:t>FUTURE SCOPE</a:t>
            </a:r>
            <a:endParaRPr lang="en-US" sz="1100" dirty="0"/>
          </a:p>
        </p:txBody>
      </p:sp>
      <p:sp>
        <p:nvSpPr>
          <p:cNvPr id="19" name="Shape 17"/>
          <p:cNvSpPr/>
          <p:nvPr/>
        </p:nvSpPr>
        <p:spPr>
          <a:xfrm>
            <a:off x="4892040" y="2011680"/>
            <a:ext cx="3749040" cy="36576"/>
          </a:xfrm>
          <a:prstGeom prst="rect">
            <a:avLst/>
          </a:prstGeom>
          <a:solidFill>
            <a:srgbClr val="FF6F00"/>
          </a:solidFill>
          <a:ln w="12700">
            <a:solidFill>
              <a:srgbClr val="FF6F00"/>
            </a:solidFill>
            <a:prstDash val="solid"/>
          </a:ln>
        </p:spPr>
      </p:sp>
      <p:sp>
        <p:nvSpPr>
          <p:cNvPr id="20" name="Shape 18"/>
          <p:cNvSpPr/>
          <p:nvPr/>
        </p:nvSpPr>
        <p:spPr>
          <a:xfrm>
            <a:off x="4892040" y="2148840"/>
            <a:ext cx="182880" cy="164592"/>
          </a:xfrm>
          <a:prstGeom prst="rect">
            <a:avLst/>
          </a:prstGeom>
          <a:solidFill>
            <a:srgbClr val="FF6F00"/>
          </a:solidFill>
          <a:ln w="12700">
            <a:solidFill>
              <a:srgbClr val="FF6F00"/>
            </a:solidFill>
            <a:prstDash val="solid"/>
          </a:ln>
        </p:spPr>
      </p:sp>
      <p:sp>
        <p:nvSpPr>
          <p:cNvPr id="21" name="Text 19"/>
          <p:cNvSpPr/>
          <p:nvPr/>
        </p:nvSpPr>
        <p:spPr>
          <a:xfrm>
            <a:off x="514807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Validate on additional industrial real-world datasets</a:t>
            </a:r>
            <a:endParaRPr lang="en-US" sz="1000" dirty="0"/>
          </a:p>
        </p:txBody>
      </p:sp>
      <p:sp>
        <p:nvSpPr>
          <p:cNvPr id="22" name="Shape 20"/>
          <p:cNvSpPr/>
          <p:nvPr/>
        </p:nvSpPr>
        <p:spPr>
          <a:xfrm>
            <a:off x="4892040" y="2660904"/>
            <a:ext cx="182880" cy="164592"/>
          </a:xfrm>
          <a:prstGeom prst="rect">
            <a:avLst/>
          </a:prstGeom>
          <a:solidFill>
            <a:srgbClr val="FF6F00"/>
          </a:solidFill>
          <a:ln w="12700">
            <a:solidFill>
              <a:srgbClr val="FF6F00"/>
            </a:solidFill>
            <a:prstDash val="solid"/>
          </a:ln>
        </p:spPr>
      </p:sp>
      <p:sp>
        <p:nvSpPr>
          <p:cNvPr id="23" name="Text 21"/>
          <p:cNvSpPr/>
          <p:nvPr/>
        </p:nvSpPr>
        <p:spPr>
          <a:xfrm>
            <a:off x="514807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Extend to XGBoost, 1D-CNN for higher accuracy</a:t>
            </a:r>
            <a:endParaRPr lang="en-US" sz="1000" dirty="0"/>
          </a:p>
        </p:txBody>
      </p:sp>
      <p:sp>
        <p:nvSpPr>
          <p:cNvPr id="24" name="Shape 22"/>
          <p:cNvSpPr/>
          <p:nvPr/>
        </p:nvSpPr>
        <p:spPr>
          <a:xfrm>
            <a:off x="4892040" y="3172968"/>
            <a:ext cx="182880" cy="164592"/>
          </a:xfrm>
          <a:prstGeom prst="rect">
            <a:avLst/>
          </a:prstGeom>
          <a:solidFill>
            <a:srgbClr val="FF6F00"/>
          </a:solidFill>
          <a:ln w="12700">
            <a:solidFill>
              <a:srgbClr val="FF6F00"/>
            </a:solidFill>
            <a:prstDash val="solid"/>
          </a:ln>
        </p:spPr>
      </p:sp>
      <p:sp>
        <p:nvSpPr>
          <p:cNvPr id="25" name="Text 23"/>
          <p:cNvSpPr/>
          <p:nvPr/>
        </p:nvSpPr>
        <p:spPr>
          <a:xfrm>
            <a:off x="514807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Fault severity estimation and remaining useful life (RUL)</a:t>
            </a:r>
            <a:endParaRPr lang="en-US" sz="1000" dirty="0"/>
          </a:p>
        </p:txBody>
      </p:sp>
      <p:sp>
        <p:nvSpPr>
          <p:cNvPr id="26" name="Shape 24"/>
          <p:cNvSpPr/>
          <p:nvPr/>
        </p:nvSpPr>
        <p:spPr>
          <a:xfrm>
            <a:off x="4892040" y="3685032"/>
            <a:ext cx="182880" cy="164592"/>
          </a:xfrm>
          <a:prstGeom prst="rect">
            <a:avLst/>
          </a:prstGeom>
          <a:solidFill>
            <a:srgbClr val="FF6F00"/>
          </a:solidFill>
          <a:ln w="12700">
            <a:solidFill>
              <a:srgbClr val="FF6F00"/>
            </a:solidFill>
            <a:prstDash val="solid"/>
          </a:ln>
        </p:spPr>
      </p:sp>
      <p:sp>
        <p:nvSpPr>
          <p:cNvPr id="27" name="Text 25"/>
          <p:cNvSpPr/>
          <p:nvPr/>
        </p:nvSpPr>
        <p:spPr>
          <a:xfrm>
            <a:off x="514807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Deployment on edge computing IoT devices</a:t>
            </a:r>
            <a:endParaRPr lang="en-US" sz="1000" dirty="0"/>
          </a:p>
        </p:txBody>
      </p:sp>
      <p:sp>
        <p:nvSpPr>
          <p:cNvPr id="28" name="Shape 26"/>
          <p:cNvSpPr/>
          <p:nvPr/>
        </p:nvSpPr>
        <p:spPr>
          <a:xfrm>
            <a:off x="0" y="4480560"/>
            <a:ext cx="9144000" cy="662940"/>
          </a:xfrm>
          <a:prstGeom prst="rect">
            <a:avLst/>
          </a:prstGeom>
          <a:solidFill>
            <a:srgbClr val="061020"/>
          </a:solidFill>
          <a:ln w="12700">
            <a:solidFill>
              <a:srgbClr val="061020"/>
            </a:solidFill>
            <a:prstDash val="solid"/>
          </a:ln>
        </p:spPr>
      </p:sp>
      <p:sp>
        <p:nvSpPr>
          <p:cNvPr id="29" name="Text 27"/>
          <p:cNvSpPr/>
          <p:nvPr/>
        </p:nvSpPr>
        <p:spPr>
          <a:xfrm>
            <a:off x="457200" y="4544568"/>
            <a:ext cx="8229600" cy="347472"/>
          </a:xfrm>
          <a:prstGeom prst="rect">
            <a:avLst/>
          </a:prstGeom>
          <a:noFill/>
          <a:ln/>
        </p:spPr>
        <p:txBody>
          <a:bodyPr wrap="square" rtlCol="0" anchor="ctr"/>
          <a:lstStyle/>
          <a:p>
            <a:pPr marL="0" indent="0" algn="ctr">
              <a:buNone/>
            </a:pPr>
            <a:r>
              <a:rPr lang="en-US" sz="1600" b="1" dirty="0">
                <a:solidFill>
                  <a:srgbClr val="00BCD4"/>
                </a:solidFill>
              </a:rPr>
              <a:t>Thank You for Your Attention!</a:t>
            </a:r>
            <a:endParaRPr lang="en-US" sz="1600" dirty="0"/>
          </a:p>
        </p:txBody>
      </p:sp>
      <p:sp>
        <p:nvSpPr>
          <p:cNvPr id="30" name="Text 28"/>
          <p:cNvSpPr/>
          <p:nvPr/>
        </p:nvSpPr>
        <p:spPr>
          <a:xfrm>
            <a:off x="457200" y="4828032"/>
            <a:ext cx="8229600" cy="228600"/>
          </a:xfrm>
          <a:prstGeom prst="rect">
            <a:avLst/>
          </a:prstGeom>
          <a:noFill/>
          <a:ln/>
        </p:spPr>
        <p:txBody>
          <a:bodyPr wrap="square" rtlCol="0" anchor="ctr"/>
          <a:lstStyle/>
          <a:p>
            <a:pPr marL="0" indent="0" algn="ctr">
              <a:buNone/>
            </a:pPr>
            <a:r>
              <a:rPr lang="en-US" sz="900" dirty="0">
                <a:solidFill>
                  <a:srgbClr val="8ECAE6"/>
                </a:solidFill>
              </a:rPr>
              <a:t>Pradeep Modak &amp; Ashwini Kumar  |  Dept. of Mechanical Engineering, NIT Jamshedpur  |  April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EB9434AF-FD83-CA1B-8D0F-FB44F21336FF}"/>
                  </a:ext>
                </a:extLst>
              </p14:cNvPr>
              <p14:cNvContentPartPr/>
              <p14:nvPr/>
            </p14:nvContentPartPr>
            <p14:xfrm>
              <a:off x="7457253" y="1347827"/>
              <a:ext cx="360" cy="360"/>
            </p14:xfrm>
          </p:contentPart>
        </mc:Choice>
        <mc:Fallback xmlns="">
          <p:pic>
            <p:nvPicPr>
              <p:cNvPr id="6" name="Ink 5">
                <a:extLst>
                  <a:ext uri="{FF2B5EF4-FFF2-40B4-BE49-F238E27FC236}">
                    <a16:creationId xmlns:a16="http://schemas.microsoft.com/office/drawing/2014/main" id="{EB9434AF-FD83-CA1B-8D0F-FB44F21336FF}"/>
                  </a:ext>
                </a:extLst>
              </p:cNvPr>
              <p:cNvPicPr/>
              <p:nvPr/>
            </p:nvPicPr>
            <p:blipFill>
              <a:blip r:embed="rId3"/>
              <a:stretch>
                <a:fillRect/>
              </a:stretch>
            </p:blipFill>
            <p:spPr>
              <a:xfrm>
                <a:off x="7451133" y="1341707"/>
                <a:ext cx="12600" cy="12600"/>
              </a:xfrm>
              <a:prstGeom prst="rect">
                <a:avLst/>
              </a:prstGeom>
            </p:spPr>
          </p:pic>
        </mc:Fallback>
      </mc:AlternateContent>
      <p:sp>
        <p:nvSpPr>
          <p:cNvPr id="8" name="TextBox 7">
            <a:extLst>
              <a:ext uri="{FF2B5EF4-FFF2-40B4-BE49-F238E27FC236}">
                <a16:creationId xmlns:a16="http://schemas.microsoft.com/office/drawing/2014/main" id="{E77B9DFE-D00C-BA3D-EF4A-065C02EF6D2E}"/>
              </a:ext>
            </a:extLst>
          </p:cNvPr>
          <p:cNvSpPr txBox="1"/>
          <p:nvPr/>
        </p:nvSpPr>
        <p:spPr>
          <a:xfrm>
            <a:off x="1396800" y="597600"/>
            <a:ext cx="2983509" cy="738664"/>
          </a:xfrm>
          <a:prstGeom prst="rect">
            <a:avLst/>
          </a:prstGeom>
          <a:noFill/>
        </p:spPr>
        <p:txBody>
          <a:bodyPr wrap="none" rtlCol="0">
            <a:spAutoFit/>
          </a:bodyPr>
          <a:lstStyle/>
          <a:p>
            <a:r>
              <a:rPr lang="en-US" sz="4200" b="1" dirty="0">
                <a:latin typeface="Calibri" panose="020F0502020204030204" pitchFamily="34" charset="0"/>
                <a:ea typeface="Calibri" panose="020F0502020204030204" pitchFamily="34" charset="0"/>
                <a:cs typeface="Calibri" panose="020F0502020204030204" pitchFamily="34" charset="0"/>
              </a:rPr>
              <a:t>REFERENCES</a:t>
            </a:r>
            <a:endParaRPr lang="en-IN" sz="4200" b="1"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37CFE2F5-6099-FF37-1934-849F2B34F02E}"/>
              </a:ext>
            </a:extLst>
          </p:cNvPr>
          <p:cNvSpPr txBox="1"/>
          <p:nvPr/>
        </p:nvSpPr>
        <p:spPr>
          <a:xfrm>
            <a:off x="1123200" y="1735920"/>
            <a:ext cx="7732800" cy="2123658"/>
          </a:xfrm>
          <a:prstGeom prst="rect">
            <a:avLst/>
          </a:prstGeom>
          <a:noFill/>
        </p:spPr>
        <p:txBody>
          <a:bodyPr wrap="square" rtlCol="0">
            <a:spAutoFit/>
          </a:bodyPr>
          <a:lstStyle/>
          <a:p>
            <a:r>
              <a:rPr lang="en-IN" sz="1200" dirty="0">
                <a:solidFill>
                  <a:schemeClr val="bg2">
                    <a:lumMod val="60000"/>
                    <a:lumOff val="40000"/>
                  </a:schemeClr>
                </a:solidFill>
              </a:rPr>
              <a:t>1.Case Western Reserve University Bearing Data </a:t>
            </a:r>
            <a:r>
              <a:rPr lang="en-IN" sz="1200" dirty="0" err="1">
                <a:solidFill>
                  <a:schemeClr val="bg2">
                    <a:lumMod val="60000"/>
                    <a:lumOff val="40000"/>
                  </a:schemeClr>
                </a:solidFill>
              </a:rPr>
              <a:t>Center</a:t>
            </a:r>
            <a:r>
              <a:rPr lang="en-IN" sz="1200" dirty="0">
                <a:solidFill>
                  <a:schemeClr val="bg2">
                    <a:lumMod val="60000"/>
                    <a:lumOff val="40000"/>
                  </a:schemeClr>
                </a:solidFill>
              </a:rPr>
              <a:t>, Bearing vibration data </a:t>
            </a:r>
            <a:r>
              <a:rPr lang="en-IN" sz="1200" dirty="0" err="1">
                <a:solidFill>
                  <a:schemeClr val="bg2">
                    <a:lumMod val="60000"/>
                    <a:lumOff val="40000"/>
                  </a:schemeClr>
                </a:solidFill>
              </a:rPr>
              <a:t>repository,https</a:t>
            </a:r>
            <a:r>
              <a:rPr lang="en-IN" sz="1200" dirty="0">
                <a:solidFill>
                  <a:schemeClr val="bg2">
                    <a:lumMod val="60000"/>
                    <a:lumOff val="40000"/>
                  </a:schemeClr>
                </a:solidFill>
              </a:rPr>
              <a:t>://engineering.case.edu/</a:t>
            </a:r>
            <a:r>
              <a:rPr lang="en-IN" sz="1200" dirty="0" err="1">
                <a:solidFill>
                  <a:schemeClr val="bg2">
                    <a:lumMod val="60000"/>
                    <a:lumOff val="40000"/>
                  </a:schemeClr>
                </a:solidFill>
              </a:rPr>
              <a:t>bearingdatacenter</a:t>
            </a:r>
            <a:endParaRPr lang="en-IN" sz="1200" dirty="0">
              <a:solidFill>
                <a:schemeClr val="bg2">
                  <a:lumMod val="60000"/>
                  <a:lumOff val="40000"/>
                </a:schemeClr>
              </a:solidFill>
            </a:endParaRPr>
          </a:p>
          <a:p>
            <a:r>
              <a:rPr lang="en-IN" sz="1200" dirty="0">
                <a:solidFill>
                  <a:schemeClr val="bg2">
                    <a:lumMod val="60000"/>
                    <a:lumOff val="40000"/>
                  </a:schemeClr>
                </a:solidFill>
                <a:highlight>
                  <a:srgbClr val="000000"/>
                </a:highlight>
              </a:rPr>
              <a:t>2 P. K. </a:t>
            </a:r>
            <a:r>
              <a:rPr lang="en-IN" sz="1200" dirty="0" err="1">
                <a:solidFill>
                  <a:schemeClr val="bg2">
                    <a:lumMod val="60000"/>
                    <a:lumOff val="40000"/>
                  </a:schemeClr>
                </a:solidFill>
                <a:highlight>
                  <a:srgbClr val="000000"/>
                </a:highlight>
              </a:rPr>
              <a:t>Kankar</a:t>
            </a:r>
            <a:r>
              <a:rPr lang="en-IN" sz="1200" dirty="0">
                <a:solidFill>
                  <a:schemeClr val="bg2">
                    <a:lumMod val="60000"/>
                    <a:lumOff val="40000"/>
                  </a:schemeClr>
                </a:solidFill>
                <a:highlight>
                  <a:srgbClr val="000000"/>
                </a:highlight>
              </a:rPr>
              <a:t>, S. C. Sharma, S. P. Harsha, Fault diagnosis of ball bearings using machine learning methods, Expert Systems with Applications, 2011 https://www.researchgate.net/publication/220220016_Fault_diagnosis_of_ball_bearings_using_machine_learning_methods</a:t>
            </a:r>
          </a:p>
          <a:p>
            <a:r>
              <a:rPr lang="en-IN" sz="1200" dirty="0">
                <a:solidFill>
                  <a:schemeClr val="bg2">
                    <a:lumMod val="60000"/>
                    <a:lumOff val="40000"/>
                  </a:schemeClr>
                </a:solidFill>
              </a:rPr>
              <a:t>3 C. S. Rajeswari, S. Sathiyabama, S. Devendiran, Bearing fault diagnosis using wavelet packet transform, hybrid PSO and support vector machine, Procedia Engineering, 2014. </a:t>
            </a:r>
            <a:r>
              <a:rPr lang="en-IN" sz="1200" dirty="0">
                <a:hlinkClick r:id="rId4"/>
              </a:rPr>
              <a:t>https://www.researchgate.net/publication/275540896_Bearing_Fault_Diagnosis_using_Wavelet_Packet_Transform_Hybrid_PSO_and_Support_Vector_Machine</a:t>
            </a:r>
            <a:endParaRPr lang="en-IN" sz="1200" dirty="0"/>
          </a:p>
          <a:p>
            <a:r>
              <a:rPr lang="en-IN" sz="1200" dirty="0">
                <a:solidFill>
                  <a:schemeClr val="bg2">
                    <a:lumMod val="60000"/>
                    <a:lumOff val="40000"/>
                  </a:schemeClr>
                </a:solidFill>
              </a:rPr>
              <a:t>4. </a:t>
            </a:r>
            <a:r>
              <a:rPr lang="en-IN" sz="1200" dirty="0" err="1">
                <a:solidFill>
                  <a:schemeClr val="bg2">
                    <a:lumMod val="60000"/>
                    <a:lumOff val="40000"/>
                  </a:schemeClr>
                </a:solidFill>
              </a:rPr>
              <a:t>Streamlit</a:t>
            </a:r>
            <a:r>
              <a:rPr lang="en-IN" sz="1200" dirty="0">
                <a:solidFill>
                  <a:schemeClr val="bg2">
                    <a:lumMod val="60000"/>
                    <a:lumOff val="40000"/>
                  </a:schemeClr>
                </a:solidFill>
              </a:rPr>
              <a:t> documentation https://docs.streamlit.io/</a:t>
            </a:r>
          </a:p>
        </p:txBody>
      </p:sp>
    </p:spTree>
    <p:extLst>
      <p:ext uri="{BB962C8B-B14F-4D97-AF65-F5344CB8AC3E}">
        <p14:creationId xmlns:p14="http://schemas.microsoft.com/office/powerpoint/2010/main" val="3717431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79625E96-62E1-BD5F-7704-722BADDBF1A5}"/>
              </a:ext>
            </a:extLst>
          </p:cNvPr>
          <p:cNvSpPr/>
          <p:nvPr/>
        </p:nvSpPr>
        <p:spPr>
          <a:xfrm>
            <a:off x="365760" y="1097280"/>
            <a:ext cx="8412480" cy="1097280"/>
          </a:xfrm>
          <a:prstGeom prst="rect">
            <a:avLst/>
          </a:prstGeom>
          <a:noFill/>
          <a:ln/>
        </p:spPr>
        <p:txBody>
          <a:bodyPr wrap="square"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3" name="Text 4">
            <a:extLst>
              <a:ext uri="{FF2B5EF4-FFF2-40B4-BE49-F238E27FC236}">
                <a16:creationId xmlns:a16="http://schemas.microsoft.com/office/drawing/2014/main" id="{07B57C81-F72D-A4E4-4BC3-1B5E7ECE20CB}"/>
              </a:ext>
            </a:extLst>
          </p:cNvPr>
          <p:cNvSpPr/>
          <p:nvPr/>
        </p:nvSpPr>
        <p:spPr>
          <a:xfrm>
            <a:off x="365760" y="2240280"/>
            <a:ext cx="8412480" cy="548640"/>
          </a:xfrm>
          <a:prstGeom prst="rect">
            <a:avLst/>
          </a:prstGeom>
          <a:noFill/>
          <a:ln/>
        </p:spPr>
        <p:txBody>
          <a:bodyPr wrap="square" rtlCol="0" anchor="ctr"/>
          <a:lstStyle/>
          <a:p>
            <a:pPr marL="0" indent="0">
              <a:buNone/>
            </a:pPr>
            <a:r>
              <a:rPr lang="en-US" sz="2200" dirty="0">
                <a:solidFill>
                  <a:srgbClr val="00C9D4"/>
                </a:solidFill>
                <a:latin typeface="Calibri" pitchFamily="34" charset="0"/>
                <a:ea typeface="Calibri" pitchFamily="34" charset="-122"/>
                <a:cs typeface="Calibri" pitchFamily="34" charset="-120"/>
              </a:rPr>
              <a:t>Questions &amp; Discussion</a:t>
            </a:r>
            <a:endParaRPr lang="en-US" sz="2200" dirty="0"/>
          </a:p>
        </p:txBody>
      </p:sp>
      <p:sp>
        <p:nvSpPr>
          <p:cNvPr id="4" name="Shape 5">
            <a:extLst>
              <a:ext uri="{FF2B5EF4-FFF2-40B4-BE49-F238E27FC236}">
                <a16:creationId xmlns:a16="http://schemas.microsoft.com/office/drawing/2014/main" id="{6EFC6F50-4E4D-3805-518E-8089F47FBC4F}"/>
              </a:ext>
            </a:extLst>
          </p:cNvPr>
          <p:cNvSpPr/>
          <p:nvPr/>
        </p:nvSpPr>
        <p:spPr>
          <a:xfrm>
            <a:off x="365760" y="2834640"/>
            <a:ext cx="4572000" cy="27432"/>
          </a:xfrm>
          <a:prstGeom prst="rect">
            <a:avLst/>
          </a:prstGeom>
          <a:solidFill>
            <a:srgbClr val="148A9C"/>
          </a:solidFill>
          <a:ln/>
        </p:spPr>
        <p:txBody>
          <a:bodyPr/>
          <a:lstStyle/>
          <a:p>
            <a:endParaRPr/>
          </a:p>
        </p:txBody>
      </p:sp>
      <p:sp>
        <p:nvSpPr>
          <p:cNvPr id="5" name="Text 6">
            <a:extLst>
              <a:ext uri="{FF2B5EF4-FFF2-40B4-BE49-F238E27FC236}">
                <a16:creationId xmlns:a16="http://schemas.microsoft.com/office/drawing/2014/main" id="{FDAC5B15-4E01-B36F-3C94-89AEC01CAAE6}"/>
              </a:ext>
            </a:extLst>
          </p:cNvPr>
          <p:cNvSpPr/>
          <p:nvPr/>
        </p:nvSpPr>
        <p:spPr>
          <a:xfrm>
            <a:off x="365760" y="2971800"/>
            <a:ext cx="84124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Ashwini Kumar (2023UGCM004)  | Pradeep Modak (2023UGCM026)</a:t>
            </a:r>
            <a:endParaRPr lang="en-US" sz="1300" dirty="0"/>
          </a:p>
        </p:txBody>
      </p:sp>
      <p:sp>
        <p:nvSpPr>
          <p:cNvPr id="6" name="Text 7">
            <a:extLst>
              <a:ext uri="{FF2B5EF4-FFF2-40B4-BE49-F238E27FC236}">
                <a16:creationId xmlns:a16="http://schemas.microsoft.com/office/drawing/2014/main" id="{F6E2B91B-3357-DFCA-57EF-A782ACADC0B5}"/>
              </a:ext>
            </a:extLst>
          </p:cNvPr>
          <p:cNvSpPr/>
          <p:nvPr/>
        </p:nvSpPr>
        <p:spPr>
          <a:xfrm>
            <a:off x="365760" y="3337560"/>
            <a:ext cx="8412480" cy="274320"/>
          </a:xfrm>
          <a:prstGeom prst="rect">
            <a:avLst/>
          </a:prstGeom>
          <a:noFill/>
          <a:ln/>
        </p:spPr>
        <p:txBody>
          <a:bodyPr wrap="square" rtlCol="0" anchor="ctr"/>
          <a:lstStyle/>
          <a:p>
            <a:pPr marL="0" indent="0">
              <a:buNone/>
            </a:pPr>
            <a:r>
              <a:rPr lang="en-US" sz="1150" dirty="0">
                <a:solidFill>
                  <a:srgbClr val="A0C4CF"/>
                </a:solidFill>
                <a:latin typeface="Calibri" pitchFamily="34" charset="0"/>
                <a:ea typeface="Calibri" pitchFamily="34" charset="-122"/>
                <a:cs typeface="Calibri" pitchFamily="34" charset="-120"/>
              </a:rPr>
              <a:t>Supervisors: Dr. Saroj Kumar Sarangi  |  Dr. Abhijit Dey</a:t>
            </a:r>
            <a:endParaRPr lang="en-US" sz="1150" dirty="0"/>
          </a:p>
        </p:txBody>
      </p:sp>
      <p:sp>
        <p:nvSpPr>
          <p:cNvPr id="7" name="Text 8">
            <a:extLst>
              <a:ext uri="{FF2B5EF4-FFF2-40B4-BE49-F238E27FC236}">
                <a16:creationId xmlns:a16="http://schemas.microsoft.com/office/drawing/2014/main" id="{972E8628-FBF6-B3CD-C421-48AAF36D0C79}"/>
              </a:ext>
            </a:extLst>
          </p:cNvPr>
          <p:cNvSpPr/>
          <p:nvPr/>
        </p:nvSpPr>
        <p:spPr>
          <a:xfrm>
            <a:off x="365760" y="4709160"/>
            <a:ext cx="8412480" cy="256032"/>
          </a:xfrm>
          <a:prstGeom prst="rect">
            <a:avLst/>
          </a:prstGeom>
          <a:noFill/>
          <a:ln/>
        </p:spPr>
        <p:txBody>
          <a:bodyPr wrap="square" rtlCol="0" anchor="ctr"/>
          <a:lstStyle/>
          <a:p>
            <a:pPr marL="0" indent="0">
              <a:buNone/>
            </a:pPr>
            <a:r>
              <a:rPr lang="en-US" sz="1000" dirty="0">
                <a:solidFill>
                  <a:srgbClr val="607D8B"/>
                </a:solidFill>
                <a:latin typeface="Calibri" pitchFamily="34" charset="0"/>
                <a:ea typeface="Calibri" pitchFamily="34" charset="-122"/>
                <a:cs typeface="Calibri" pitchFamily="34" charset="-120"/>
              </a:rPr>
              <a:t>NIT Jamshedpur · Dept. of Mechanical Engineering · April 2026</a:t>
            </a:r>
            <a:endParaRPr lang="en-US" sz="1000" dirty="0"/>
          </a:p>
        </p:txBody>
      </p:sp>
    </p:spTree>
    <p:extLst>
      <p:ext uri="{BB962C8B-B14F-4D97-AF65-F5344CB8AC3E}">
        <p14:creationId xmlns:p14="http://schemas.microsoft.com/office/powerpoint/2010/main" val="26129311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57</TotalTime>
  <Words>1361</Words>
  <Application>Microsoft Office PowerPoint</Application>
  <PresentationFormat>On-screen Show (16:9)</PresentationFormat>
  <Paragraphs>294</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Bearing Fault Diagnosis</dc:title>
  <dc:subject>PptxGenJS Presentation</dc:subject>
  <dc:creator>PptxGenJS</dc:creator>
  <cp:lastModifiedBy>Pradeep Modak</cp:lastModifiedBy>
  <cp:revision>5</cp:revision>
  <dcterms:created xsi:type="dcterms:W3CDTF">2026-04-27T05:25:31Z</dcterms:created>
  <dcterms:modified xsi:type="dcterms:W3CDTF">2026-04-28T03:24:50Z</dcterms:modified>
</cp:coreProperties>
</file>