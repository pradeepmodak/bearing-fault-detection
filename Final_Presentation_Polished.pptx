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5"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wini Kumar  chandravanshi" initials="AK" lastIdx="1" clrIdx="0">
    <p:extLst>
      <p:ext uri="{19B8F6BF-5375-455C-9EA6-DF929625EA0E}">
        <p15:presenceInfo xmlns:p15="http://schemas.microsoft.com/office/powerpoint/2012/main" userId="b78799a2d4b50b0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10" autoAdjust="0"/>
  </p:normalViewPr>
  <p:slideViewPr>
    <p:cSldViewPr snapToGrid="0" snapToObjects="1">
      <p:cViewPr varScale="1">
        <p:scale>
          <a:sx n="106" d="100"/>
          <a:sy n="106" d="100"/>
        </p:scale>
        <p:origin x="86" y="13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06:08:40.165"/>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 Title Slide</a:t>
            </a:r>
            <a:endParaRPr lang="en-US" sz="1200"/>
          </a:p>
          <a:p>
            <a:pPr lvl="0"/>
            <a:r>
              <a:rPr lang="en-US" sz="1200"/>
              <a:t>Start with a short self-introduction and name your teammate clearly. Mention that this is a Project-II presentation from the Department of Mechanical Engineering at NIT Jamshedpur.</a:t>
            </a:r>
            <a:endParaRPr lang="en-US" sz="1200"/>
          </a:p>
          <a:p>
            <a:pPr lvl="0"/>
            <a:r>
              <a:rPr lang="en-US" sz="1200"/>
              <a:t>State the project title slowly: Intelligent Bearing Fault Diagnosis for Predictive Maintenance Using Vibration Signal Analysis and Machine Learning.</a:t>
            </a:r>
            <a:endParaRPr lang="en-US" sz="1200"/>
          </a:p>
          <a:p>
            <a:pPr lvl="0"/>
            <a:r>
              <a:rPr lang="en-US" sz="1200"/>
              <a:t>Add one purpose sentence: the project aims to detect bearing faults early from vibration signals and present the result through a working machine-learning based dashboard.</a:t>
            </a:r>
            <a:endParaRPr lang="en-US" sz="1200"/>
          </a:p>
          <a:p>
            <a:pPr lvl="0"/>
            <a:r>
              <a:rPr lang="en-US" sz="1200"/>
              <a:t>Tell the professors how the talk will flow: background, literature, gaps, methodology, results, conclusion, and future scope.</a:t>
            </a:r>
            <a:endParaRPr lang="en-US" sz="1200"/>
          </a:p>
          <a:p>
            <a:pPr lvl="0"/>
            <a:r>
              <a:rPr lang="en-US" sz="1200"/>
              <a:t>If asked why this topic was chosen, answer: because it connects mechanical condition monitoring with a practical AI workflow and has strong relevance to predictive maintenance.</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2: Outline</a:t>
            </a:r>
            <a:endParaRPr lang="en-US" sz="1200"/>
          </a:p>
          <a:p>
            <a:pPr lvl="0"/>
            <a:r>
              <a:rPr lang="en-US" sz="1200"/>
              <a:t>Do not spend much time here. Use this slide only to orient the audience.</a:t>
            </a:r>
            <a:endParaRPr lang="en-US" sz="1200"/>
          </a:p>
          <a:p>
            <a:pPr lvl="0"/>
            <a:r>
              <a:rPr lang="en-US" sz="1200"/>
              <a:t>Say that the presentation moves from the problem context toward the developed system, and then to the achieved results and final takeaways.</a:t>
            </a:r>
            <a:endParaRPr lang="en-US" sz="1200"/>
          </a:p>
          <a:p>
            <a:pPr lvl="0"/>
            <a:r>
              <a:rPr lang="en-US" sz="1200"/>
              <a:t>Mention that a live demonstration is possible because the project includes a Streamlit GUI backed by the trained model.</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3: Introduction and Technical Background</a:t>
            </a:r>
            <a:endParaRPr lang="en-US" sz="1200"/>
          </a:p>
          <a:p>
            <a:pPr lvl="0"/>
            <a:r>
              <a:rPr lang="en-US" sz="1200"/>
              <a:t>Explain the background in mechanical terms first. Bearings support rotating shafts, so any defect in the rolling elements or races changes the vibration response of the machine.</a:t>
            </a:r>
            <a:endParaRPr lang="en-US" sz="1200"/>
          </a:p>
          <a:p>
            <a:pPr lvl="0"/>
            <a:r>
              <a:rPr lang="en-US" sz="1200"/>
              <a:t>When you mention time-domain analysis, explain it as observing how vibration amplitude changes with time. These values help capture signal spread, impulsive behavior, and abnormal peaks.</a:t>
            </a:r>
            <a:endParaRPr lang="en-US" sz="1200"/>
          </a:p>
          <a:p>
            <a:pPr lvl="0"/>
            <a:r>
              <a:rPr lang="en-US" sz="1200"/>
              <a:t>When you mention frequency analysis, explain that FFT is used to see which frequencies dominate the signal. Fault conditions produce characteristic frequency signatures, so the frequency view helps separate classes [1].</a:t>
            </a:r>
            <a:endParaRPr lang="en-US" sz="1200"/>
          </a:p>
          <a:p>
            <a:pPr lvl="0"/>
            <a:r>
              <a:rPr lang="en-US" sz="1200"/>
              <a:t>For machine learning classification, say that both time-domain and frequency-domain descriptors are combined into one feature vector and then used to train classifiers such as SVM and Random Forest.</a:t>
            </a:r>
            <a:endParaRPr lang="en-US" sz="1200"/>
          </a:p>
          <a:p>
            <a:pPr lvl="0"/>
            <a:r>
              <a:rPr lang="en-US" sz="1200"/>
              <a:t>If a professor asks why both domains are used, answer: time-domain features capture amplitude variation directly, while frequency-domain features capture spectral structure; using both improves discrimination.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4: Problem Statement</a:t>
            </a:r>
            <a:endParaRPr lang="en-US" sz="1200"/>
          </a:p>
          <a:p>
            <a:pPr lvl="0"/>
            <a:r>
              <a:rPr lang="en-US" sz="1200"/>
              <a:t>Frame the problem as a scalability issue. Manual interpretation of vibration signals is possible for a few samples but not for large continuous industrial data streams.</a:t>
            </a:r>
            <a:endParaRPr lang="en-US" sz="1200"/>
          </a:p>
          <a:p>
            <a:pPr lvl="0"/>
            <a:r>
              <a:rPr lang="en-US" sz="1200"/>
              <a:t>State the specific project objective: to create a reliable and interpretable end-to-end workflow that classifies bearing condition into Normal, Ball Fault, Inner Race Fault, or Outer Race Fault.</a:t>
            </a:r>
            <a:endParaRPr lang="en-US" sz="1200"/>
          </a:p>
          <a:p>
            <a:pPr lvl="0"/>
            <a:r>
              <a:rPr lang="en-US" sz="1200"/>
              <a:t>Mention the dataset-specific numbers from the project: 9,736 labeled windows, 48 kHz sampling, and four bearing conditions.</a:t>
            </a:r>
            <a:endParaRPr lang="en-US" sz="1200"/>
          </a:p>
          <a:p>
            <a:pPr lvl="0"/>
            <a:r>
              <a:rPr lang="en-US" sz="1200"/>
              <a:t>If asked what exactly is difficult in raw data, answer: a long vibration signal is only a sequence of amplitude values; the challenge is converting that sequence into meaningful features that a classifier can use.</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5: Applications</a:t>
            </a:r>
            <a:endParaRPr lang="en-US" sz="1200"/>
          </a:p>
          <a:p>
            <a:pPr lvl="0"/>
            <a:r>
              <a:rPr lang="en-US" sz="1200"/>
              <a:t>Present this slide as the relevance slide. Tie the project to real mechanical systems instead of speaking in abstract AI terms.</a:t>
            </a:r>
            <a:endParaRPr lang="en-US" sz="1200"/>
          </a:p>
          <a:p>
            <a:pPr lvl="0"/>
            <a:r>
              <a:rPr lang="en-US" sz="1200"/>
              <a:t>For smart manufacturing, explain that the same idea can be extended to plant-wide monitoring where multiple machines are tracked continuously.</a:t>
            </a:r>
            <a:endParaRPr lang="en-US" sz="1200"/>
          </a:p>
          <a:p>
            <a:pPr lvl="0"/>
            <a:r>
              <a:rPr lang="en-US" sz="1200"/>
              <a:t>For the energy sector, mention turbines, generators, and rotating auxiliaries where unscheduled bearing failure is expensive.</a:t>
            </a:r>
            <a:endParaRPr lang="en-US" sz="1200"/>
          </a:p>
          <a:p>
            <a:pPr lvl="0"/>
            <a:r>
              <a:rPr lang="en-US" sz="1200"/>
              <a:t>For aerospace or safety-critical systems, explain that early indication is valuable because bearing damage can propagate into larger mechanical problems.</a:t>
            </a:r>
            <a:endParaRPr lang="en-US" sz="1200"/>
          </a:p>
          <a:p>
            <a:pPr lvl="0"/>
            <a:r>
              <a:rPr lang="en-US" sz="1200"/>
              <a:t>If asked whether this project is directly deployable to those sectors, answer honestly: this project is a benchmark-driven academic implementation, but the workflow is relevant and can be adapted to real sensor setups with further validation.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6: Literature Survey</a:t>
            </a:r>
            <a:endParaRPr lang="en-US" sz="1200"/>
          </a:p>
          <a:p>
            <a:pPr lvl="0"/>
            <a:r>
              <a:rPr lang="en-US" sz="1200"/>
              <a:t>Explain the literature in comparison style. Do not read the slide word by word.</a:t>
            </a:r>
            <a:endParaRPr lang="en-US" sz="1200"/>
          </a:p>
          <a:p>
            <a:pPr lvl="0"/>
            <a:r>
              <a:rPr lang="en-US" sz="1200"/>
              <a:t>Say that earlier work can be grouped into three approaches: classical signal analysis, feature-based machine learning, and deep learning-based diagnosis [2]-[4].</a:t>
            </a:r>
            <a:endParaRPr lang="en-US" sz="1200"/>
          </a:p>
          <a:p>
            <a:pPr lvl="0"/>
            <a:r>
              <a:rPr lang="en-US" sz="1200"/>
              <a:t>Mention that classical methods depend more on domain interpretation of frequency behavior, while feature-based ML uses engineered descriptors with classifiers such as SVM and Random Forest.</a:t>
            </a:r>
            <a:endParaRPr lang="en-US" sz="1200"/>
          </a:p>
          <a:p>
            <a:pPr lvl="0"/>
            <a:r>
              <a:rPr lang="en-US" sz="1200"/>
              <a:t>Mention that deep learning reduces manual feature design but may require more computation and may be less interpretable for a classroom-style demonstration [4], [5].</a:t>
            </a:r>
            <a:endParaRPr lang="en-US" sz="1200"/>
          </a:p>
          <a:p>
            <a:pPr lvl="0"/>
            <a:r>
              <a:rPr lang="en-US" sz="1200"/>
              <a:t>If asked why CWRU is used so often, answer: because it is a controlled public benchmark with known fault classes, which makes method comparison easier [1].</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7: Literature Limitations</a:t>
            </a:r>
            <a:endParaRPr lang="en-US" sz="1200"/>
          </a:p>
          <a:p>
            <a:pPr lvl="0"/>
            <a:r>
              <a:rPr lang="en-US" sz="1200"/>
              <a:t>Use this slide to justify your project contribution. Say that many works emphasize model performance but do not show a complete reproducible engineering pipeline.</a:t>
            </a:r>
            <a:endParaRPr lang="en-US" sz="1200"/>
          </a:p>
          <a:p>
            <a:pPr lvl="0"/>
            <a:r>
              <a:rPr lang="en-US" sz="1200"/>
              <a:t>Explain hidden preprocessing as one important issue. If the paper does not make the segmentation rule or feature design clear, reproduction becomes difficult.</a:t>
            </a:r>
            <a:endParaRPr lang="en-US" sz="1200"/>
          </a:p>
          <a:p>
            <a:pPr lvl="0"/>
            <a:r>
              <a:rPr lang="en-US" sz="1200"/>
              <a:t>Explain lack of accessibility as another issue. Many works stay at paper level and do not provide an interface that can be demonstrated by students or non-specialists.</a:t>
            </a:r>
            <a:endParaRPr lang="en-US" sz="1200"/>
          </a:p>
          <a:p>
            <a:pPr lvl="0"/>
            <a:r>
              <a:rPr lang="en-US" sz="1200"/>
              <a:t>For the research-practice gap, say that raw signal handling, feature extraction, model training, and application deployment are often separated rather than integrated.</a:t>
            </a:r>
            <a:endParaRPr lang="en-US" sz="1200"/>
          </a:p>
          <a:p>
            <a:pPr lvl="0"/>
            <a:r>
              <a:rPr lang="en-US" sz="1200"/>
              <a:t>Then clearly say what your project contributes: one repository containing preprocessing, training, evaluation, saved artifacts, and a GUI.</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8: Research Gaps and Objectives</a:t>
            </a:r>
            <a:endParaRPr lang="en-US" sz="1200"/>
          </a:p>
          <a:p>
            <a:pPr lvl="0"/>
            <a:r>
              <a:rPr lang="en-US" sz="1200"/>
              <a:t>This slide should sound like a transition from literature to your implementation.</a:t>
            </a:r>
            <a:endParaRPr lang="en-US" sz="1200"/>
          </a:p>
          <a:p>
            <a:pPr lvl="0"/>
            <a:r>
              <a:rPr lang="en-US" sz="1200"/>
              <a:t>State the gap precisely: the need is not only for classification accuracy but for a demonstrable, explainable, and reproducible mechanical engineering tool.</a:t>
            </a:r>
            <a:endParaRPr lang="en-US" sz="1200"/>
          </a:p>
          <a:p>
            <a:pPr lvl="0"/>
            <a:r>
              <a:rPr lang="en-US" sz="1200"/>
              <a:t>Go through the objectives naturally: preprocess the signals, extract 25 features, compare SVM and Random Forest, evaluate systematically, and deploy the Streamlit dashboard.</a:t>
            </a:r>
            <a:endParaRPr lang="en-US" sz="1200"/>
          </a:p>
          <a:p>
            <a:pPr lvl="0"/>
            <a:r>
              <a:rPr lang="en-US" sz="1200"/>
              <a:t>If asked why 2048 samples and 50 percent overlap were chosen, answer: that window keeps localized fault information while generating enough training examples; with 48 kHz sampling it corresponds to about 42.67 milliseconds per window.</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9: Methodology and System Design</a:t>
            </a:r>
            <a:endParaRPr lang="en-US" sz="1200"/>
          </a:p>
          <a:p>
            <a:pPr lvl="0"/>
            <a:r>
              <a:rPr lang="en-US" sz="1200"/>
              <a:t>Walk through the pipeline from left to right as if you are tracing the data flow.</a:t>
            </a:r>
            <a:endParaRPr lang="en-US" sz="1200"/>
          </a:p>
          <a:p>
            <a:pPr lvl="0"/>
            <a:r>
              <a:rPr lang="en-US" sz="1200"/>
              <a:t>Start from the data source: raw CWRU MAT files representing four bearing conditions.</a:t>
            </a:r>
            <a:endParaRPr lang="en-US" sz="1200"/>
          </a:p>
          <a:p>
            <a:pPr lvl="0"/>
            <a:r>
              <a:rPr lang="en-US" sz="1200"/>
              <a:t>Then explain preprocessing: each long signal is segmented into 2048-sample windows with 50 percent overlap, producing 9,736 usable training samples.</a:t>
            </a:r>
            <a:endParaRPr lang="en-US" sz="1200"/>
          </a:p>
          <a:p>
            <a:pPr lvl="0"/>
            <a:r>
              <a:rPr lang="en-US" sz="1200"/>
              <a:t>Next explain feature extraction: the segmented windows are converted into engineered time-domain and frequency-domain descriptors.</a:t>
            </a:r>
            <a:endParaRPr lang="en-US" sz="1200"/>
          </a:p>
          <a:p>
            <a:pPr lvl="0"/>
            <a:r>
              <a:rPr lang="en-US" sz="1200"/>
              <a:t>Then explain modeling: SVM and Random Forest are trained on the processed feature table using an 80:20 split.</a:t>
            </a:r>
            <a:endParaRPr lang="en-US" sz="1200"/>
          </a:p>
          <a:p>
            <a:pPr lvl="0"/>
            <a:r>
              <a:rPr lang="en-US" sz="1200"/>
              <a:t>Finally explain deployment: the best saved model is loaded inside the Streamlit dashboard for live inference.</a:t>
            </a:r>
            <a:endParaRPr lang="en-US" sz="1200"/>
          </a:p>
          <a:p>
            <a:pPr lvl="0"/>
            <a:r>
              <a:rPr lang="en-US" sz="1200"/>
              <a:t>If asked what scripts actually run this pipeline, answer: scripts/build_dataset.py prepares the dataset, scripts/train_model.py trains the models, and the app is in app/streamlit_app.py.</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10: Feature Extraction Module</a:t>
            </a:r>
            <a:endParaRPr lang="en-US" sz="1200"/>
          </a:p>
          <a:p>
            <a:pPr lvl="0"/>
            <a:r>
              <a:rPr lang="en-US" sz="1200"/>
              <a:t>Explain that feature extraction is the bridge between raw signal and classification.</a:t>
            </a:r>
            <a:endParaRPr lang="en-US" sz="1200"/>
          </a:p>
          <a:p>
            <a:pPr lvl="0"/>
            <a:r>
              <a:rPr lang="en-US" sz="1200"/>
              <a:t>For time-domain features, give intuitive meanings: mean and standard deviation show central level and spread, RMS reflects energy, kurtosis and crest factor respond to impulsive defects, and impulse/shape/form factors capture waveform characteristics.</a:t>
            </a:r>
            <a:endParaRPr lang="en-US" sz="1200"/>
          </a:p>
          <a:p>
            <a:pPr lvl="0"/>
            <a:r>
              <a:rPr lang="en-US" sz="1200"/>
              <a:t>For frequency-domain features, explain that FFT transforms the signal into spectral form, then features such as spectral mean, dominant frequency, spectral standard deviation, and frequency variation describe how the energy is distributed.</a:t>
            </a:r>
            <a:endParaRPr lang="en-US" sz="1200"/>
          </a:p>
          <a:p>
            <a:pPr lvl="0"/>
            <a:r>
              <a:rPr lang="en-US" sz="1200"/>
              <a:t>Point out the dataset summary again: 9,736 windows, 25 features, 4 classes, 48 kHz sampling.</a:t>
            </a:r>
            <a:endParaRPr lang="en-US" sz="1200"/>
          </a:p>
          <a:p>
            <a:pPr lvl="0"/>
            <a:r>
              <a:rPr lang="en-US" sz="1200"/>
              <a:t>If asked whether the model uses raw amplitude directly, answer: no, the classifier uses the extracted feature vector, not the raw sequence itself.</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11: Model Performance</a:t>
            </a:r>
            <a:endParaRPr lang="en-US" sz="1200"/>
          </a:p>
          <a:p>
            <a:pPr lvl="0"/>
            <a:r>
              <a:rPr lang="en-US" sz="1200"/>
              <a:t>Present this as measured evidence rather than a claim.</a:t>
            </a:r>
            <a:endParaRPr lang="en-US" sz="1200"/>
          </a:p>
          <a:p>
            <a:pPr lvl="0"/>
            <a:r>
              <a:rPr lang="en-US" sz="1200"/>
              <a:t>State that both models performed strongly, but Random Forest achieved the best result with 97.59 percent accuracy and 97.59 percent weighted F1-score on the held-out test set.</a:t>
            </a:r>
            <a:endParaRPr lang="en-US" sz="1200"/>
          </a:p>
          <a:p>
            <a:pPr lvl="0"/>
            <a:r>
              <a:rPr lang="en-US" sz="1200"/>
              <a:t>Mention that SVM with RBF kernel also performed well, which shows that the feature design itself is meaningful.</a:t>
            </a:r>
            <a:endParaRPr lang="en-US" sz="1200"/>
          </a:p>
          <a:p>
            <a:pPr lvl="0"/>
            <a:r>
              <a:rPr lang="en-US" sz="1200"/>
              <a:t>Explain why Random Forest was finally selected: it slightly outperformed SVM and also provides feature importance, which helps explain the model during demonstration.</a:t>
            </a:r>
            <a:endParaRPr lang="en-US" sz="1200"/>
          </a:p>
          <a:p>
            <a:pPr lvl="0"/>
            <a:r>
              <a:rPr lang="en-US" sz="1200"/>
              <a:t>If asked what weighted F1-score means, answer: it balances precision and recall across all classes while accounting for class support, making it useful for multiclass evaluation.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12: Confusion Matrix and Feature Importance</a:t>
            </a:r>
            <a:endParaRPr lang="en-US" sz="1200"/>
          </a:p>
          <a:p>
            <a:pPr lvl="0"/>
            <a:r>
              <a:rPr lang="en-US" sz="1200"/>
              <a:t>First explain the confusion matrix. Rows are true classes, columns are predicted classes.</a:t>
            </a:r>
            <a:endParaRPr lang="en-US" sz="1200"/>
          </a:p>
          <a:p>
            <a:pPr lvl="0"/>
            <a:r>
              <a:rPr lang="en-US" sz="1200"/>
              <a:t>Read the key diagonal numbers: Ball Fault 558, Inner Race Fault 606, Normal 187, Outer Race Fault 550. Emphasize that strong diagonal entries mean strong correct classification.</a:t>
            </a:r>
            <a:endParaRPr lang="en-US" sz="1200"/>
          </a:p>
          <a:p>
            <a:pPr lvl="0"/>
            <a:r>
              <a:rPr lang="en-US" sz="1200"/>
              <a:t>Mention that the off-diagonal values are comparatively low, so class confusion is limited.</a:t>
            </a:r>
            <a:endParaRPr lang="en-US" sz="1200"/>
          </a:p>
          <a:p>
            <a:pPr lvl="0"/>
            <a:r>
              <a:rPr lang="en-US" sz="1200"/>
              <a:t>Then move to feature importance. Say that the Random Forest model ranks which features contribute more strongly to its decisions.</a:t>
            </a:r>
            <a:endParaRPr lang="en-US" sz="1200"/>
          </a:p>
          <a:p>
            <a:pPr lvl="0"/>
            <a:r>
              <a:rPr lang="en-US" sz="1200"/>
              <a:t>Call out the most important features shown: Spectral Mean, Impulse Factor, Standard Deviation, Frequency Variation, Maximum Absolute value, and RMS.</a:t>
            </a:r>
            <a:endParaRPr lang="en-US" sz="1200"/>
          </a:p>
          <a:p>
            <a:pPr lvl="0"/>
            <a:r>
              <a:rPr lang="en-US" sz="1200"/>
              <a:t>If asked why these matter physically, answer: they reflect how rough, impulsive, and spectrally concentrated the vibration becomes under defective bearing conditions.</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13: Summary and Conclusion</a:t>
            </a:r>
            <a:endParaRPr lang="en-US" sz="1200"/>
          </a:p>
          <a:p>
            <a:pPr lvl="0"/>
            <a:r>
              <a:rPr lang="en-US" sz="1200"/>
              <a:t>Use this as your closing technical slide.</a:t>
            </a:r>
            <a:endParaRPr lang="en-US" sz="1200"/>
          </a:p>
          <a:p>
            <a:pPr lvl="0"/>
            <a:r>
              <a:rPr lang="en-US" sz="1200"/>
              <a:t>Summarize the major achievement: the project integrates mechanical vibration analysis, feature engineering, machine learning classification, and GUI deployment in one system.</a:t>
            </a:r>
            <a:endParaRPr lang="en-US" sz="1200"/>
          </a:p>
          <a:p>
            <a:pPr lvl="0"/>
            <a:r>
              <a:rPr lang="en-US" sz="1200"/>
              <a:t>Restate the most important performance number only once: Random Forest reached 97.59 percent accuracy on the CWRU benchmark dataset.</a:t>
            </a:r>
            <a:endParaRPr lang="en-US" sz="1200"/>
          </a:p>
          <a:p>
            <a:pPr lvl="0"/>
            <a:r>
              <a:rPr lang="en-US" sz="1200"/>
              <a:t>For future scope, mention validation on real industrial signals, comparison with advanced methods like XGBoost or 1D-CNN, fault severity estimation, and deployment to edge or IoT settings.</a:t>
            </a:r>
            <a:endParaRPr lang="en-US" sz="1200"/>
          </a:p>
          <a:p>
            <a:pPr lvl="0"/>
            <a:r>
              <a:rPr lang="en-US" sz="1200"/>
              <a:t>If asked what next semester work could be, answer: expanding to real sensor data, testing robustness under noise, and moving from fault type classification toward severity or remaining useful life estimation.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666459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816034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8675150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03756299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95B008-4C65-4304-B2CF-A4F8C49748C9}" type="datetimeFigureOut">
              <a:rPr lang="en-IN" smtClean="0"/>
              <a:t>27-04-2026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6638990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7932820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2372912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0715028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93692051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9713358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741209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63585768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7183793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29440006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54996516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49891699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72249156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048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E195B008-4C65-4304-B2CF-A4F8C49748C9}" type="datetimeFigureOut">
              <a:rPr lang="en-IN" smtClean="0"/>
              <a:t>27-04-2026</a:t>
            </a:fld>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FCB1FD86-1F7E-4E2F-8DA2-C349E414DEC5}" type="slidenum">
              <a:rPr lang="en-IN" smtClean="0"/>
              <a:t>‹#›</a:t>
            </a:fld>
            <a:endParaRPr lang="en-IN"/>
          </a:p>
        </p:txBody>
      </p:sp>
    </p:spTree>
    <p:extLst>
      <p:ext uri="{BB962C8B-B14F-4D97-AF65-F5344CB8AC3E}">
        <p14:creationId xmlns:p14="http://schemas.microsoft.com/office/powerpoint/2010/main" val="1577376186"/>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18.xml"/><Relationship Id="rId4" Type="http://schemas.openxmlformats.org/officeDocument/2006/relationships/hyperlink" Target="https://www.researchgate.net/publication/275540896_Bearing_Fault_Diagnosis_using_Wavelet_Packet_Transform_Hybrid_PSO_and_Support_Vector_Machin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0D2547"/>
          </a:solidFill>
          <a:ln w="12700">
            <a:solidFill>
              <a:srgbClr val="0D2547"/>
            </a:solidFill>
            <a:prstDash val="solid"/>
          </a:ln>
        </p:spPr>
      </p:sp>
      <p:sp>
        <p:nvSpPr>
          <p:cNvPr id="3" name="Shape 1"/>
          <p:cNvSpPr/>
          <p:nvPr/>
        </p:nvSpPr>
        <p:spPr>
          <a:xfrm>
            <a:off x="0" y="0"/>
            <a:ext cx="54864" cy="5143500"/>
          </a:xfrm>
          <a:prstGeom prst="rect">
            <a:avLst/>
          </a:prstGeom>
          <a:solidFill>
            <a:srgbClr val="00BCD4"/>
          </a:solidFill>
          <a:ln w="12700">
            <a:solidFill>
              <a:srgbClr val="00BCD4"/>
            </a:solidFill>
            <a:prstDash val="solid"/>
          </a:ln>
        </p:spPr>
      </p:sp>
      <p:sp>
        <p:nvSpPr>
          <p:cNvPr id="4" name="Shape 2"/>
          <p:cNvSpPr/>
          <p:nvPr/>
        </p:nvSpPr>
        <p:spPr>
          <a:xfrm>
            <a:off x="0" y="0"/>
            <a:ext cx="9144000" cy="54864"/>
          </a:xfrm>
          <a:prstGeom prst="rect">
            <a:avLst/>
          </a:prstGeom>
          <a:solidFill>
            <a:srgbClr val="00BCD4"/>
          </a:solidFill>
          <a:ln w="12700">
            <a:solidFill>
              <a:srgbClr val="00BCD4"/>
            </a:solidFill>
            <a:prstDash val="solid"/>
          </a:ln>
        </p:spPr>
      </p:sp>
      <p:sp>
        <p:nvSpPr>
          <p:cNvPr id="6" name="Text 4"/>
          <p:cNvSpPr/>
          <p:nvPr/>
        </p:nvSpPr>
        <p:spPr>
          <a:xfrm>
            <a:off x="365760" y="320040"/>
            <a:ext cx="640080" cy="548640"/>
          </a:xfrm>
          <a:prstGeom prst="rect">
            <a:avLst/>
          </a:prstGeom>
          <a:noFill/>
          <a:ln/>
        </p:spPr>
        <p:txBody>
          <a:bodyPr wrap="square" rtlCol="0" anchor="ctr"/>
          <a:lstStyle/>
          <a:p>
            <a:pPr marL="0" indent="0" algn="ctr">
              <a:buNone/>
            </a:pPr>
            <a:r>
              <a:rPr lang="en-US" sz="700" b="1" dirty="0">
                <a:solidFill>
                  <a:srgbClr val="FFFFFF"/>
                </a:solidFill>
              </a:rPr>
              <a:t>NIT</a:t>
            </a:r>
            <a:endParaRPr lang="en-US" sz="700" dirty="0"/>
          </a:p>
          <a:p>
            <a:pPr marL="0" indent="0" algn="ctr">
              <a:buNone/>
            </a:pPr>
            <a:r>
              <a:rPr lang="en-US" sz="700" b="1" dirty="0">
                <a:solidFill>
                  <a:srgbClr val="FFFFFF"/>
                </a:solidFill>
              </a:rPr>
              <a:t>JSR</a:t>
            </a:r>
            <a:endParaRPr lang="en-US" sz="700" dirty="0"/>
          </a:p>
        </p:txBody>
      </p:sp>
      <p:sp>
        <p:nvSpPr>
          <p:cNvPr id="7" name="Text 5"/>
          <p:cNvSpPr/>
          <p:nvPr/>
        </p:nvSpPr>
        <p:spPr>
          <a:xfrm>
            <a:off x="1097280" y="320040"/>
            <a:ext cx="4663440" cy="365760"/>
          </a:xfrm>
          <a:prstGeom prst="rect">
            <a:avLst/>
          </a:prstGeom>
          <a:noFill/>
          <a:ln/>
        </p:spPr>
        <p:txBody>
          <a:bodyPr wrap="square" rtlCol="0" anchor="ctr"/>
          <a:lstStyle/>
          <a:p>
            <a:pPr marL="0" indent="0">
              <a:buNone/>
            </a:pPr>
            <a:r>
              <a:rPr lang="en-US" sz="900" b="1" kern="0" spc="150" dirty="0">
                <a:solidFill>
                  <a:srgbClr val="00BCD4"/>
                </a:solidFill>
              </a:rPr>
              <a:t>NATIONAL INSTITUTE OF TECHNOLOGY JAMSHEDPUR</a:t>
            </a:r>
            <a:endParaRPr lang="en-US" sz="900" dirty="0"/>
          </a:p>
        </p:txBody>
      </p:sp>
      <p:sp>
        <p:nvSpPr>
          <p:cNvPr id="8" name="Text 6"/>
          <p:cNvSpPr/>
          <p:nvPr/>
        </p:nvSpPr>
        <p:spPr>
          <a:xfrm>
            <a:off x="1097280" y="658368"/>
            <a:ext cx="4663440" cy="274320"/>
          </a:xfrm>
          <a:prstGeom prst="rect">
            <a:avLst/>
          </a:prstGeom>
          <a:noFill/>
          <a:ln/>
        </p:spPr>
        <p:txBody>
          <a:bodyPr wrap="square" rtlCol="0" anchor="ctr"/>
          <a:lstStyle/>
          <a:p>
            <a:pPr marL="0" indent="0">
              <a:buNone/>
            </a:pPr>
            <a:r>
              <a:rPr lang="en-US" sz="900" dirty="0">
                <a:solidFill>
                  <a:srgbClr val="8ECAE6"/>
                </a:solidFill>
              </a:rPr>
              <a:t>Department of Mechanical Engineering</a:t>
            </a:r>
            <a:endParaRPr lang="en-US" sz="900" dirty="0"/>
          </a:p>
        </p:txBody>
      </p:sp>
      <p:sp>
        <p:nvSpPr>
          <p:cNvPr id="9" name="Text 7"/>
          <p:cNvSpPr/>
          <p:nvPr/>
        </p:nvSpPr>
        <p:spPr>
          <a:xfrm>
            <a:off x="365760" y="1097280"/>
            <a:ext cx="5486400" cy="7772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Intelligent Bearing</a:t>
            </a:r>
            <a:endParaRPr lang="en-US" sz="4400" dirty="0"/>
          </a:p>
        </p:txBody>
      </p:sp>
      <p:sp>
        <p:nvSpPr>
          <p:cNvPr id="10" name="Text 8"/>
          <p:cNvSpPr/>
          <p:nvPr/>
        </p:nvSpPr>
        <p:spPr>
          <a:xfrm>
            <a:off x="365760" y="1783080"/>
            <a:ext cx="5486400" cy="777240"/>
          </a:xfrm>
          <a:prstGeom prst="rect">
            <a:avLst/>
          </a:prstGeom>
          <a:noFill/>
          <a:ln/>
        </p:spPr>
        <p:txBody>
          <a:bodyPr wrap="square" rtlCol="0" anchor="ctr"/>
          <a:lstStyle/>
          <a:p>
            <a:pPr marL="0" indent="0">
              <a:buNone/>
            </a:pPr>
            <a:r>
              <a:rPr lang="en-US" sz="4400" b="1" dirty="0">
                <a:solidFill>
                  <a:srgbClr val="00BCD4"/>
                </a:solidFill>
                <a:latin typeface="Calibri" pitchFamily="34" charset="0"/>
                <a:ea typeface="Calibri" pitchFamily="34" charset="-122"/>
                <a:cs typeface="Calibri" pitchFamily="34" charset="-120"/>
              </a:rPr>
              <a:t>Fault Diagnosis</a:t>
            </a:r>
            <a:endParaRPr lang="en-US" sz="4400" dirty="0"/>
          </a:p>
        </p:txBody>
      </p:sp>
      <p:sp>
        <p:nvSpPr>
          <p:cNvPr id="11" name="Text 9"/>
          <p:cNvSpPr/>
          <p:nvPr/>
        </p:nvSpPr>
        <p:spPr>
          <a:xfrm>
            <a:off x="365760" y="2487168"/>
            <a:ext cx="5486400" cy="502920"/>
          </a:xfrm>
          <a:prstGeom prst="rect">
            <a:avLst/>
          </a:prstGeom>
          <a:noFill/>
          <a:ln/>
        </p:spPr>
        <p:txBody>
          <a:bodyPr wrap="square" rtlCol="0" anchor="ctr"/>
          <a:lstStyle/>
          <a:p>
            <a:pPr marL="0" indent="0">
              <a:buNone/>
            </a:pPr>
            <a:r>
              <a:rPr lang="en-US" sz="2200" dirty="0">
                <a:solidFill>
                  <a:srgbClr val="8ECAE6"/>
                </a:solidFill>
                <a:latin typeface="Calibri" pitchFamily="34" charset="0"/>
                <a:ea typeface="Calibri" pitchFamily="34" charset="-122"/>
                <a:cs typeface="Calibri" pitchFamily="34" charset="-120"/>
              </a:rPr>
              <a:t>for Predictive Maintenance</a:t>
            </a:r>
            <a:endParaRPr lang="en-US" sz="2200" dirty="0"/>
          </a:p>
        </p:txBody>
      </p:sp>
      <p:sp>
        <p:nvSpPr>
          <p:cNvPr id="12" name="Shape 10"/>
          <p:cNvSpPr/>
          <p:nvPr/>
        </p:nvSpPr>
        <p:spPr>
          <a:xfrm>
            <a:off x="365760" y="3090672"/>
            <a:ext cx="3657600" cy="36576"/>
          </a:xfrm>
          <a:prstGeom prst="rect">
            <a:avLst/>
          </a:prstGeom>
          <a:solidFill>
            <a:srgbClr val="00BCD4"/>
          </a:solidFill>
          <a:ln w="12700">
            <a:solidFill>
              <a:srgbClr val="00BCD4"/>
            </a:solidFill>
            <a:prstDash val="solid"/>
          </a:ln>
        </p:spPr>
      </p:sp>
      <p:sp>
        <p:nvSpPr>
          <p:cNvPr id="13" name="Shape 11"/>
          <p:cNvSpPr/>
          <p:nvPr/>
        </p:nvSpPr>
        <p:spPr>
          <a:xfrm>
            <a:off x="365760" y="3246120"/>
            <a:ext cx="2194560" cy="320040"/>
          </a:xfrm>
          <a:prstGeom prst="roundRect">
            <a:avLst>
              <a:gd name="adj" fmla="val 22857"/>
            </a:avLst>
          </a:prstGeom>
          <a:solidFill>
            <a:srgbClr val="1565C0"/>
          </a:solidFill>
          <a:ln w="12700">
            <a:solidFill>
              <a:srgbClr val="1E88E5"/>
            </a:solidFill>
            <a:prstDash val="solid"/>
          </a:ln>
        </p:spPr>
      </p:sp>
      <p:sp>
        <p:nvSpPr>
          <p:cNvPr id="14" name="Text 12"/>
          <p:cNvSpPr/>
          <p:nvPr/>
        </p:nvSpPr>
        <p:spPr>
          <a:xfrm>
            <a:off x="365760" y="3246120"/>
            <a:ext cx="2194560" cy="320040"/>
          </a:xfrm>
          <a:prstGeom prst="rect">
            <a:avLst/>
          </a:prstGeom>
          <a:noFill/>
          <a:ln/>
        </p:spPr>
        <p:txBody>
          <a:bodyPr wrap="square" rtlCol="0" anchor="ctr"/>
          <a:lstStyle/>
          <a:p>
            <a:pPr marL="0" indent="0" algn="ctr">
              <a:buNone/>
            </a:pPr>
            <a:r>
              <a:rPr lang="en-US" sz="1000" b="1" dirty="0">
                <a:solidFill>
                  <a:srgbClr val="FFFFFF"/>
                </a:solidFill>
              </a:rPr>
              <a:t>Project-II  |  CM1611</a:t>
            </a:r>
            <a:endParaRPr lang="en-US" sz="1000" dirty="0"/>
          </a:p>
        </p:txBody>
      </p:sp>
      <p:sp>
        <p:nvSpPr>
          <p:cNvPr id="15" name="Text 13"/>
          <p:cNvSpPr/>
          <p:nvPr/>
        </p:nvSpPr>
        <p:spPr>
          <a:xfrm>
            <a:off x="6217920" y="1005840"/>
            <a:ext cx="2651760" cy="274320"/>
          </a:xfrm>
          <a:prstGeom prst="rect">
            <a:avLst/>
          </a:prstGeom>
          <a:noFill/>
          <a:ln/>
        </p:spPr>
        <p:txBody>
          <a:bodyPr wrap="square" rtlCol="0" anchor="ctr"/>
          <a:lstStyle/>
          <a:p>
            <a:pPr marL="0" indent="0">
              <a:buNone/>
            </a:pPr>
            <a:r>
              <a:rPr lang="en-US" sz="900" b="1" kern="0" spc="200" dirty="0">
                <a:solidFill>
                  <a:srgbClr val="00BCD4"/>
                </a:solidFill>
              </a:rPr>
              <a:t>SUBMITTED BY</a:t>
            </a:r>
            <a:endParaRPr lang="en-US" sz="900" dirty="0"/>
          </a:p>
        </p:txBody>
      </p:sp>
      <p:sp>
        <p:nvSpPr>
          <p:cNvPr id="16" name="Shape 14"/>
          <p:cNvSpPr/>
          <p:nvPr/>
        </p:nvSpPr>
        <p:spPr>
          <a:xfrm>
            <a:off x="6217920" y="1261872"/>
            <a:ext cx="2651760" cy="36576"/>
          </a:xfrm>
          <a:prstGeom prst="rect">
            <a:avLst/>
          </a:prstGeom>
          <a:solidFill>
            <a:srgbClr val="00BCD4"/>
          </a:solidFill>
          <a:ln w="12700">
            <a:solidFill>
              <a:srgbClr val="00BCD4"/>
            </a:solidFill>
            <a:prstDash val="solid"/>
          </a:ln>
        </p:spPr>
      </p:sp>
      <p:sp>
        <p:nvSpPr>
          <p:cNvPr id="17" name="Text 15"/>
          <p:cNvSpPr/>
          <p:nvPr/>
        </p:nvSpPr>
        <p:spPr>
          <a:xfrm>
            <a:off x="6217920" y="132588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Pradeep Modak</a:t>
            </a:r>
            <a:endParaRPr lang="en-US" sz="1100" dirty="0"/>
          </a:p>
          <a:p>
            <a:pPr marL="0" indent="0">
              <a:lnSpc>
                <a:spcPct val="120000"/>
              </a:lnSpc>
              <a:buNone/>
            </a:pPr>
            <a:r>
              <a:rPr lang="en-US" sz="1100" dirty="0">
                <a:solidFill>
                  <a:srgbClr val="FFFFFF"/>
                </a:solidFill>
              </a:rPr>
              <a:t>2023UGCM026</a:t>
            </a:r>
            <a:endParaRPr lang="en-US" sz="1100" dirty="0"/>
          </a:p>
        </p:txBody>
      </p:sp>
      <p:sp>
        <p:nvSpPr>
          <p:cNvPr id="18" name="Text 16"/>
          <p:cNvSpPr/>
          <p:nvPr/>
        </p:nvSpPr>
        <p:spPr>
          <a:xfrm>
            <a:off x="6217920" y="192024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Ashwini Kumar</a:t>
            </a:r>
            <a:endParaRPr lang="en-US" sz="1100" dirty="0"/>
          </a:p>
          <a:p>
            <a:pPr marL="0" indent="0">
              <a:lnSpc>
                <a:spcPct val="120000"/>
              </a:lnSpc>
              <a:buNone/>
            </a:pPr>
            <a:r>
              <a:rPr lang="en-US" sz="1100" dirty="0">
                <a:solidFill>
                  <a:srgbClr val="FFFFFF"/>
                </a:solidFill>
              </a:rPr>
              <a:t>2023UGCM004</a:t>
            </a:r>
            <a:endParaRPr lang="en-US" sz="1100" dirty="0"/>
          </a:p>
        </p:txBody>
      </p:sp>
      <p:sp>
        <p:nvSpPr>
          <p:cNvPr id="19" name="Text 17"/>
          <p:cNvSpPr/>
          <p:nvPr/>
        </p:nvSpPr>
        <p:spPr>
          <a:xfrm>
            <a:off x="6217920" y="2651760"/>
            <a:ext cx="2651760" cy="274320"/>
          </a:xfrm>
          <a:prstGeom prst="rect">
            <a:avLst/>
          </a:prstGeom>
          <a:noFill/>
          <a:ln/>
        </p:spPr>
        <p:txBody>
          <a:bodyPr wrap="square" rtlCol="0" anchor="ctr"/>
          <a:lstStyle/>
          <a:p>
            <a:pPr marL="0" indent="0">
              <a:buNone/>
            </a:pPr>
            <a:r>
              <a:rPr lang="en-US" sz="900" b="1" kern="0" spc="200" dirty="0">
                <a:solidFill>
                  <a:srgbClr val="FF6F00"/>
                </a:solidFill>
              </a:rPr>
              <a:t>SUPERVISED BY</a:t>
            </a:r>
            <a:endParaRPr lang="en-US" sz="900" dirty="0"/>
          </a:p>
        </p:txBody>
      </p:sp>
      <p:sp>
        <p:nvSpPr>
          <p:cNvPr id="20" name="Shape 18"/>
          <p:cNvSpPr/>
          <p:nvPr/>
        </p:nvSpPr>
        <p:spPr>
          <a:xfrm>
            <a:off x="6217920" y="2907792"/>
            <a:ext cx="2651760" cy="36576"/>
          </a:xfrm>
          <a:prstGeom prst="rect">
            <a:avLst/>
          </a:prstGeom>
          <a:solidFill>
            <a:srgbClr val="FF6F00"/>
          </a:solidFill>
          <a:ln w="12700">
            <a:solidFill>
              <a:srgbClr val="FF6F00"/>
            </a:solidFill>
            <a:prstDash val="solid"/>
          </a:ln>
        </p:spPr>
      </p:sp>
      <p:sp>
        <p:nvSpPr>
          <p:cNvPr id="21" name="Text 19"/>
          <p:cNvSpPr/>
          <p:nvPr/>
        </p:nvSpPr>
        <p:spPr>
          <a:xfrm>
            <a:off x="6217920" y="2971800"/>
            <a:ext cx="2651760" cy="594360"/>
          </a:xfrm>
          <a:prstGeom prst="rect">
            <a:avLst/>
          </a:prstGeom>
          <a:noFill/>
          <a:ln/>
        </p:spPr>
        <p:txBody>
          <a:bodyPr wrap="square" rtlCol="0" anchor="ctr"/>
          <a:lstStyle/>
          <a:p>
            <a:pPr marL="0" indent="0">
              <a:lnSpc>
                <a:spcPct val="140000"/>
              </a:lnSpc>
              <a:buNone/>
            </a:pPr>
            <a:r>
              <a:rPr lang="en-US" sz="1100" dirty="0">
                <a:solidFill>
                  <a:srgbClr val="FFFFFF"/>
                </a:solidFill>
              </a:rPr>
              <a:t>Dr. Saroj Sarangi</a:t>
            </a:r>
            <a:endParaRPr lang="en-US" sz="1100" dirty="0"/>
          </a:p>
          <a:p>
            <a:pPr marL="0" indent="0">
              <a:lnSpc>
                <a:spcPct val="140000"/>
              </a:lnSpc>
              <a:buNone/>
            </a:pPr>
            <a:r>
              <a:rPr lang="en-US" sz="1100" dirty="0">
                <a:solidFill>
                  <a:srgbClr val="FFFFFF"/>
                </a:solidFill>
              </a:rPr>
              <a:t>Dr. Abhijit Dey</a:t>
            </a:r>
            <a:endParaRPr lang="en-US" sz="1100" dirty="0"/>
          </a:p>
        </p:txBody>
      </p:sp>
      <p:sp>
        <p:nvSpPr>
          <p:cNvPr id="22" name="Shape 20"/>
          <p:cNvSpPr/>
          <p:nvPr/>
        </p:nvSpPr>
        <p:spPr>
          <a:xfrm>
            <a:off x="0" y="4754880"/>
            <a:ext cx="9144000" cy="388620"/>
          </a:xfrm>
          <a:prstGeom prst="rect">
            <a:avLst/>
          </a:prstGeom>
          <a:solidFill>
            <a:srgbClr val="061020"/>
          </a:solidFill>
          <a:ln w="12700">
            <a:solidFill>
              <a:srgbClr val="061020"/>
            </a:solidFill>
            <a:prstDash val="solid"/>
          </a:ln>
        </p:spPr>
      </p:sp>
      <p:sp>
        <p:nvSpPr>
          <p:cNvPr id="23" name="Text 21"/>
          <p:cNvSpPr/>
          <p:nvPr/>
        </p:nvSpPr>
        <p:spPr>
          <a:xfrm>
            <a:off x="365760" y="4773168"/>
            <a:ext cx="8412480" cy="347472"/>
          </a:xfrm>
          <a:prstGeom prst="rect">
            <a:avLst/>
          </a:prstGeom>
          <a:noFill/>
          <a:ln/>
        </p:spPr>
        <p:txBody>
          <a:bodyPr wrap="square" rtlCol="0" anchor="ctr"/>
          <a:lstStyle/>
          <a:p>
            <a:pPr marL="0" indent="0" algn="r">
              <a:buNone/>
            </a:pPr>
            <a:r>
              <a:rPr lang="en-US" sz="1000" dirty="0">
                <a:solidFill>
                  <a:srgbClr val="8ECAE6"/>
                </a:solidFill>
              </a:rPr>
              <a:t>Spring Semester 2025-26  •  April 2026</a:t>
            </a:r>
            <a:endParaRPr lang="en-US" sz="1000" dirty="0"/>
          </a:p>
        </p:txBody>
      </p:sp>
      <p:pic>
        <p:nvPicPr>
          <p:cNvPr id="24" name="Picture 2" descr="College logo">
            <a:extLst>
              <a:ext uri="{FF2B5EF4-FFF2-40B4-BE49-F238E27FC236}">
                <a16:creationId xmlns:a16="http://schemas.microsoft.com/office/drawing/2014/main" id="{3498B894-C83B-820F-C6A6-3D35D60A8837}"/>
              </a:ext>
            </a:extLst>
          </p:cNvPr>
          <p:cNvPicPr>
            <a:picLocks noChangeAspect="1" noChangeArrowheads="1"/>
          </p:cNvPicPr>
          <p:nvPr/>
        </p:nvPicPr>
        <p:blipFill>
          <a:blip r:embed="rId3"/>
          <a:srcRect/>
          <a:stretch>
            <a:fillRect/>
          </a:stretch>
        </p:blipFill>
        <p:spPr bwMode="auto">
          <a:xfrm>
            <a:off x="220818" y="163876"/>
            <a:ext cx="820163" cy="814532"/>
          </a:xfrm>
          <a:prstGeom prst="rect">
            <a:avLst/>
          </a:prstGeom>
          <a:noFill/>
          <a:ln w="9525">
            <a:noFill/>
            <a:miter lim="800000"/>
            <a:headEnd/>
            <a:tailEnd/>
          </a:ln>
        </p:spPr>
      </p:pic>
    </p:spTree>
  </p:cSld>
  <p:clrMapOvr>
    <a:masterClrMapping/>
  </p:clrMapOvr>
</p:sld>
</file>

<file path=ppt/slides/slide2.xml><?xml version="1.0" encoding="utf-8"?>
<ns0:sld xmlns:ns0="http://schemas.openxmlformats.org/presentationml/2006/main" xmlns:ns1="http://schemas.openxmlformats.org/drawingml/2006/main" xmlns:ns2="http://schemas.microsoft.com/office/drawing/2014/main">
  <ns0:cSld name="Slide 2">
    <ns0:bg>
      <ns0:bgPr>
        <ns1:solidFill>
          <ns1:srgbClr val="F0F4FF"/>
        </ns1:solidFill>
        <ns1:effectLst/>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9144000" cy="1005840"/>
          </ns1:xfrm>
          <ns1:prstGeom prst="rect">
            <ns1:avLst/>
          </ns1:prstGeom>
          <ns1:solidFill>
            <ns1:srgbClr val="0A1628"/>
          </ns1:solidFill>
          <ns1:ln w="12700">
            <ns1:solidFill>
              <ns1:srgbClr val="0A1628"/>
            </ns1:solidFill>
            <ns1:prstDash val="solid"/>
          </ns1:ln>
        </ns0:spPr>
      </ns0:sp>
      <ns0:sp>
        <ns0:nvSpPr>
          <ns0:cNvPr id="3" name="Shape 1"/>
          <ns0:cNvSpPr/>
          <ns0:nvPr/>
        </ns0:nvSpPr>
        <ns0:spPr>
          <ns1:xfrm>
            <ns1:off x="0" y="960120"/>
            <ns1:ext cx="9144000" cy="64008"/>
          </ns1:xfrm>
          <ns1:prstGeom prst="rect">
            <ns1:avLst/>
          </ns1:prstGeom>
          <ns1:solidFill>
            <ns1:srgbClr val="00BCD4"/>
          </ns1:solidFill>
          <ns1:ln w="12700">
            <ns1:solidFill>
              <ns1:srgbClr val="00BCD4"/>
            </ns1:solidFill>
            <ns1:prstDash val="solid"/>
          </ns1:ln>
        </ns0:spPr>
      </ns0:sp>
      <ns0:sp>
        <ns0:nvSpPr>
          <ns0:cNvPr id="4" name="Text 2"/>
          <ns0:cNvSpPr/>
          <ns0:nvPr/>
        </ns0:nvSpPr>
        <ns0:spPr>
          <ns1:xfrm>
            <ns1:off x="457200" y="137160"/>
            <ns1:ext cx="8229600" cy="685800"/>
          </ns1:xfrm>
          <ns1:prstGeom prst="rect">
            <ns1:avLst/>
          </ns1:prstGeom>
          <ns1:noFill/>
          <ns1:ln/>
        </ns0:spPr>
        <ns0:txBody>
          <ns1:bodyPr wrap="square" rtlCol="0" anchor="ctr"/>
          <ns1:lstStyle/>
          <ns1:p>
            <ns1:pPr marL="0" indent="0">
              <ns1:buNone/>
            </ns1:pPr>
            <ns1:r>
              <ns1:rPr lang="en-US" sz="3600" b="1" dirty="0">
                <ns1:solidFill>
                  <ns1:srgbClr val="FFFFFF"/>
                </ns1:solidFill>
                <ns1:latin typeface="Calibri" pitchFamily="34" charset="0"/>
                <ns1:ea typeface="Calibri" pitchFamily="34" charset="-122"/>
                <ns1:cs typeface="Calibri" pitchFamily="34" charset="-120"/>
              </ns1:rPr>
              <ns1:t>OUTLINE</ns1:t>
            </ns1:r>
            <ns1:endParaRPr lang="en-US" sz="3600" dirty="0"/>
          </ns1:p>
        </ns0:txBody>
      </ns0:sp>
      <ns0:sp>
        <ns0:nvSpPr>
          <ns0:cNvPr id="5" name="Shape 3"/>
          <ns0:cNvSpPr/>
          <ns0:nvPr/>
        </ns0:nvSpPr>
        <ns0:spPr>
          <ns1:xfrm>
            <ns1:off x="320040" y="1234440"/>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6" name="Shape 4"/>
          <ns0:cNvSpPr/>
          <ns0:nvPr/>
        </ns0:nvSpPr>
        <ns0:spPr>
          <ns1:xfrm>
            <ns1:off x="320040" y="1234440"/>
            <ns1:ext cx="54864" cy="566928"/>
          </ns1:xfrm>
          <ns1:prstGeom prst="rect">
            <ns1:avLst/>
          </ns1:prstGeom>
          <ns1:solidFill>
            <ns1:srgbClr val="1565C0"/>
          </ns1:solidFill>
          <ns1:ln w="12700">
            <ns1:solidFill>
              <ns1:srgbClr val="1565C0"/>
            </ns1:solidFill>
            <ns1:prstDash val="solid"/>
          </ns1:ln>
        </ns0:spPr>
      </ns0:sp>
      <ns0:sp>
        <ns0:nvSpPr>
          <ns0:cNvPr id="7" name="Text 5"/>
          <ns0:cNvSpPr/>
          <ns0:nvPr/>
        </ns0:nvSpPr>
        <ns0:spPr>
          <ns1:xfrm>
            <ns1:off x="457200" y="1307592"/>
            <ns1:ext cx="502920" cy="420624"/>
          </ns1:xfrm>
          <ns1:prstGeom prst="rect">
            <ns1:avLst/>
          </ns1:prstGeom>
          <ns1:noFill/>
          <ns1:ln/>
        </ns0:spPr>
        <ns0:txBody>
          <ns1:bodyPr wrap="square" rtlCol="0" anchor="ctr"/>
          <ns1:lstStyle/>
          <ns1:p>
            <ns1:pPr marL="0" indent="0" algn="ctr">
              <ns1:buNone/>
            </ns1:pPr>
            <ns1:r>
              <ns1:rPr lang="en-US" sz="2200" b="1" dirty="0">
                <ns1:solidFill>
                  <ns1:srgbClr val="1565C0"/>
                </ns1:solidFill>
              </ns1:rPr>
              <ns1:t>01</ns1:t>
            </ns1:r>
            <ns1:endParaRPr lang="en-US" sz="2200" dirty="0"/>
          </ns1:p>
        </ns0:txBody>
      </ns0:sp>
      <ns0:sp>
        <ns0:nvSpPr>
          <ns0:cNvPr id="8" name="Text 6"/>
          <ns0:cNvSpPr/>
          <ns0:nvPr/>
        </ns0:nvSpPr>
        <ns0:spPr>
          <ns1:xfrm>
            <ns1:off x="1005840" y="1344168"/>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Introduction</ns1:t>
            </ns1:r>
            <ns1:endParaRPr lang="en-US" sz="1300" dirty="0"/>
          </ns1:p>
        </ns0:txBody>
      </ns0:sp>
      <ns0:sp>
        <ns0:nvSpPr>
          <ns0:cNvPr id="9" name="Shape 7"/>
          <ns0:cNvSpPr/>
          <ns0:nvPr/>
        </ns0:nvSpPr>
        <ns0:spPr>
          <ns1:xfrm>
            <ns1:off x="320040" y="1947672"/>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10" name="Shape 8"/>
          <ns0:cNvSpPr/>
          <ns0:nvPr/>
        </ns0:nvSpPr>
        <ns0:spPr>
          <ns1:xfrm>
            <ns1:off x="320040" y="1947672"/>
            <ns1:ext cx="54864" cy="566928"/>
          </ns1:xfrm>
          <ns1:prstGeom prst="rect">
            <ns1:avLst/>
          </ns1:prstGeom>
          <ns1:solidFill>
            <ns1:srgbClr val="00BCD4"/>
          </ns1:solidFill>
          <ns1:ln w="12700">
            <ns1:solidFill>
              <ns1:srgbClr val="00BCD4"/>
            </ns1:solidFill>
            <ns1:prstDash val="solid"/>
          </ns1:ln>
        </ns0:spPr>
      </ns0:sp>
      <ns0:sp>
        <ns0:nvSpPr>
          <ns0:cNvPr id="11" name="Text 9"/>
          <ns0:cNvSpPr/>
          <ns0:nvPr/>
        </ns0:nvSpPr>
        <ns0:spPr>
          <ns1:xfrm>
            <ns1:off x="457200" y="2020824"/>
            <ns1:ext cx="502920" cy="420624"/>
          </ns1:xfrm>
          <ns1:prstGeom prst="rect">
            <ns1:avLst/>
          </ns1:prstGeom>
          <ns1:noFill/>
          <ns1:ln/>
        </ns0:spPr>
        <ns0:txBody>
          <ns1:bodyPr wrap="square" rtlCol="0" anchor="ctr"/>
          <ns1:lstStyle/>
          <ns1:p>
            <ns1:pPr marL="0" indent="0" algn="ctr">
              <ns1:buNone/>
            </ns1:pPr>
            <ns1:r>
              <ns1:rPr lang="en-US" sz="2200" b="1" dirty="0">
                <ns1:solidFill>
                  <ns1:srgbClr val="00BCD4"/>
                </ns1:solidFill>
              </ns1:rPr>
              <ns1:t>02</ns1:t>
            </ns1:r>
            <ns1:endParaRPr lang="en-US" sz="2200" dirty="0"/>
          </ns1:p>
        </ns0:txBody>
      </ns0:sp>
      <ns0:sp>
        <ns0:nvSpPr>
          <ns0:cNvPr id="12" name="Text 10"/>
          <ns0:cNvSpPr/>
          <ns0:nvPr/>
        </ns0:nvSpPr>
        <ns0:spPr>
          <ns1:xfrm>
            <ns1:off x="1005840" y="2057400"/>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Applications</ns1:t>
            </ns1:r>
            <ns1:endParaRPr lang="en-US" sz="1300" dirty="0"/>
          </ns1:p>
        </ns0:txBody>
      </ns0:sp>
      <ns0:sp>
        <ns0:nvSpPr>
          <ns0:cNvPr id="13" name="Shape 11"/>
          <ns0:cNvSpPr/>
          <ns0:nvPr/>
        </ns0:nvSpPr>
        <ns0:spPr>
          <ns1:xfrm>
            <ns1:off x="320040" y="2660904"/>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14" name="Shape 12"/>
          <ns0:cNvSpPr/>
          <ns0:nvPr/>
        </ns0:nvSpPr>
        <ns0:spPr>
          <ns1:xfrm>
            <ns1:off x="320040" y="2660904"/>
            <ns1:ext cx="54864" cy="566928"/>
          </ns1:xfrm>
          <ns1:prstGeom prst="rect">
            <ns1:avLst/>
          </ns1:prstGeom>
          <ns1:solidFill>
            <ns1:srgbClr val="1565C0"/>
          </ns1:solidFill>
          <ns1:ln w="12700">
            <ns1:solidFill>
              <ns1:srgbClr val="1565C0"/>
            </ns1:solidFill>
            <ns1:prstDash val="solid"/>
          </ns1:ln>
        </ns0:spPr>
      </ns0:sp>
      <ns0:sp>
        <ns0:nvSpPr>
          <ns0:cNvPr id="15" name="Text 13"/>
          <ns0:cNvSpPr/>
          <ns0:nvPr/>
        </ns0:nvSpPr>
        <ns0:spPr>
          <ns1:xfrm>
            <ns1:off x="457200" y="2734056"/>
            <ns1:ext cx="502920" cy="420624"/>
          </ns1:xfrm>
          <ns1:prstGeom prst="rect">
            <ns1:avLst/>
          </ns1:prstGeom>
          <ns1:noFill/>
          <ns1:ln/>
        </ns0:spPr>
        <ns0:txBody>
          <ns1:bodyPr wrap="square" rtlCol="0" anchor="ctr"/>
          <ns1:lstStyle/>
          <ns1:p>
            <ns1:pPr marL="0" indent="0" algn="ctr">
              <ns1:buNone/>
            </ns1:pPr>
            <ns1:r>
              <ns1:rPr lang="en-US" sz="2200" b="1" dirty="0">
                <ns1:solidFill>
                  <ns1:srgbClr val="1565C0"/>
                </ns1:solidFill>
              </ns1:rPr>
              <ns1:t>03</ns1:t>
            </ns1:r>
            <ns1:endParaRPr lang="en-US" sz="2200" dirty="0"/>
          </ns1:p>
        </ns0:txBody>
      </ns0:sp>
      <ns0:sp>
        <ns0:nvSpPr>
          <ns0:cNvPr id="16" name="Text 14"/>
          <ns0:cNvSpPr/>
          <ns0:nvPr/>
        </ns0:nvSpPr>
        <ns0:spPr>
          <ns1:xfrm>
            <ns1:off x="1005840" y="2770632"/>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Literature Survey</ns1:t>
            </ns1:r>
            <ns1:endParaRPr lang="en-US" sz="1300" dirty="0"/>
          </ns1:p>
        </ns0:txBody>
      </ns0:sp>
      <ns0:sp>
        <ns0:nvSpPr>
          <ns0:cNvPr id="17" name="Shape 15"/>
          <ns0:cNvSpPr/>
          <ns0:nvPr/>
        </ns0:nvSpPr>
        <ns0:spPr>
          <ns1:xfrm>
            <ns1:off x="320040" y="3374136"/>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18" name="Shape 16"/>
          <ns0:cNvSpPr/>
          <ns0:nvPr/>
        </ns0:nvSpPr>
        <ns0:spPr>
          <ns1:xfrm>
            <ns1:off x="320040" y="3374136"/>
            <ns1:ext cx="54864" cy="566928"/>
          </ns1:xfrm>
          <ns1:prstGeom prst="rect">
            <ns1:avLst/>
          </ns1:prstGeom>
          <ns1:solidFill>
            <ns1:srgbClr val="FF6F00"/>
          </ns1:solidFill>
          <ns1:ln w="12700">
            <ns1:solidFill>
              <ns1:srgbClr val="FF6F00"/>
            </ns1:solidFill>
            <ns1:prstDash val="solid"/>
          </ns1:ln>
        </ns0:spPr>
      </ns0:sp>
      <ns0:sp>
        <ns0:nvSpPr>
          <ns0:cNvPr id="19" name="Text 17"/>
          <ns0:cNvSpPr/>
          <ns0:nvPr/>
        </ns0:nvSpPr>
        <ns0:spPr>
          <ns1:xfrm>
            <ns1:off x="457200" y="3447288"/>
            <ns1:ext cx="502920" cy="420624"/>
          </ns1:xfrm>
          <ns1:prstGeom prst="rect">
            <ns1:avLst/>
          </ns1:prstGeom>
          <ns1:noFill/>
          <ns1:ln/>
        </ns0:spPr>
        <ns0:txBody>
          <ns1:bodyPr wrap="square" rtlCol="0" anchor="ctr"/>
          <ns1:lstStyle/>
          <ns1:p>
            <ns1:pPr marL="0" indent="0" algn="ctr">
              <ns1:buNone/>
            </ns1:pPr>
            <ns1:r>
              <ns1:rPr lang="en-US" sz="2200" b="1" dirty="0">
                <ns1:solidFill>
                  <ns1:srgbClr val="FF6F00"/>
                </ns1:solidFill>
              </ns1:rPr>
              <ns1:t>04</ns1:t>
            </ns1:r>
            <ns1:endParaRPr lang="en-US" sz="2200" dirty="0"/>
          </ns1:p>
        </ns0:txBody>
      </ns0:sp>
      <ns0:sp>
        <ns0:nvSpPr>
          <ns0:cNvPr id="20" name="Text 18"/>
          <ns0:cNvSpPr/>
          <ns0:nvPr/>
        </ns0:nvSpPr>
        <ns0:spPr>
          <ns1:xfrm>
            <ns1:off x="1005840" y="3483864"/>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Research Gaps &amp; Objectives</ns1:t>
            </ns1:r>
            <ns1:endParaRPr lang="en-US" sz="1300" dirty="0"/>
          </ns1:p>
        </ns0:txBody>
      </ns0:sp>
      <ns0:sp>
        <ns0:nvSpPr>
          <ns0:cNvPr id="21" name="Shape 19"/>
          <ns0:cNvSpPr/>
          <ns0:nvPr/>
        </ns0:nvSpPr>
        <ns0:spPr>
          <ns1:xfrm>
            <ns1:off x="4754880" y="1234440"/>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sp>
      <ns0:sp>
        <ns0:nvSpPr>
          <ns0:cNvPr id="22" name="Shape 20"/>
          <ns0:cNvSpPr/>
          <ns0:nvPr/>
        </ns0:nvSpPr>
        <ns0:spPr>
          <ns1:xfrm>
            <ns1:off x="4754880" y="1234440"/>
            <ns1:ext cx="54864" cy="566928"/>
          </ns1:xfrm>
          <ns1:prstGeom prst="rect">
            <ns1:avLst/>
          </ns1:prstGeom>
          <ns1:solidFill>
            <ns1:srgbClr val="1565C0"/>
          </ns1:solidFill>
          <ns1:ln w="12700">
            <ns1:solidFill>
              <ns1:srgbClr val="1565C0"/>
            </ns1:solidFill>
            <ns1:prstDash val="solid"/>
          </ns1:ln>
        </ns0:spPr>
      </ns0:sp>
      <ns0:sp>
        <ns0:nvSpPr>
          <ns0:cNvPr id="23" name="Text 21"/>
          <ns0:cNvSpPr/>
          <ns0:nvPr/>
        </ns0:nvSpPr>
        <ns0:spPr>
          <ns1:xfrm>
            <ns1:off x="4892040" y="1307592"/>
            <ns1:ext cx="502920" cy="420624"/>
          </ns1:xfrm>
          <ns1:prstGeom prst="rect">
            <ns1:avLst/>
          </ns1:prstGeom>
          <ns1:noFill/>
          <ns1:ln/>
        </ns0:spPr>
        <ns0:txBody>
          <ns1:bodyPr wrap="square" rtlCol="0" anchor="ctr"/>
          <ns1:lstStyle/>
          <ns1:p>
            <ns1:pPr marL="0" indent="0" algn="ctr">
              <ns1:buNone/>
            </ns1:pPr>
            <ns1:r>
              <ns1:rPr lang="en-US" sz="2200" b="1" dirty="0">
                <ns1:solidFill>
                  <ns1:srgbClr val="1565C0"/>
                </ns1:solidFill>
              </ns1:rPr>
              <ns1:t>05</ns1:t>
            </ns1:r>
            <ns1:endParaRPr lang="en-US" sz="2200" dirty="0"/>
          </ns1:p>
        </ns0:txBody>
      </ns0:sp>
      <ns0:sp>
        <ns0:nvSpPr>
          <ns0:cNvPr id="24" name="Text 22"/>
          <ns0:cNvSpPr/>
          <ns0:nvPr/>
        </ns0:nvSpPr>
        <ns0:spPr>
          <ns1:xfrm>
            <ns1:off x="5440680" y="1344168"/>
            <ns1:ext cx="3383280" cy="347472"/>
          </ns1:xfrm>
          <ns1:prstGeom prst="rect">
            <ns1:avLst/>
          </ns1:prstGeom>
          <ns1:noFill/>
          <ns1:ln/>
        </ns0:spPr>
        <ns0:txBody>
          <ns1:bodyPr wrap="square" rtlCol="0" anchor="ctr"/>
          <ns1:lstStyle/>
          <ns1:p>
            <ns1:pPr marL="0" indent="0">
              <ns1:buNone/>
            </ns1:pPr>
            <ns1:r>
              <ns1:rPr lang="en-US" sz="1300" b="1" dirty="0">
                <ns1:solidFill>
                  <ns1:srgbClr val="0A1628"/>
                </ns1:solidFill>
              </ns1:rPr>
              <ns1:t>Methodology &amp; Workflow</ns1:t>
            </ns1:r>
            <ns1:endParaRPr lang="en-US" sz="1300" dirty="0"/>
          </ns1:p>
        </ns0:txBody>
      </ns0:sp>
      <ns0:sp>
        <ns0:nvSpPr>
          <ns0:cNvPr id="25" name="Shape 23"/>
          <ns0:cNvSpPr/>
          <ns0:nvPr/>
        </ns0:nvSpPr>
        <ns0:spPr>
          <ns1:xfrm>
            <ns1:off x="4809744" y="1975608"/>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txBody>
          <ns1:bodyPr/>
          <ns1:lstStyle/>
          <ns1:p>
            <ns1:endParaRPr lang="en-US" dirty="0"/>
          </ns1:p>
        </ns0:txBody>
      </ns0:sp>
      <ns0:sp>
        <ns0:nvSpPr>
          <ns0:cNvPr id="26" name="Shape 24"/>
          <ns0:cNvSpPr/>
          <ns0:nvPr/>
        </ns0:nvSpPr>
        <ns0:spPr>
          <ns1:xfrm>
            <ns1:off x="4754880" y="1947672"/>
            <ns1:ext cx="54864" cy="566928"/>
          </ns1:xfrm>
          <ns1:prstGeom prst="rect">
            <ns1:avLst/>
          </ns1:prstGeom>
          <ns1:solidFill>
            <ns1:srgbClr val="00897B"/>
          </ns1:solidFill>
          <ns1:ln w="12700">
            <ns1:solidFill>
              <ns1:srgbClr val="00897B"/>
            </ns1:solidFill>
            <ns1:prstDash val="solid"/>
          </ns1:ln>
        </ns0:spPr>
      </ns0:sp>
      <ns0:sp>
        <ns0:nvSpPr>
          <ns0:cNvPr id="27" name="Text 25"/>
          <ns0:cNvSpPr/>
          <ns0:nvPr/>
        </ns0:nvSpPr>
        <ns0:spPr>
          <ns1:xfrm>
            <ns1:off x="4892040" y="2020824"/>
            <ns1:ext cx="502920" cy="420624"/>
          </ns1:xfrm>
          <ns1:prstGeom prst="rect">
            <ns1:avLst/>
          </ns1:prstGeom>
          <ns1:noFill/>
          <ns1:ln/>
        </ns0:spPr>
        <ns0:txBody>
          <ns1:bodyPr wrap="square" rtlCol="0" anchor="ctr"/>
          <ns1:lstStyle/>
          <ns1:p>
            <ns1:pPr marL="0" indent="0" algn="ctr">
              <ns1:buNone/>
            </ns1:pPr>
            <ns1:r>
              <ns1:rPr lang="en-US" sz="2200" b="1" dirty="0">
                <ns1:solidFill>
                  <ns1:srgbClr val="00897B"/>
                </ns1:solidFill>
              </ns1:rPr>
              <ns1:t>06</ns1:t>
            </ns1:r>
            <ns1:endParaRPr lang="en-US" sz="2200" dirty="0"/>
          </ns1:p>
        </ns0:txBody>
      </ns0:sp>
      <ns0:sp>
        <ns0:nvSpPr>
          <ns0:cNvPr id="28" name="Text 26"/>
          <ns0:cNvSpPr/>
          <ns0:nvPr/>
        </ns0:nvSpPr>
        <ns0:spPr>
          <ns1:xfrm>
            <ns1:off x="5440680" y="2057400"/>
            <ns1:ext cx="3383280" cy="347472"/>
          </ns1:xfrm>
          <ns1:prstGeom prst="rect">
            <ns1:avLst/>
          </ns1:prstGeom>
          <ns1:noFill/>
          <ns1:ln/>
        </ns0:spPr>
        <ns0:txBody>
          <ns1:bodyPr wrap="square" rtlCol="0" anchor="ctr"/>
          <ns1:lstStyle/>
          <ns1:p>
            <ns1:pPr marL="0" indent="0">
              <ns1:buNone/>
            </ns1:pPr>
            <ns1:r>
              <ns1:rPr lang="en-US" sz="1300" b="1" dirty="0">
                <ns1:solidFill>
                  <ns1:schemeClr val="bg1"/>
                </ns1:solidFill>
              </ns1:rPr>
              <ns1:t>Results &amp; Discussion</ns1:t>
            </ns1:r>
          </ns1:p>
        </ns0:txBody>
      </ns0:sp>
      <ns0:sp>
        <ns0:nvSpPr>
          <ns0:cNvPr id="30" name="Shape 28"/>
          <ns0:cNvSpPr/>
          <ns0:nvPr/>
        </ns0:nvSpPr>
        <ns0:spPr>
          <ns1:xfrm>
            <ns1:off x="4754880" y="2660904"/>
            <ns1:ext cx="54864" cy="566928"/>
          </ns1:xfrm>
          <ns1:prstGeom prst="rect">
            <ns1:avLst/>
          </ns1:prstGeom>
          <ns1:solidFill>
            <ns1:srgbClr val="00B050"/>
          </ns1:solidFill>
          <ns1:ln w="12700">
            <ns1:solidFill>
              <ns1:srgbClr val="0A1628"/>
            </ns1:solidFill>
            <ns1:prstDash val="solid"/>
          </ns1:ln>
        </ns0:spPr>
      </ns0:sp>
      <ns0:sp>
        <ns0:nvSpPr>
          <ns0:cNvPr id="32" name="Text 30"/>
          <ns0:cNvSpPr/>
          <ns0:nvPr/>
        </ns0:nvSpPr>
        <ns0:spPr>
          <ns1:xfrm>
            <ns1:off x="4892040" y="2643120"/>
            <ns1:ext cx="3931920" cy="584712"/>
          </ns1:xfrm>
          <ns1:prstGeom prst="rect">
            <ns1:avLst/>
          </ns1:prstGeom>
          <ns1:noFill/>
          <ns1:ln/>
        </ns0:spPr>
        <ns0:txBody>
          <ns1:bodyPr wrap="square" rtlCol="0" anchor="ctr"/>
          <ns1:lstStyle/>
          <ns1:p>
            <ns1:pPr marL="0" indent="0">
              <ns1:buNone/>
            </ns1:pPr>
            <ns1:endParaRPr lang="en-US" sz="1300" dirty="0"/>
          </ns1:p>
        </ns0:txBody>
      </ns0:sp>
      <ns0:sp>
        <ns0:nvSpPr>
          <ns0:cNvPr id="34" name="Shape 27"/>
          <ns0:cNvSpPr/>
          <ns0:nvPr/>
        </ns0:nvSpPr>
        <ns0:spPr>
          <ns1:xfrm>
            <ns1:off x="4754880" y="3374136"/>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txBody>
          <ns1:bodyPr/>
          <ns1:lstStyle/>
          <ns1:p>
            <ns1:r>
              <ns1:rPr lang="en-US" sz="2200" b="1" dirty="0">
                <ns1:solidFill>
                  <ns1:schemeClr val="bg1"/>
                </ns1:solidFill>
              </ns1:rPr>
              <ns1:t>08</ns1:t>
            </ns1:r>
            <ns1:r>
              <ns1:rPr lang="en-US" sz="1300" b="1" dirty="0">
                <ns1:solidFill>
                  <ns1:schemeClr val="bg1"/>
                </ns1:solidFill>
              </ns1:rPr>
              <ns1:t>References</ns1:t>
            </ns1:r>
          </ns1:p>
        </ns0:txBody>
      </ns0:sp>
      <ns0:sp>
        <ns0:nvSpPr>
          <ns0:cNvPr id="35" name="Shape 28"/>
          <ns0:cNvSpPr/>
          <ns0:nvPr/>
        </ns0:nvSpPr>
        <ns0:spPr>
          <ns1:xfrm>
            <ns1:off x="4754880" y="3374136"/>
            <ns1:ext cx="54864" cy="566928"/>
          </ns1:xfrm>
          <ns1:prstGeom prst="rect">
            <ns1:avLst/>
          </ns1:prstGeom>
          <ns1:solidFill>
            <ns1:schemeClr val="accent6">
              <ns1:lumMod val="75000"/>
            </ns1:schemeClr>
          </ns1:solidFill>
          <ns1:ln w="12700">
            <ns1:solidFill>
              <ns1:srgbClr val="0A1628"/>
            </ns1:solidFill>
            <ns1:prstDash val="solid"/>
          </ns1:ln>
        </ns0:spPr>
      </ns0:sp>
      <ns0:sp>
        <ns0:nvSpPr>
          <ns0:cNvPr id="37" name="Shape 11">
            <ns1:extLst>
              <ns1:ext uri="{FF2B5EF4-FFF2-40B4-BE49-F238E27FC236}">
                <ns2:creationId id="{F991D667-817A-2B85-B792-EE9893F2678D}"/>
              </ns1:ext>
            </ns1:extLst>
          </ns0:cNvPr>
          <ns0:cNvSpPr/>
          <ns0:nvPr/>
        </ns0:nvSpPr>
        <ns0:spPr>
          <ns1:xfrm>
            <ns1:off x="4809744" y="2643120"/>
            <ns1:ext cx="4160520" cy="566928"/>
          </ns1:xfrm>
          <ns1:prstGeom prst="rect">
            <ns1:avLst/>
          </ns1:prstGeom>
          <ns1:solidFill>
            <ns1:srgbClr val="FFFFFF"/>
          </ns1:solidFill>
          <ns1:ln w="12700">
            <ns1:solidFill>
              <ns1:srgbClr val="E8EEF8"/>
            </ns1:solidFill>
            <ns1:prstDash val="solid"/>
          </ns1:ln>
          <ns1:effectLst>
            <ns1:outerShdw blurRad="101600" dist="38100" dir="8100000" algn="bl" rotWithShape="0">
              <ns1:srgbClr val="000000">
                <ns1:alpha val="12000"/>
              </ns1:srgbClr>
            </ns1:outerShdw>
          </ns1:effectLst>
        </ns0:spPr>
        <ns0:txBody>
          <ns1:bodyPr/>
          <ns1:lstStyle/>
          <ns1:p>
            <ns1:r>
              <ns1:rPr lang="en-US" sz="1300" dirty="0"/>
              <ns1:t/>
            </ns1:r>
          </ns1:p>
          <ns1:p>
            <ns1:r>
              <ns1:rPr lang="en-US" sz="2200" b="1" dirty="0">
                <ns1:solidFill>
                  <ns1:schemeClr val="bg2">
                    <ns1:lumMod val="50000"/>
                  </ns1:schemeClr>
                </ns1:solidFill>
              </ns1:rPr>
              <ns1:t>07</ns1:t>
            </ns1:r>
            <ns1:r>
              <ns1:rPr lang="en-US" sz="2200" dirty="0">
                <ns1:solidFill>
                  <ns1:schemeClr val="bg1"/>
                </ns1:solidFill>
              </ns1:rPr>
              <ns1:t/>
            </ns1:r>
            <ns1:r>
              <ns1:rPr lang="en-US" sz="1300" b="1" dirty="0">
                <ns1:solidFill>
                  <ns1:schemeClr val="bg1"/>
                </ns1:solidFill>
              </ns1:rPr>
              <ns1:t>Summary &amp; Conclusion</ns1:t>
            </ns1:r>
            <ns1:endParaRPr lang="en-IN" sz="1300" b="1" dirty="0"/>
          </ns1:p>
        </ns0:txBody>
      </ns0:sp>
    </ns0:spTree>
  </ns0:cSld>
  <ns0:clrMapOvr>
    <ns1:masterClrMapping/>
  </ns0:clrMapOvr>
</ns0: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A1628"/>
          </a:solidFill>
          <a:ln w="12700">
            <a:solidFill>
              <a:srgbClr val="0A1628"/>
            </a:solidFill>
            <a:prstDash val="solid"/>
          </a:ln>
        </p:spPr>
      </p:sp>
      <p:sp>
        <p:nvSpPr>
          <p:cNvPr id="3" name="Shape 1"/>
          <p:cNvSpPr/>
          <p:nvPr/>
        </p:nvSpPr>
        <p:spPr>
          <a:xfrm>
            <a:off x="3108960" y="0"/>
            <a:ext cx="54864" cy="5143500"/>
          </a:xfrm>
          <a:prstGeom prst="rect">
            <a:avLst/>
          </a:prstGeom>
          <a:solidFill>
            <a:srgbClr val="00BCD4"/>
          </a:solidFill>
          <a:ln w="12700">
            <a:solidFill>
              <a:srgbClr val="00BCD4"/>
            </a:solidFill>
            <a:prstDash val="solid"/>
          </a:ln>
        </p:spPr>
      </p:sp>
      <p:sp>
        <p:nvSpPr>
          <p:cNvPr id="4" name="Text 2"/>
          <p:cNvSpPr/>
          <p:nvPr/>
        </p:nvSpPr>
        <p:spPr>
          <a:xfrm>
            <a:off x="182880" y="274320"/>
            <a:ext cx="2743200" cy="411480"/>
          </a:xfrm>
          <a:prstGeom prst="rect">
            <a:avLst/>
          </a:prstGeom>
          <a:noFill/>
          <a:ln/>
        </p:spPr>
        <p:txBody>
          <a:bodyPr wrap="square" rtlCol="0" anchor="ctr"/>
          <a:lstStyle/>
          <a:p>
            <a:pPr marL="0" indent="0">
              <a:buNone/>
            </a:pPr>
            <a:r>
              <a:rPr lang="en-US" sz="1300" b="1" kern="0" spc="200" dirty="0">
                <a:solidFill>
                  <a:srgbClr val="00BCD4"/>
                </a:solidFill>
              </a:rPr>
              <a:t>INTRODUCTION</a:t>
            </a:r>
            <a:endParaRPr lang="en-US" sz="1300" dirty="0"/>
          </a:p>
        </p:txBody>
      </p:sp>
      <p:sp>
        <p:nvSpPr>
          <p:cNvPr id="5" name="Text 3"/>
          <p:cNvSpPr/>
          <p:nvPr/>
        </p:nvSpPr>
        <p:spPr>
          <a:xfrm>
            <a:off x="182880" y="658368"/>
            <a:ext cx="2743200" cy="68580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Background</a:t>
            </a:r>
            <a:endParaRPr lang="en-US" sz="2800" dirty="0"/>
          </a:p>
        </p:txBody>
      </p:sp>
      <p:sp>
        <p:nvSpPr>
          <p:cNvPr id="6" name="Shape 4"/>
          <p:cNvSpPr/>
          <p:nvPr/>
        </p:nvSpPr>
        <p:spPr>
          <a:xfrm>
            <a:off x="182880" y="1316736"/>
            <a:ext cx="2560320" cy="36576"/>
          </a:xfrm>
          <a:prstGeom prst="rect">
            <a:avLst/>
          </a:prstGeom>
          <a:solidFill>
            <a:srgbClr val="00BCD4"/>
          </a:solidFill>
          <a:ln w="12700">
            <a:solidFill>
              <a:srgbClr val="00BCD4"/>
            </a:solidFill>
            <a:prstDash val="solid"/>
          </a:ln>
        </p:spPr>
      </p:sp>
      <p:sp>
        <p:nvSpPr>
          <p:cNvPr id="7" name="Text 5"/>
          <p:cNvSpPr/>
          <p:nvPr/>
        </p:nvSpPr>
        <p:spPr>
          <a:xfrm>
            <a:off x="182880" y="1463040"/>
            <a:ext cx="2743200" cy="365760"/>
          </a:xfrm>
          <a:prstGeom prst="rect">
            <a:avLst/>
          </a:prstGeom>
          <a:noFill/>
          <a:ln/>
        </p:spPr>
        <p:txBody>
          <a:bodyPr wrap="square" rtlCol="0" anchor="ctr"/>
          <a:lstStyle/>
          <a:p>
            <a:pPr marL="0" indent="0">
              <a:buNone/>
            </a:pPr>
            <a:r>
              <a:rPr lang="en-US" sz="1300" b="1" dirty="0">
                <a:solidFill>
                  <a:srgbClr val="8ECAE6"/>
                </a:solidFill>
              </a:rPr>
              <a:t>The Critical Role of Bearings</a:t>
            </a:r>
            <a:endParaRPr lang="en-US" sz="1300" dirty="0"/>
          </a:p>
        </p:txBody>
      </p:sp>
      <p:sp>
        <p:nvSpPr>
          <p:cNvPr id="8" name="Text 6"/>
          <p:cNvSpPr/>
          <p:nvPr/>
        </p:nvSpPr>
        <p:spPr>
          <a:xfrm>
            <a:off x="182880" y="1810512"/>
            <a:ext cx="2724912" cy="548640"/>
          </a:xfrm>
          <a:prstGeom prst="rect">
            <a:avLst/>
          </a:prstGeom>
          <a:noFill/>
          <a:ln/>
        </p:spPr>
        <p:txBody>
          <a:bodyPr wrap="square" rtlCol="0" anchor="ctr"/>
          <a:lstStyle/>
          <a:p>
            <a:pPr marL="0" indent="0">
              <a:lnSpc>
                <a:spcPct val="130000"/>
              </a:lnSpc>
              <a:buNone/>
            </a:pPr>
            <a:r>
              <a:rPr lang="en-US" sz="1050" dirty="0">
                <a:solidFill>
                  <a:srgbClr val="CBD5E0"/>
                </a:solidFill>
              </a:rPr>
              <a:t>Rotating machinery depends heavily on rolling element bearing health. Defects cause:</a:t>
            </a:r>
            <a:endParaRPr lang="en-US" sz="1050" dirty="0"/>
          </a:p>
        </p:txBody>
      </p:sp>
      <p:sp>
        <p:nvSpPr>
          <p:cNvPr id="9" name="Shape 7"/>
          <p:cNvSpPr/>
          <p:nvPr/>
        </p:nvSpPr>
        <p:spPr>
          <a:xfrm>
            <a:off x="182880" y="2423160"/>
            <a:ext cx="164592" cy="164592"/>
          </a:xfrm>
          <a:prstGeom prst="ellipse">
            <a:avLst/>
          </a:prstGeom>
          <a:solidFill>
            <a:srgbClr val="FF6F00"/>
          </a:solidFill>
          <a:ln w="12700">
            <a:solidFill>
              <a:srgbClr val="FF6F00"/>
            </a:solidFill>
            <a:prstDash val="solid"/>
          </a:ln>
        </p:spPr>
      </p:sp>
      <p:sp>
        <p:nvSpPr>
          <p:cNvPr id="10" name="Text 8"/>
          <p:cNvSpPr/>
          <p:nvPr/>
        </p:nvSpPr>
        <p:spPr>
          <a:xfrm>
            <a:off x="429768" y="2386584"/>
            <a:ext cx="2514600" cy="256032"/>
          </a:xfrm>
          <a:prstGeom prst="rect">
            <a:avLst/>
          </a:prstGeom>
          <a:noFill/>
          <a:ln/>
        </p:spPr>
        <p:txBody>
          <a:bodyPr wrap="square" rtlCol="0" anchor="ctr"/>
          <a:lstStyle/>
          <a:p>
            <a:pPr marL="0" indent="0">
              <a:buNone/>
            </a:pPr>
            <a:r>
              <a:rPr lang="en-US" sz="1100" dirty="0">
                <a:solidFill>
                  <a:srgbClr val="FFFFFF"/>
                </a:solidFill>
              </a:rPr>
              <a:t>Excess heat &amp; noise</a:t>
            </a:r>
            <a:endParaRPr lang="en-US" sz="1100" dirty="0"/>
          </a:p>
        </p:txBody>
      </p:sp>
      <p:sp>
        <p:nvSpPr>
          <p:cNvPr id="11" name="Shape 9"/>
          <p:cNvSpPr/>
          <p:nvPr/>
        </p:nvSpPr>
        <p:spPr>
          <a:xfrm>
            <a:off x="182880" y="2880360"/>
            <a:ext cx="164592" cy="164592"/>
          </a:xfrm>
          <a:prstGeom prst="ellipse">
            <a:avLst/>
          </a:prstGeom>
          <a:solidFill>
            <a:srgbClr val="FF6F00"/>
          </a:solidFill>
          <a:ln w="12700">
            <a:solidFill>
              <a:srgbClr val="FF6F00"/>
            </a:solidFill>
            <a:prstDash val="solid"/>
          </a:ln>
        </p:spPr>
      </p:sp>
      <p:sp>
        <p:nvSpPr>
          <p:cNvPr id="12" name="Text 10"/>
          <p:cNvSpPr/>
          <p:nvPr/>
        </p:nvSpPr>
        <p:spPr>
          <a:xfrm>
            <a:off x="429768" y="2843784"/>
            <a:ext cx="2514600" cy="256032"/>
          </a:xfrm>
          <a:prstGeom prst="rect">
            <a:avLst/>
          </a:prstGeom>
          <a:noFill/>
          <a:ln/>
        </p:spPr>
        <p:txBody>
          <a:bodyPr wrap="square" rtlCol="0" anchor="ctr"/>
          <a:lstStyle/>
          <a:p>
            <a:pPr marL="0" indent="0">
              <a:buNone/>
            </a:pPr>
            <a:r>
              <a:rPr lang="en-US" sz="1100" dirty="0">
                <a:solidFill>
                  <a:srgbClr val="FFFFFF"/>
                </a:solidFill>
              </a:rPr>
              <a:t>Efficiency loss</a:t>
            </a:r>
            <a:endParaRPr lang="en-US" sz="1100" dirty="0"/>
          </a:p>
        </p:txBody>
      </p:sp>
      <p:sp>
        <p:nvSpPr>
          <p:cNvPr id="13" name="Shape 11"/>
          <p:cNvSpPr/>
          <p:nvPr/>
        </p:nvSpPr>
        <p:spPr>
          <a:xfrm>
            <a:off x="182880" y="3337560"/>
            <a:ext cx="164592" cy="164592"/>
          </a:xfrm>
          <a:prstGeom prst="ellipse">
            <a:avLst/>
          </a:prstGeom>
          <a:solidFill>
            <a:srgbClr val="FF6F00"/>
          </a:solidFill>
          <a:ln w="12700">
            <a:solidFill>
              <a:srgbClr val="FF6F00"/>
            </a:solidFill>
            <a:prstDash val="solid"/>
          </a:ln>
        </p:spPr>
      </p:sp>
      <p:sp>
        <p:nvSpPr>
          <p:cNvPr id="14" name="Text 12"/>
          <p:cNvSpPr/>
          <p:nvPr/>
        </p:nvSpPr>
        <p:spPr>
          <a:xfrm>
            <a:off x="429768" y="3300984"/>
            <a:ext cx="2514600" cy="256032"/>
          </a:xfrm>
          <a:prstGeom prst="rect">
            <a:avLst/>
          </a:prstGeom>
          <a:noFill/>
          <a:ln/>
        </p:spPr>
        <p:txBody>
          <a:bodyPr wrap="square" rtlCol="0" anchor="ctr"/>
          <a:lstStyle/>
          <a:p>
            <a:pPr marL="0" indent="0">
              <a:buNone/>
            </a:pPr>
            <a:r>
              <a:rPr lang="en-US" sz="1100" dirty="0">
                <a:solidFill>
                  <a:srgbClr val="FFFFFF"/>
                </a:solidFill>
              </a:rPr>
              <a:t>Catastrophic shutdowns</a:t>
            </a:r>
            <a:endParaRPr lang="en-US" sz="1100" dirty="0"/>
          </a:p>
        </p:txBody>
      </p:sp>
      <p:sp>
        <p:nvSpPr>
          <p:cNvPr id="15" name="Shape 13"/>
          <p:cNvSpPr/>
          <p:nvPr/>
        </p:nvSpPr>
        <p:spPr>
          <a:xfrm>
            <a:off x="182880" y="3886200"/>
            <a:ext cx="2651760" cy="822960"/>
          </a:xfrm>
          <a:prstGeom prst="rect">
            <a:avLst/>
          </a:prstGeom>
          <a:solidFill>
            <a:srgbClr val="1565C0"/>
          </a:solidFill>
          <a:ln w="12700">
            <a:solidFill>
              <a:srgbClr val="1E88E5"/>
            </a:solidFill>
            <a:prstDash val="solid"/>
          </a:ln>
        </p:spPr>
      </p:sp>
      <p:sp>
        <p:nvSpPr>
          <p:cNvPr id="16" name="Text 14"/>
          <p:cNvSpPr/>
          <p:nvPr/>
        </p:nvSpPr>
        <p:spPr>
          <a:xfrm>
            <a:off x="256032" y="3950208"/>
            <a:ext cx="2514600" cy="694944"/>
          </a:xfrm>
          <a:prstGeom prst="rect">
            <a:avLst/>
          </a:prstGeom>
          <a:noFill/>
          <a:ln/>
        </p:spPr>
        <p:txBody>
          <a:bodyPr wrap="square" rtlCol="0" anchor="ctr"/>
          <a:lstStyle/>
          <a:p>
            <a:pPr marL="0" indent="0">
              <a:lnSpc>
                <a:spcPct val="130000"/>
              </a:lnSpc>
              <a:buNone/>
            </a:pPr>
            <a:r>
              <a:rPr lang="en-US" sz="1000" dirty="0">
                <a:solidFill>
                  <a:srgbClr val="FFFFFF"/>
                </a:solidFill>
              </a:rPr>
              <a:t>Vibration analysis is the most widely used non-invasive technique for early fault diagnosis.</a:t>
            </a:r>
            <a:endParaRPr lang="en-US" sz="1000" dirty="0"/>
          </a:p>
        </p:txBody>
      </p:sp>
      <p:sp>
        <p:nvSpPr>
          <p:cNvPr id="17" name="Shape 15"/>
          <p:cNvSpPr/>
          <p:nvPr/>
        </p:nvSpPr>
        <p:spPr>
          <a:xfrm>
            <a:off x="3337560" y="32004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18" name="Shape 16"/>
          <p:cNvSpPr/>
          <p:nvPr/>
        </p:nvSpPr>
        <p:spPr>
          <a:xfrm>
            <a:off x="3337560" y="320040"/>
            <a:ext cx="73152" cy="1371600"/>
          </a:xfrm>
          <a:prstGeom prst="rect">
            <a:avLst/>
          </a:prstGeom>
          <a:solidFill>
            <a:srgbClr val="1565C0"/>
          </a:solidFill>
          <a:ln w="12700">
            <a:solidFill>
              <a:srgbClr val="1565C0"/>
            </a:solidFill>
            <a:prstDash val="solid"/>
          </a:ln>
        </p:spPr>
      </p:sp>
      <p:sp>
        <p:nvSpPr>
          <p:cNvPr id="19" name="Shape 17"/>
          <p:cNvSpPr/>
          <p:nvPr/>
        </p:nvSpPr>
        <p:spPr>
          <a:xfrm>
            <a:off x="3520440" y="548640"/>
            <a:ext cx="731520" cy="731520"/>
          </a:xfrm>
          <a:prstGeom prst="rect">
            <a:avLst/>
          </a:prstGeom>
          <a:solidFill>
            <a:srgbClr val="E3F2FD"/>
          </a:solidFill>
          <a:ln w="12700">
            <a:solidFill>
              <a:srgbClr val="000000"/>
            </a:solidFill>
            <a:prstDash val="solid"/>
          </a:ln>
        </p:spPr>
      </p:sp>
      <p:sp>
        <p:nvSpPr>
          <p:cNvPr id="20" name="Text 18"/>
          <p:cNvSpPr/>
          <p:nvPr/>
        </p:nvSpPr>
        <p:spPr>
          <a:xfrm>
            <a:off x="3520440" y="57607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4343400" y="484632"/>
            <a:ext cx="4389120" cy="347472"/>
          </a:xfrm>
          <a:prstGeom prst="rect">
            <a:avLst/>
          </a:prstGeom>
          <a:noFill/>
          <a:ln/>
        </p:spPr>
        <p:txBody>
          <a:bodyPr wrap="square" rtlCol="0" anchor="ctr"/>
          <a:lstStyle/>
          <a:p>
            <a:pPr marL="0" indent="0">
              <a:buNone/>
            </a:pPr>
            <a:r>
              <a:rPr lang="en-US" sz="1500" b="1" dirty="0">
                <a:solidFill>
                  <a:srgbClr val="0A1628"/>
                </a:solidFill>
              </a:rPr>
              <a:t>Time-Domain Analysis</a:t>
            </a:r>
            <a:endParaRPr lang="en-US" sz="1500" dirty="0"/>
          </a:p>
        </p:txBody>
      </p:sp>
      <p:sp>
        <p:nvSpPr>
          <p:cNvPr id="22" name="Text 20"/>
          <p:cNvSpPr/>
          <p:nvPr/>
        </p:nvSpPr>
        <p:spPr>
          <a:xfrm>
            <a:off x="4343400" y="822960"/>
            <a:ext cx="4389120" cy="731520"/>
          </a:xfrm>
          <a:prstGeom prst="rect">
            <a:avLst/>
          </a:prstGeom>
          <a:noFill/>
          <a:ln/>
        </p:spPr>
        <p:txBody>
          <a:bodyPr wrap="square" rtlCol="0" anchor="ctr"/>
          <a:lstStyle/>
          <a:p>
            <a:pPr>
              <a:lnSpc>
                <a:spcPct val="130000"/>
              </a:lnSpc>
            </a:pPr>
            <a:r>
              <a:rPr lang="en-US" sz="1050" dirty="0">
                <a:solidFill>
                  <a:srgbClr val="37474F"/>
                </a:solidFill>
              </a:rPr>
              <a:t> Here we study how vibration amplitude changes with time and extract statistical indicators like RMS, standard deviation, </a:t>
            </a:r>
            <a:r>
              <a:rPr lang="en-US" sz="1050" dirty="0" err="1">
                <a:solidFill>
                  <a:srgbClr val="37474F"/>
                </a:solidFill>
              </a:rPr>
              <a:t>skewness</a:t>
            </a:r>
            <a:r>
              <a:rPr lang="en-US" sz="1050" dirty="0">
                <a:solidFill>
                  <a:srgbClr val="37474F"/>
                </a:solidFill>
              </a:rPr>
              <a:t>, kurtosis, and crest factor. These features help us capture signal energy, impulsiveness, and abnormal peaks caused by bearing defects.</a:t>
            </a:r>
            <a:endParaRPr lang="en-US" sz="1050" dirty="0"/>
          </a:p>
        </p:txBody>
      </p:sp>
      <p:sp>
        <p:nvSpPr>
          <p:cNvPr id="23" name="Shape 21"/>
          <p:cNvSpPr/>
          <p:nvPr/>
        </p:nvSpPr>
        <p:spPr>
          <a:xfrm>
            <a:off x="3337560" y="187452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24" name="Shape 22"/>
          <p:cNvSpPr/>
          <p:nvPr/>
        </p:nvSpPr>
        <p:spPr>
          <a:xfrm>
            <a:off x="3337560" y="1874520"/>
            <a:ext cx="73152" cy="1371600"/>
          </a:xfrm>
          <a:prstGeom prst="rect">
            <a:avLst/>
          </a:prstGeom>
          <a:solidFill>
            <a:srgbClr val="00BCD4"/>
          </a:solidFill>
          <a:ln w="12700">
            <a:solidFill>
              <a:srgbClr val="00BCD4"/>
            </a:solidFill>
            <a:prstDash val="solid"/>
          </a:ln>
        </p:spPr>
      </p:sp>
      <p:sp>
        <p:nvSpPr>
          <p:cNvPr id="25" name="Shape 23"/>
          <p:cNvSpPr/>
          <p:nvPr/>
        </p:nvSpPr>
        <p:spPr>
          <a:xfrm>
            <a:off x="3520440" y="2103120"/>
            <a:ext cx="731520" cy="731520"/>
          </a:xfrm>
          <a:prstGeom prst="rect">
            <a:avLst/>
          </a:prstGeom>
          <a:solidFill>
            <a:srgbClr val="E0F7FA"/>
          </a:solidFill>
          <a:ln w="12700">
            <a:solidFill>
              <a:srgbClr val="000000"/>
            </a:solidFill>
            <a:prstDash val="solid"/>
          </a:ln>
        </p:spPr>
      </p:sp>
      <p:sp>
        <p:nvSpPr>
          <p:cNvPr id="26" name="Text 24"/>
          <p:cNvSpPr/>
          <p:nvPr/>
        </p:nvSpPr>
        <p:spPr>
          <a:xfrm>
            <a:off x="3520440" y="213055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7" name="Text 25"/>
          <p:cNvSpPr/>
          <p:nvPr/>
        </p:nvSpPr>
        <p:spPr>
          <a:xfrm>
            <a:off x="4343400" y="2039112"/>
            <a:ext cx="4389120" cy="347472"/>
          </a:xfrm>
          <a:prstGeom prst="rect">
            <a:avLst/>
          </a:prstGeom>
          <a:noFill/>
          <a:ln/>
        </p:spPr>
        <p:txBody>
          <a:bodyPr wrap="square" rtlCol="0" anchor="ctr"/>
          <a:lstStyle/>
          <a:p>
            <a:pPr marL="0" indent="0">
              <a:buNone/>
            </a:pPr>
            <a:r>
              <a:rPr lang="en-US" sz="1500" b="1" dirty="0">
                <a:solidFill>
                  <a:srgbClr val="0A1628"/>
                </a:solidFill>
              </a:rPr>
              <a:t>Frequency Analysis</a:t>
            </a:r>
            <a:endParaRPr lang="en-US" sz="1500" dirty="0"/>
          </a:p>
        </p:txBody>
      </p:sp>
      <p:sp>
        <p:nvSpPr>
          <p:cNvPr id="28" name="Text 26"/>
          <p:cNvSpPr/>
          <p:nvPr/>
        </p:nvSpPr>
        <p:spPr>
          <a:xfrm>
            <a:off x="4343400" y="2377440"/>
            <a:ext cx="4389120" cy="731520"/>
          </a:xfrm>
          <a:prstGeom prst="rect">
            <a:avLst/>
          </a:prstGeom>
          <a:noFill/>
          <a:ln/>
        </p:spPr>
        <p:txBody>
          <a:bodyPr wrap="square" rtlCol="0" anchor="ctr"/>
          <a:lstStyle/>
          <a:p>
            <a:pPr>
              <a:lnSpc>
                <a:spcPct val="130000"/>
              </a:lnSpc>
            </a:pPr>
            <a:r>
              <a:rPr lang="en-US" sz="1050" dirty="0">
                <a:solidFill>
                  <a:srgbClr val="37474F"/>
                </a:solidFill>
              </a:rPr>
              <a:t>We apply FFT to convert the signal from time to frequency space. This reveals dominant frequency components and spectral patterns that are strongly linked to fault types such as inner race, outer race, and ball defects. Frequency features improve </a:t>
            </a:r>
            <a:r>
              <a:rPr lang="en-US" sz="1050" dirty="0" err="1">
                <a:solidFill>
                  <a:srgbClr val="37474F"/>
                </a:solidFill>
              </a:rPr>
              <a:t>separability</a:t>
            </a:r>
            <a:r>
              <a:rPr lang="en-US" sz="1050" dirty="0">
                <a:solidFill>
                  <a:srgbClr val="37474F"/>
                </a:solidFill>
              </a:rPr>
              <a:t> between classes.</a:t>
            </a:r>
            <a:endParaRPr lang="en-US" sz="1050" dirty="0"/>
          </a:p>
        </p:txBody>
      </p:sp>
      <p:sp>
        <p:nvSpPr>
          <p:cNvPr id="29" name="Shape 27"/>
          <p:cNvSpPr/>
          <p:nvPr/>
        </p:nvSpPr>
        <p:spPr>
          <a:xfrm>
            <a:off x="3337560" y="342900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30" name="Shape 28"/>
          <p:cNvSpPr/>
          <p:nvPr/>
        </p:nvSpPr>
        <p:spPr>
          <a:xfrm>
            <a:off x="3337560" y="3429000"/>
            <a:ext cx="73152" cy="1371600"/>
          </a:xfrm>
          <a:prstGeom prst="rect">
            <a:avLst/>
          </a:prstGeom>
          <a:solidFill>
            <a:srgbClr val="00897B"/>
          </a:solidFill>
          <a:ln w="12700">
            <a:solidFill>
              <a:srgbClr val="00897B"/>
            </a:solidFill>
            <a:prstDash val="solid"/>
          </a:ln>
        </p:spPr>
      </p:sp>
      <p:sp>
        <p:nvSpPr>
          <p:cNvPr id="31" name="Shape 29"/>
          <p:cNvSpPr/>
          <p:nvPr/>
        </p:nvSpPr>
        <p:spPr>
          <a:xfrm>
            <a:off x="3520440" y="3657600"/>
            <a:ext cx="731520" cy="731520"/>
          </a:xfrm>
          <a:prstGeom prst="rect">
            <a:avLst/>
          </a:prstGeom>
          <a:solidFill>
            <a:srgbClr val="E8F5E9"/>
          </a:solidFill>
          <a:ln w="12700">
            <a:solidFill>
              <a:srgbClr val="000000"/>
            </a:solidFill>
            <a:prstDash val="solid"/>
          </a:ln>
        </p:spPr>
      </p:sp>
      <p:sp>
        <p:nvSpPr>
          <p:cNvPr id="32" name="Text 30"/>
          <p:cNvSpPr/>
          <p:nvPr/>
        </p:nvSpPr>
        <p:spPr>
          <a:xfrm>
            <a:off x="3520440" y="368503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3" name="Text 31"/>
          <p:cNvSpPr/>
          <p:nvPr/>
        </p:nvSpPr>
        <p:spPr>
          <a:xfrm>
            <a:off x="4343400" y="3593592"/>
            <a:ext cx="4389120" cy="347472"/>
          </a:xfrm>
          <a:prstGeom prst="rect">
            <a:avLst/>
          </a:prstGeom>
          <a:noFill/>
          <a:ln/>
        </p:spPr>
        <p:txBody>
          <a:bodyPr wrap="square" rtlCol="0" anchor="ctr"/>
          <a:lstStyle/>
          <a:p>
            <a:pPr marL="0" indent="0">
              <a:buNone/>
            </a:pPr>
            <a:r>
              <a:rPr lang="en-US" sz="1500" b="1" dirty="0">
                <a:solidFill>
                  <a:srgbClr val="0A1628"/>
                </a:solidFill>
              </a:rPr>
              <a:t>ML Classification</a:t>
            </a:r>
            <a:endParaRPr lang="en-US" sz="1500" dirty="0"/>
          </a:p>
        </p:txBody>
      </p:sp>
      <p:sp>
        <p:nvSpPr>
          <p:cNvPr id="34" name="Text 32"/>
          <p:cNvSpPr/>
          <p:nvPr/>
        </p:nvSpPr>
        <p:spPr>
          <a:xfrm>
            <a:off x="4343400" y="3931920"/>
            <a:ext cx="4389120" cy="731520"/>
          </a:xfrm>
          <a:prstGeom prst="rect">
            <a:avLst/>
          </a:prstGeom>
          <a:noFill/>
          <a:ln/>
        </p:spPr>
        <p:txBody>
          <a:bodyPr wrap="square" rtlCol="0" anchor="ctr"/>
          <a:lstStyle/>
          <a:p>
            <a:pPr>
              <a:lnSpc>
                <a:spcPct val="130000"/>
              </a:lnSpc>
            </a:pPr>
            <a:r>
              <a:rPr lang="en-US" sz="1050" dirty="0">
                <a:solidFill>
                  <a:srgbClr val="37474F"/>
                </a:solidFill>
              </a:rPr>
              <a:t> We combine time- and frequency-domain features into a feature vector and train models like SVM and Random Forest. The classifier learns fault-specific patterns and predicts the bearing condition automatically. This gives us a fast, interpretable, and practical diagnosis pipeline</a:t>
            </a:r>
            <a:endParaRPr lang="en-US" sz="1050" dirty="0"/>
          </a:p>
        </p:txBody>
      </p:sp>
    </p:spTree>
  </p:cSld>
  <p:clrMapOvr>
    <a:masterClrMapping/>
  </p:clrMapOvr>
</p:sld>
</file>

<file path=ppt/slides/slide4.xml><?xml version="1.0" encoding="utf-8"?>
<ns0:sld xmlns:ns0="http://schemas.openxmlformats.org/presentationml/2006/main" xmlns:ns1="http://schemas.openxmlformats.org/drawingml/2006/main">
  <ns0:cSld name="Slide 4">
    <ns0:bg>
      <ns0:bgPr>
        <ns1:solidFill>
          <ns1:srgbClr val="F0F4FF"/>
        </ns1:solidFill>
        <ns1:effectLst/>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9144000" cy="1005840"/>
          </ns1:xfrm>
          <ns1:prstGeom prst="rect">
            <ns1:avLst/>
          </ns1:prstGeom>
          <ns1:solidFill>
            <ns1:srgbClr val="0A1628"/>
          </ns1:solidFill>
          <ns1:ln w="12700">
            <ns1:solidFill>
              <ns1:srgbClr val="0A1628"/>
            </ns1:solidFill>
            <ns1:prstDash val="solid"/>
          </ns1:ln>
        </ns0:spPr>
      </ns0:sp>
      <ns0:sp>
        <ns0:nvSpPr>
          <ns0:cNvPr id="3" name="Shape 1"/>
          <ns0:cNvSpPr/>
          <ns0:nvPr/>
        </ns0:nvSpPr>
        <ns0:spPr>
          <ns1:xfrm>
            <ns1:off x="0" y="960120"/>
            <ns1:ext cx="9144000" cy="64008"/>
          </ns1:xfrm>
          <ns1:prstGeom prst="rect">
            <ns1:avLst/>
          </ns1:prstGeom>
          <ns1:solidFill>
            <ns1:srgbClr val="FF6F00"/>
          </ns1:solidFill>
          <ns1:ln w="12700">
            <ns1:solidFill>
              <ns1:srgbClr val="FF6F00"/>
            </ns1:solidFill>
            <ns1:prstDash val="solid"/>
          </ns1:ln>
        </ns0:spPr>
      </ns0:sp>
      <ns0:sp>
        <ns0:nvSpPr>
          <ns0:cNvPr id="4" name="Text 2"/>
          <ns0:cNvSpPr/>
          <ns0:nvPr/>
        </ns0:nvSpPr>
        <ns0:spPr>
          <ns1:xfrm>
            <ns1:off x="457200" y="164592"/>
            <ns1:ext cx="8229600" cy="658368"/>
          </ns1:xfrm>
          <ns1:prstGeom prst="rect">
            <ns1:avLst/>
          </ns1:prstGeom>
          <ns1:noFill/>
          <ns1:ln/>
        </ns0:spPr>
        <ns0:txBody>
          <ns1:bodyPr wrap="square" rtlCol="0" anchor="ctr"/>
          <ns1:lstStyle/>
          <ns1:p>
            <ns1:pPr marL="0" indent="0">
              <ns1:buNone/>
            </ns1:pPr>
            <ns1:r>
              <ns1:rPr lang="en-US" sz="2800" b="1" dirty="0">
                <ns1:solidFill>
                  <ns1:srgbClr val="FFFFFF"/>
                </ns1:solidFill>
                <ns1:latin typeface="Calibri" pitchFamily="34" charset="0"/>
                <ns1:ea typeface="Calibri" pitchFamily="34" charset="-122"/>
                <ns1:cs typeface="Calibri" pitchFamily="34" charset="-120"/>
              </ns1:rPr>
              <ns1:t>INTRODUCTION: Problem Statement</ns1:t>
            </ns1:r>
            <ns1:endParaRPr lang="en-US" sz="2800" dirty="0"/>
          </ns1:p>
        </ns0:txBody>
      </ns0:sp>
      <ns0:sp>
        <ns0:nvSpPr>
          <ns0:cNvPr id="5" name="Shape 3"/>
          <ns0:cNvSpPr/>
          <ns0:nvPr/>
        </ns0:nvSpPr>
        <ns0:spPr>
          <ns1:xfrm>
            <ns1:off x="365760" y="1188720"/>
            <ns1:ext cx="8412480" cy="1325880"/>
          </ns1:xfrm>
          <ns1:prstGeom prst="rect">
            <ns1:avLst/>
          </ns1:prstGeom>
          <ns1:solidFill>
            <ns1:srgbClr val="FFFFFF"/>
          </ns1:solidFill>
          <ns1:ln w="12700">
            <ns1:solidFill>
              <ns1:srgbClr val="FFE0B2"/>
            </ns1:solidFill>
            <ns1:prstDash val="solid"/>
          </ns1:ln>
          <ns1:effectLst>
            <ns1:outerShdw blurRad="101600" dist="38100" dir="8100000" algn="bl" rotWithShape="0">
              <ns1:srgbClr val="000000">
                <ns1:alpha val="12000"/>
              </ns1:srgbClr>
            </ns1:outerShdw>
          </ns1:effectLst>
        </ns0:spPr>
      </ns0:sp>
      <ns0:sp>
        <ns0:nvSpPr>
          <ns0:cNvPr id="6" name="Shape 4"/>
          <ns0:cNvSpPr/>
          <ns0:nvPr/>
        </ns0:nvSpPr>
        <ns0:spPr>
          <ns1:xfrm>
            <ns1:off x="365760" y="1188720"/>
            <ns1:ext cx="82296" cy="1325880"/>
          </ns1:xfrm>
          <ns1:prstGeom prst="rect">
            <ns1:avLst/>
          </ns1:prstGeom>
          <ns1:solidFill>
            <ns1:srgbClr val="FF6F00"/>
          </ns1:solidFill>
          <ns1:ln w="12700">
            <ns1:solidFill>
              <ns1:srgbClr val="FF6F00"/>
            </ns1:solidFill>
            <ns1:prstDash val="solid"/>
          </ns1:ln>
        </ns0:spPr>
      </ns0:sp>
      <ns0:sp>
        <ns0:nvSpPr>
          <ns0:cNvPr id="7" name="Text 5"/>
          <ns0:cNvSpPr/>
          <ns0:nvPr/>
        </ns0:nvSpPr>
        <ns0:spPr>
          <ns1:xfrm>
            <ns1:off x="640080" y="1298448"/>
            <ns1:ext cx="7863840" cy="320040"/>
          </ns1:xfrm>
          <ns1:prstGeom prst="rect">
            <ns1:avLst/>
          </ns1:prstGeom>
          <ns1:noFill/>
          <ns1:ln/>
        </ns0:spPr>
        <ns0:txBody>
          <ns1:bodyPr wrap="square" rtlCol="0" anchor="ctr"/>
          <ns1:lstStyle/>
          <ns1:p>
            <ns1:pPr marL="0" indent="0">
              <ns1:buNone/>
            </ns1:pPr>
            <ns1:r>
              <ns1:rPr lang="en-US" sz="1300" b="1" kern="0" spc="100" dirty="0">
                <ns1:solidFill>
                  <ns1:srgbClr val="FF6F00"/>
                </ns1:solidFill>
              </ns1:rPr>
              <ns1:t> THE DIAGNOSTIC CHALLENGE</ns1:t>
            </ns1:r>
            <ns1:endParaRPr lang="en-US" sz="1300" dirty="0"/>
          </ns1:p>
        </ns0:txBody>
      </ns0:sp>
      <ns0:sp>
        <ns0:nvSpPr>
          <ns0:cNvPr id="8" name="Text 6"/>
          <ns0:cNvSpPr/>
          <ns0:nvPr/>
        </ns0:nvSpPr>
        <ns0:spPr>
          <ns1:xfrm>
            <ns1:off x="640080" y="1627632"/>
            <ns1:ext cx="7772400" cy="749808"/>
          </ns1:xfrm>
          <ns1:prstGeom prst="rect">
            <ns1:avLst/>
          </ns1:prstGeom>
          <ns1:noFill/>
          <ns1:ln/>
        </ns0:spPr>
        <ns0:txBody>
          <ns1:bodyPr wrap="square" rtlCol="0" anchor="ctr"/>
          <ns1:lstStyle/>
          <ns1:p>
            <ns1:pPr marL="0" indent="0">
              <ns1:lnSpc>
                <ns1:spcPct val="140000"/>
              </ns1:lnSpc>
              <ns1:buNone/>
            </ns1:pPr>
            <ns1:r>
              <ns1:rPr lang="en-US" sz="1150" dirty="0">
                <ns1:solidFill>
                  <ns1:srgbClr val="37474F"/>
                </ns1:solidFill>
              </ns1:rPr>
              <ns1:t>Manual interpretation of vibration signals is time-consuming and requires strong domain expertise. When machines generate continuous sensor streams, manual screening becomes difficult to maintain consistently across large industrial systems.</ns1:t>
            </ns1:r>
            <ns1:endParaRPr lang="en-US" sz="1150" dirty="0"/>
          </ns1:p>
        </ns0:txBody>
      </ns0:sp>
      <ns0:sp>
        <ns0:nvSpPr>
          <ns0:cNvPr id="9" name="Shape 7"/>
          <ns0:cNvSpPr/>
          <ns0:nvPr/>
        </ns0:nvSpPr>
        <ns0:spPr>
          <ns1:xfrm>
            <ns1:off x="365760" y="2697480"/>
            <ns1:ext cx="8412480" cy="1508760"/>
          </ns1:xfrm>
          <ns1:prstGeom prst="rect">
            <ns1:avLst/>
          </ns1:prstGeom>
          <ns1:solidFill>
            <ns1:srgbClr val="0A1628"/>
          </ns1:solidFill>
          <ns1:ln w="12700">
            <ns1:solidFill>
              <ns1:srgbClr val="0A1628"/>
            </ns1:solidFill>
            <ns1:prstDash val="solid"/>
          </ns1:ln>
          <ns1:effectLst>
            <ns1:outerShdw blurRad="101600" dist="38100" dir="8100000" algn="bl" rotWithShape="0">
              <ns1:srgbClr val="000000">
                <ns1:alpha val="12000"/>
              </ns1:srgbClr>
            </ns1:outerShdw>
          </ns1:effectLst>
        </ns0:spPr>
      </ns0:sp>
      <ns0:sp>
        <ns0:nvSpPr>
          <ns0:cNvPr id="10" name="Text 8"/>
          <ns0:cNvSpPr/>
          <ns0:nvPr/>
        </ns0:nvSpPr>
        <ns0:spPr>
          <ns1:xfrm>
            <ns1:off x="640080" y="2816352"/>
            <ns1:ext cx="7863840" cy="320040"/>
          </ns1:xfrm>
          <ns1:prstGeom prst="rect">
            <ns1:avLst/>
          </ns1:prstGeom>
          <ns1:noFill/>
          <ns1:ln/>
        </ns0:spPr>
        <ns0:txBody>
          <ns1:bodyPr wrap="square" rtlCol="0" anchor="ctr"/>
          <ns1:lstStyle/>
          <ns1:p>
            <ns1:pPr marL="0" indent="0">
              <ns1:buNone/>
            </ns1:pPr>
            <ns1:r>
              <ns1:rPr lang="en-US" sz="1300" b="1" kern="0" spc="100" dirty="0">
                <ns1:solidFill>
                  <ns1:srgbClr val="00BCD4"/>
                </ns1:solidFill>
              </ns1:rPr>
              <ns1:t>🎯  PROJECT FOCUS</ns1:t>
            </ns1:r>
            <ns1:endParaRPr lang="en-US" sz="1300" dirty="0"/>
          </ns1:p>
        </ns0:txBody>
      </ns0:sp>
      <ns0:sp>
        <ns0:nvSpPr>
          <ns0:cNvPr id="11" name="Text 9"/>
          <ns0:cNvSpPr/>
          <ns0:nvPr/>
        </ns0:nvSpPr>
        <ns0:spPr>
          <ns1:xfrm>
            <ns1:off x="640080" y="3136392"/>
            <ns1:ext cx="7772400" cy="411480"/>
          </ns1:xfrm>
          <ns1:prstGeom prst="rect">
            <ns1:avLst/>
          </ns1:prstGeom>
          <ns1:noFill/>
          <ns1:ln/>
        </ns0:spPr>
        <ns0:txBody>
          <ns1:bodyPr wrap="square" rtlCol="0" anchor="ctr"/>
          <ns1:lstStyle/>
          <ns1:p>
            <ns1:pPr marL="0" indent="0">
              <ns1:lnSpc>
                <ns1:spcPct val="130000"/>
              </ns1:lnSpc>
              <ns1:buNone/>
            </ns1:pPr>
            <ns1:r>
              <ns1:rPr lang="en-US" sz="1150" dirty="0">
                <ns1:solidFill>
                  <ns1:srgbClr val="CBD5E0"/>
                </ns1:solidFill>
              </ns1:rPr>
              <ns1:t>Build a reliable, interpretable, and automated end-to-end ML pipeline that classifies bearing vibration signals into:</ns1:t>
            </ns1:r>
            <ns1:endParaRPr lang="en-US" sz="1150" dirty="0"/>
          </ns1:p>
        </ns0:txBody>
      </ns0:sp>
      <ns0:sp>
        <ns0:nvSpPr>
          <ns0:cNvPr id="12" name="Shape 10"/>
          <ns0:cNvSpPr/>
          <ns0:nvPr/>
        </ns0:nvSpPr>
        <ns0:spPr>
          <ns1:xfrm>
            <ns1:off x="594360" y="3547872"/>
            <ns1:ext cx="1920240" cy="457200"/>
          </ns1:xfrm>
          <ns1:prstGeom prst="roundRect">
            <ns1:avLst>
              <ns1:gd name="adj" fmla="val 16000"/>
            </ns1:avLst>
          </ns1:prstGeom>
          <ns1:solidFill>
            <ns1:srgbClr val="00897B"/>
          </ns1:solidFill>
          <ns1:ln w="12700">
            <ns1:solidFill>
              <ns1:srgbClr val="00897B"/>
            </ns1:solidFill>
            <ns1:prstDash val="solid"/>
          </ns1:ln>
        </ns0:spPr>
      </ns0:sp>
      <ns0:sp>
        <ns0:nvSpPr>
          <ns0:cNvPr id="13" name="Text 11"/>
          <ns0:cNvSpPr/>
          <ns0:nvPr/>
        </ns0:nvSpPr>
        <ns0:spPr>
          <ns1:xfrm>
            <ns1:off x="5943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Normal</ns1:t>
            </ns1:r>
            <ns1:endParaRPr lang="en-US" sz="1100" dirty="0"/>
          </ns1:p>
        </ns0:txBody>
      </ns0:sp>
      <ns0:sp>
        <ns0:nvSpPr>
          <ns0:cNvPr id="14" name="Shape 12"/>
          <ns0:cNvSpPr/>
          <ns0:nvPr/>
        </ns0:nvSpPr>
        <ns0:spPr>
          <ns1:xfrm>
            <ns1:off x="2651760" y="3547872"/>
            <ns1:ext cx="1920240" cy="457200"/>
          </ns1:xfrm>
          <ns1:prstGeom prst="roundRect">
            <ns1:avLst>
              <ns1:gd name="adj" fmla="val 16000"/>
            </ns1:avLst>
          </ns1:prstGeom>
          <ns1:solidFill>
            <ns1:srgbClr val="1565C0"/>
          </ns1:solidFill>
          <ns1:ln w="12700">
            <ns1:solidFill>
              <ns1:srgbClr val="1565C0"/>
            </ns1:solidFill>
            <ns1:prstDash val="solid"/>
          </ns1:ln>
        </ns0:spPr>
      </ns0:sp>
      <ns0:sp>
        <ns0:nvSpPr>
          <ns0:cNvPr id="15" name="Text 13"/>
          <ns0:cNvSpPr/>
          <ns0:nvPr/>
        </ns0:nvSpPr>
        <ns0:spPr>
          <ns1:xfrm>
            <ns1:off x="26517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 Ball Fault</ns1:t>
            </ns1:r>
            <ns1:endParaRPr lang="en-US" sz="1100" dirty="0"/>
          </ns1:p>
        </ns0:txBody>
      </ns0:sp>
      <ns0:sp>
        <ns0:nvSpPr>
          <ns0:cNvPr id="16" name="Shape 14"/>
          <ns0:cNvSpPr/>
          <ns0:nvPr/>
        </ns0:nvSpPr>
        <ns0:spPr>
          <ns1:xfrm>
            <ns1:off x="4709160" y="3547872"/>
            <ns1:ext cx="1920240" cy="457200"/>
          </ns1:xfrm>
          <ns1:prstGeom prst="roundRect">
            <ns1:avLst>
              <ns1:gd name="adj" fmla="val 16000"/>
            </ns1:avLst>
          </ns1:prstGeom>
          <ns1:solidFill>
            <ns1:srgbClr val="E53935"/>
          </ns1:solidFill>
          <ns1:ln w="12700">
            <ns1:solidFill>
              <ns1:srgbClr val="E53935"/>
            </ns1:solidFill>
            <ns1:prstDash val="solid"/>
          </ns1:ln>
        </ns0:spPr>
      </ns0:sp>
      <ns0:sp>
        <ns0:nvSpPr>
          <ns0:cNvPr id="17" name="Text 15"/>
          <ns0:cNvSpPr/>
          <ns0:nvPr/>
        </ns0:nvSpPr>
        <ns0:spPr>
          <ns1:xfrm>
            <ns1:off x="47091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 Inner Race Fault</ns1:t>
            </ns1:r>
            <ns1:endParaRPr lang="en-US" sz="1100" dirty="0"/>
          </ns1:p>
        </ns0:txBody>
      </ns0:sp>
      <ns0:sp>
        <ns0:nvSpPr>
          <ns0:cNvPr id="18" name="Shape 16"/>
          <ns0:cNvSpPr/>
          <ns0:nvPr/>
        </ns0:nvSpPr>
        <ns0:spPr>
          <ns1:xfrm>
            <ns1:off x="6766560" y="3547872"/>
            <ns1:ext cx="1920240" cy="457200"/>
          </ns1:xfrm>
          <ns1:prstGeom prst="roundRect">
            <ns1:avLst>
              <ns1:gd name="adj" fmla="val 16000"/>
            </ns1:avLst>
          </ns1:prstGeom>
          <ns1:solidFill>
            <ns1:srgbClr val="FB8C00"/>
          </ns1:solidFill>
          <ns1:ln w="12700">
            <ns1:solidFill>
              <ns1:srgbClr val="FB8C00"/>
            </ns1:solidFill>
            <ns1:prstDash val="solid"/>
          </ns1:ln>
        </ns0:spPr>
      </ns0:sp>
      <ns0:sp>
        <ns0:nvSpPr>
          <ns0:cNvPr id="19" name="Text 17"/>
          <ns0:cNvSpPr/>
          <ns0:nvPr/>
        </ns0:nvSpPr>
        <ns0:spPr>
          <ns1:xfrm>
            <ns1:off x="6766560" y="3547872"/>
            <ns1:ext cx="1920240" cy="457200"/>
          </ns1:xfrm>
          <ns1:prstGeom prst="rect">
            <ns1:avLst/>
          </ns1:prstGeom>
          <ns1:noFill/>
          <ns1:ln/>
        </ns0:spPr>
        <ns0:txBody>
          <ns1:bodyPr wrap="square" rtlCol="0" anchor="ctr"/>
          <ns1:lstStyle/>
          <ns1:p>
            <ns1:pPr marL="0" indent="0" algn="ctr">
              <ns1:buNone/>
            </ns1:pPr>
            <ns1:r>
              <ns1:rPr lang="en-US" sz="1100" b="1" dirty="0">
                <ns1:solidFill>
                  <ns1:srgbClr val="FFFFFF"/>
                </ns1:solidFill>
              </ns1:rPr>
              <ns1:t>Outer Race Fault</ns1:t>
            </ns1:r>
            <ns1:endParaRPr lang="en-US" sz="1100" dirty="0"/>
          </ns1:p>
        </ns0:txBody>
      </ns0:sp>
      <ns0:sp>
        <ns0:nvSpPr>
          <ns0:cNvPr id="20" name="Shape 18"/>
          <ns0:cNvSpPr/>
          <ns0:nvPr/>
        </ns0:nvSpPr>
        <ns0:spPr>
          <ns1:xfrm>
            <ns1:off x="365760" y="4389120"/>
            <ns1:ext cx="8412480" cy="566928"/>
          </ns1:xfrm>
          <ns1:prstGeom prst="rect">
            <ns1:avLst/>
          </ns1:prstGeom>
          <ns1:solidFill>
            <ns1:srgbClr val="1565C0"/>
          </ns1:solidFill>
          <ns1:ln w="12700">
            <ns1:solidFill>
              <ns1:srgbClr val="1565C0"/>
            </ns1:solidFill>
            <ns1:prstDash val="solid"/>
          </ns1:ln>
        </ns0:spPr>
      </ns0:sp>
      <ns0:sp>
        <ns0:nvSpPr>
          <ns0:cNvPr id="21" name="Text 19"/>
          <ns0:cNvSpPr/>
          <ns0:nvPr/>
        </ns0:nvSpPr>
        <ns0:spPr>
          <ns1:xfrm>
            <ns1:off x="548640" y="4462272"/>
            <ns1:ext cx="8046720" cy="420624"/>
          </ns1:xfrm>
          <ns1:prstGeom prst="rect">
            <ns1:avLst/>
          </ns1:prstGeom>
          <ns1:noFill/>
          <ns1:ln/>
        </ns0:spPr>
        <ns0:txBody>
          <ns1:bodyPr wrap="square" rtlCol="0" anchor="ctr"/>
          <ns1:lstStyle/>
          <ns1:p>
            <ns1:pPr marL="0" indent="0" algn="ctr">
              <ns1:buNone/>
            </ns1:pPr>
            <ns1:r>
              <ns1:rPr lang="en-US" sz="1200" b="1" dirty="0">
                <ns1:solidFill>
                  <ns1:srgbClr val="FFFFFF"/>
                </ns1:solidFill>
              </ns1:rPr>
              <ns1:t>Dataset: CWRU Benchmark  •  9,736 labeled windows  •  48 kHz sampling  •  4 bearing conditions</ns1:t>
            </ns1:r>
            <ns1:endParaRPr lang="en-US" sz="1200" dirty="0"/>
          </ns1:p>
        </ns0:txBody>
      </ns0:sp>
    </ns0:spTree>
  </ns0:cSld>
  <ns0:clrMapOvr>
    <ns1:masterClrMapping/>
  </ns0:clrMapOvr>
</ns0:sld>
</file>

<file path=ppt/slides/slide5.xml><?xml version="1.0" encoding="utf-8"?>
<ns0:sld xmlns:ns0="http://schemas.openxmlformats.org/presentationml/2006/main" xmlns:ns1="http://schemas.openxmlformats.org/drawingml/2006/main">
  <ns0:cSld name="Slide 5">
    <ns0:bg>
      <ns0:bgPr>
        <ns1:solidFill>
          <ns1:srgbClr val="0A1628"/>
        </ns1:solidFill>
        <ns1:effectLst/>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9144000" cy="64008"/>
          </ns1:xfrm>
          <ns1:prstGeom prst="rect">
            <ns1:avLst/>
          </ns1:prstGeom>
          <ns1:solidFill>
            <ns1:srgbClr val="00BCD4"/>
          </ns1:solidFill>
          <ns1:ln w="12700">
            <ns1:solidFill>
              <ns1:srgbClr val="00BCD4"/>
            </ns1:solidFill>
            <ns1:prstDash val="solid"/>
          </ns1:ln>
        </ns0:spPr>
      </ns0:sp>
      <ns0:sp>
        <ns0:nvSpPr>
          <ns0:cNvPr id="3" name="Text 1"/>
          <ns0:cNvSpPr/>
          <ns0:nvPr/>
        </ns0:nvSpPr>
        <ns0:spPr>
          <ns1:xfrm>
            <ns1:off x="457200" y="182880"/>
            <ns1:ext cx="8229600" cy="548640"/>
          </ns1:xfrm>
          <ns1:prstGeom prst="rect">
            <ns1:avLst/>
          </ns1:prstGeom>
          <ns1:noFill/>
          <ns1:ln/>
        </ns0:spPr>
        <ns0:txBody>
          <ns1:bodyPr wrap="square" rtlCol="0" anchor="ctr"/>
          <ns1:lstStyle/>
          <ns1:p>
            <ns1:pPr marL="0" indent="0">
              <ns1:buNone/>
            </ns1:pPr>
            <ns1:r>
              <ns1:rPr lang="en-US" sz="3200" b="1" kern="0" spc="100" dirty="0">
                <ns1:solidFill>
                  <ns1:srgbClr val="FFFFFF"/>
                </ns1:solidFill>
                <ns1:latin typeface="Calibri" pitchFamily="34" charset="0"/>
                <ns1:ea typeface="Calibri" pitchFamily="34" charset="-122"/>
                <ns1:cs typeface="Calibri" pitchFamily="34" charset="-120"/>
              </ns1:rPr>
              <ns1:t>FUTURISTIC APPLICATIONS</ns1:t>
            </ns1:r>
            <ns1:endParaRPr lang="en-US" sz="3200" dirty="0"/>
          </ns1:p>
        </ns0:txBody>
      </ns0:sp>
      <ns0:sp>
        <ns0:nvSpPr>
          <ns0:cNvPr id="4" name="Text 2"/>
          <ns0:cNvSpPr/>
          <ns0:nvPr/>
        </ns0:nvSpPr>
        <ns0:spPr>
          <ns1:xfrm>
            <ns1:off x="457200" y="713232"/>
            <ns1:ext cx="8229600" cy="320040"/>
          </ns1:xfrm>
          <ns1:prstGeom prst="rect">
            <ns1:avLst/>
          </ns1:prstGeom>
          <ns1:noFill/>
          <ns1:ln/>
        </ns0:spPr>
        <ns0:txBody>
          <ns1:bodyPr wrap="square" rtlCol="0" anchor="ctr"/>
          <ns1:lstStyle/>
          <ns1:p>
            <ns1:pPr marL="0" indent="0">
              <ns1:buNone/>
            </ns1:pPr>
            <ns1:r>
              <ns1:rPr lang="en-US" sz="1300" i="1" dirty="0">
                <ns1:solidFill>
                  <ns1:srgbClr val="8ECAE6"/>
                </ns1:solidFill>
              </ns1:rPr>
              <ns1:t>Where this technology transforms industries</ns1:t>
            </ns1:r>
            <ns1:endParaRPr lang="en-US" sz="1300" dirty="0"/>
          </ns1:p>
        </ns0:txBody>
      </ns0:sp>
      <ns0:sp>
        <ns0:nvSpPr>
          <ns0:cNvPr id="5" name="Shape 3"/>
          <ns0:cNvSpPr/>
          <ns0:nvPr/>
        </ns0:nvSpPr>
        <ns0:spPr>
          <ns1:xfrm>
            <ns1:off x="320040" y="1188720"/>
            <ns1:ext cx="2743200" cy="3611880"/>
          </ns1:xfrm>
          <ns1:prstGeom prst="rect">
            <ns1:avLst/>
          </ns1:prstGeom>
          <ns1:solidFill>
            <ns1:srgbClr val="0D2547"/>
          </ns1:solidFill>
          <ns1:ln w="12700">
            <ns1:solidFill>
              <ns1:srgbClr val="1E88E5"/>
            </ns1:solidFill>
            <ns1:prstDash val="solid"/>
          </ns1:ln>
          <ns1:effectLst>
            <ns1:outerShdw blurRad="101600" dist="38100" dir="8100000" algn="bl" rotWithShape="0">
              <ns1:srgbClr val="000000">
                <ns1:alpha val="12000"/>
              </ns1:srgbClr>
            </ns1:outerShdw>
          </ns1:effectLst>
        </ns0:spPr>
      </ns0:sp>
      <ns0:sp>
        <ns0:nvSpPr>
          <ns0:cNvPr id="6" name="Shape 4"/>
          <ns0:cNvSpPr/>
          <ns0:nvPr/>
        </ns0:nvSpPr>
        <ns0:spPr>
          <ns1:xfrm>
            <ns1:off x="320040" y="1188720"/>
            <ns1:ext cx="2743200" cy="73152"/>
          </ns1:xfrm>
          <ns1:prstGeom prst="rect">
            <ns1:avLst/>
          </ns1:prstGeom>
          <ns1:solidFill>
            <ns1:srgbClr val="1E88E5"/>
          </ns1:solidFill>
          <ns1:ln w="12700">
            <ns1:solidFill>
              <ns1:srgbClr val="1E88E5"/>
            </ns1:solidFill>
            <ns1:prstDash val="solid"/>
          </ns1:ln>
        </ns0:spPr>
      </ns0:sp>
      <ns0:sp>
        <ns0:nvSpPr>
          <ns0:cNvPr id="7" name="Shape 5"/>
          <ns0:cNvSpPr/>
          <ns0:nvPr/>
        </ns0:nvSpPr>
        <ns0:spPr>
          <ns1:xfrm>
            <ns1:off x="1325880" y="1417320"/>
            <ns1:ext cx="731520" cy="731520"/>
          </ns1:xfrm>
          <ns1:prstGeom prst="ellipse">
            <ns1:avLst/>
          </ns1:prstGeom>
          <ns1:solidFill>
            <ns1:srgbClr val="1E88E5">
              <ns1:alpha val="80000"/>
            </ns1:srgbClr>
          </ns1:solidFill>
          <ns1:ln w="12700">
            <ns1:solidFill>
              <ns1:srgbClr val="1E88E5"/>
            </ns1:solidFill>
            <ns1:prstDash val="solid"/>
          </ns1:ln>
        </ns0:spPr>
      </ns0:sp>
      <ns0:sp>
        <ns0:nvSpPr>
          <ns0:cNvPr id="8" name="Text 6"/>
          <ns0:cNvSpPr/>
          <ns0:nvPr/>
        </ns0:nvSpPr>
        <ns0:spPr>
          <ns1:xfrm>
            <ns1:off x="1325880" y="1417320"/>
            <ns1:ext cx="731520" cy="731520"/>
          </ns1:xfrm>
          <ns1:prstGeom prst="rect">
            <ns1:avLst/>
          </ns1:prstGeom>
          <ns1:noFill/>
          <ns1:ln/>
        </ns0:spPr>
        <ns0:txBody>
          <ns1:bodyPr wrap="square" rtlCol="0" anchor="ctr"/>
          <ns1:lstStyle/>
          <ns1:p>
            <ns1:pPr marL="0" indent="0" algn="ctr">
              <ns1:buNone/>
            </ns1:pPr>
            <ns1:r>
              <ns1:rPr lang="en-US" sz="2200" dirty="0">
                <ns1:solidFill>
                  <ns1:srgbClr val="000000"/>
                </ns1:solidFill>
              </ns1:rPr>
              <ns1:t>🏭</ns1:t>
            </ns1:r>
            <ns1:endParaRPr lang="en-US" sz="2200" dirty="0"/>
          </ns1:p>
        </ns0:txBody>
      </ns0:sp>
      <ns0:sp>
        <ns0:nvSpPr>
          <ns0:cNvPr id="9" name="Text 7"/>
          <ns0:cNvSpPr/>
          <ns0:nvPr/>
        </ns0:nvSpPr>
        <ns0:spPr>
          <ns1:xfrm>
            <ns1:off x="457200" y="2286000"/>
            <ns1:ext cx="2468880" cy="274320"/>
          </ns1:xfrm>
          <ns1:prstGeom prst="rect">
            <ns1:avLst/>
          </ns1:prstGeom>
          <ns1:noFill/>
          <ns1:ln/>
        </ns0:spPr>
        <ns0:txBody>
          <ns1:bodyPr wrap="square" rtlCol="0" anchor="ctr"/>
          <ns1:lstStyle/>
          <ns1:p>
            <ns1:pPr marL="0" indent="0" algn="ctr">
              <ns1:buNone/>
            </ns1:pPr>
            <ns1:r>
              <ns1:rPr lang="en-US" sz="800" b="1" kern="0" spc="150" dirty="0">
                <ns1:solidFill>
                  <ns1:srgbClr val="1E88E5"/>
                </ns1:solidFill>
              </ns1:rPr>
              <ns1:t>SMART MANUFACTURING</ns1:t>
            </ns1:r>
            <ns1:endParaRPr lang="en-US" sz="800" dirty="0"/>
          </ns1:p>
        </ns0:txBody>
      </ns0:sp>
      <ns0:sp>
        <ns0:nvSpPr>
          <ns0:cNvPr id="10" name="Text 8"/>
          <ns0:cNvSpPr/>
          <ns0:nvPr/>
        </ns0:nvSpPr>
        <ns0:spPr>
          <ns1:xfrm>
            <ns1:off x="457200" y="2542032"/>
            <ns1:ext cx="2468880" cy="457200"/>
          </ns1:xfrm>
          <ns1:prstGeom prst="rect">
            <ns1:avLst/>
          </ns1:prstGeom>
          <ns1:noFill/>
          <ns1:ln/>
        </ns0:spPr>
        <ns0:txBody>
          <ns1:bodyPr wrap="square" rtlCol="0" anchor="ctr"/>
          <ns1:lstStyle/>
          <ns1:p>
            <ns1:pPr marL="0" indent="0" algn="ctr">
              <ns1:buNone/>
            </ns1:pPr>
            <ns1:r>
              <ns1:rPr lang="en-US" sz="1900" b="1" dirty="0">
                <ns1:solidFill>
                  <ns1:srgbClr val="FFFFFF"/>
                </ns1:solidFill>
              </ns1:rPr>
              <ns1:t>Industry 4.0</ns1:t>
            </ns1:r>
            <ns1:endParaRPr lang="en-US" sz="1900" dirty="0"/>
          </ns1:p>
        </ns0:txBody>
      </ns0:sp>
      <ns0:sp>
        <ns0:nvSpPr>
          <ns0:cNvPr id="11" name="Shape 9"/>
          <ns0:cNvSpPr/>
          <ns0:nvPr/>
        </ns0:nvSpPr>
        <ns0:spPr>
          <ns1:xfrm>
            <ns1:off x="1051560" y="2999232"/>
            <ns1:ext cx="1280160" cy="36576"/>
          </ns1:xfrm>
          <ns1:prstGeom prst="rect">
            <ns1:avLst/>
          </ns1:prstGeom>
          <ns1:solidFill>
            <ns1:srgbClr val="1E88E5"/>
          </ns1:solidFill>
          <ns1:ln w="12700">
            <ns1:solidFill>
              <ns1:srgbClr val="1E88E5"/>
            </ns1:solidFill>
            <ns1:prstDash val="solid"/>
          </ns1:ln>
        </ns0:spPr>
      </ns0:sp>
      <ns0:sp>
        <ns0:nvSpPr>
          <ns0:cNvPr id="12" name="Text 10"/>
          <ns0:cNvSpPr/>
          <ns0:nvPr/>
        </ns0:nvSpPr>
        <ns0:spPr>
          <ns1:xfrm>
            <ns1:off x="457200" y="3090672"/>
            <ns1:ext cx="2468880" cy="1508760"/>
          </ns1:xfrm>
          <ns1:prstGeom prst="rect">
            <ns1:avLst/>
          </ns1:prstGeom>
          <ns1:noFill/>
          <ns1:ln/>
        </ns0:spPr>
        <ns0:txBody>
          <ns1:bodyPr wrap="square" rtlCol="0" anchor="ctr"/>
          <ns1:lstStyle/>
          <ns1:p>
            <ns1:pPr marL="0" indent="0" algn="ctr">
              <ns1:lnSpc>
                <ns1:spcPct val="140000"/>
              </ns1:lnSpc>
              <ns1:buNone/>
            </ns1:pPr>
            <ns1:r>
              <ns1:rPr lang="en-US" sz="1000" dirty="0">
                <ns1:solidFill>
                  <ns1:srgbClr val="B0BEC5"/>
                </ns1:solidFill>
              </ns1:rPr>
              <ns1:t>Integration with smart factories can support real-time health monitoring across production lines and help maintenance teams plan action before failure.</ns1:t>
            </ns1:r>
            <ns1:endParaRPr lang="en-US" sz="1000" dirty="0"/>
          </ns1:p>
        </ns0:txBody>
      </ns0:sp>
      <ns0:sp>
        <ns0:nvSpPr>
          <ns0:cNvPr id="13" name="Shape 11"/>
          <ns0:cNvSpPr/>
          <ns0:nvPr/>
        </ns0:nvSpPr>
        <ns0:spPr>
          <ns1:xfrm>
            <ns1:off x="3246120" y="1188720"/>
            <ns1:ext cx="2743200" cy="3611880"/>
          </ns1:xfrm>
          <ns1:prstGeom prst="rect">
            <ns1:avLst/>
          </ns1:prstGeom>
          <ns1:solidFill>
            <ns1:srgbClr val="073340"/>
          </ns1:solidFill>
          <ns1:ln w="12700">
            <ns1:solidFill>
              <ns1:srgbClr val="00BCD4"/>
            </ns1:solidFill>
            <ns1:prstDash val="solid"/>
          </ns1:ln>
          <ns1:effectLst>
            <ns1:outerShdw blurRad="101600" dist="38100" dir="8100000" algn="bl" rotWithShape="0">
              <ns1:srgbClr val="000000">
                <ns1:alpha val="12000"/>
              </ns1:srgbClr>
            </ns1:outerShdw>
          </ns1:effectLst>
        </ns0:spPr>
      </ns0:sp>
      <ns0:sp>
        <ns0:nvSpPr>
          <ns0:cNvPr id="14" name="Shape 12"/>
          <ns0:cNvSpPr/>
          <ns0:nvPr/>
        </ns0:nvSpPr>
        <ns0:spPr>
          <ns1:xfrm>
            <ns1:off x="3246120" y="1188720"/>
            <ns1:ext cx="2743200" cy="73152"/>
          </ns1:xfrm>
          <ns1:prstGeom prst="rect">
            <ns1:avLst/>
          </ns1:prstGeom>
          <ns1:solidFill>
            <ns1:srgbClr val="00BCD4"/>
          </ns1:solidFill>
          <ns1:ln w="12700">
            <ns1:solidFill>
              <ns1:srgbClr val="00BCD4"/>
            </ns1:solidFill>
            <ns1:prstDash val="solid"/>
          </ns1:ln>
        </ns0:spPr>
      </ns0:sp>
      <ns0:sp>
        <ns0:nvSpPr>
          <ns0:cNvPr id="15" name="Shape 13"/>
          <ns0:cNvSpPr/>
          <ns0:nvPr/>
        </ns0:nvSpPr>
        <ns0:spPr>
          <ns1:xfrm>
            <ns1:off x="4251960" y="1417320"/>
            <ns1:ext cx="731520" cy="731520"/>
          </ns1:xfrm>
          <ns1:prstGeom prst="ellipse">
            <ns1:avLst/>
          </ns1:prstGeom>
          <ns1:solidFill>
            <ns1:srgbClr val="00BCD4">
              <ns1:alpha val="80000"/>
            </ns1:srgbClr>
          </ns1:solidFill>
          <ns1:ln w="12700">
            <ns1:solidFill>
              <ns1:srgbClr val="00BCD4"/>
            </ns1:solidFill>
            <ns1:prstDash val="solid"/>
          </ns1:ln>
        </ns0:spPr>
      </ns0:sp>
      <ns0:sp>
        <ns0:nvSpPr>
          <ns0:cNvPr id="16" name="Text 14"/>
          <ns0:cNvSpPr/>
          <ns0:nvPr/>
        </ns0:nvSpPr>
        <ns0:spPr>
          <ns1:xfrm>
            <ns1:off x="4251960" y="1417320"/>
            <ns1:ext cx="731520" cy="731520"/>
          </ns1:xfrm>
          <ns1:prstGeom prst="rect">
            <ns1:avLst/>
          </ns1:prstGeom>
          <ns1:noFill/>
          <ns1:ln/>
        </ns0:spPr>
        <ns0:txBody>
          <ns1:bodyPr wrap="square" rtlCol="0" anchor="ctr"/>
          <ns1:lstStyle/>
          <ns1:p>
            <ns1:pPr marL="0" indent="0" algn="ctr">
              <ns1:buNone/>
            </ns1:pPr>
            <ns1:r>
              <ns1:rPr lang="en-US" sz="2200" dirty="0">
                <ns1:solidFill>
                  <ns1:srgbClr val="000000"/>
                </ns1:solidFill>
              </ns1:rPr>
              <ns1:t>💨</ns1:t>
            </ns1:r>
            <ns1:endParaRPr lang="en-US" sz="2200" dirty="0"/>
          </ns1:p>
        </ns0:txBody>
      </ns0:sp>
      <ns0:sp>
        <ns0:nvSpPr>
          <ns0:cNvPr id="17" name="Text 15"/>
          <ns0:cNvSpPr/>
          <ns0:nvPr/>
        </ns0:nvSpPr>
        <ns0:spPr>
          <ns1:xfrm>
            <ns1:off x="3383280" y="2286000"/>
            <ns1:ext cx="2468880" cy="274320"/>
          </ns1:xfrm>
          <ns1:prstGeom prst="rect">
            <ns1:avLst/>
          </ns1:prstGeom>
          <ns1:noFill/>
          <ns1:ln/>
        </ns0:spPr>
        <ns0:txBody>
          <ns1:bodyPr wrap="square" rtlCol="0" anchor="ctr"/>
          <ns1:lstStyle/>
          <ns1:p>
            <ns1:pPr marL="0" indent="0" algn="ctr">
              <ns1:buNone/>
            </ns1:pPr>
            <ns1:r>
              <ns1:rPr lang="en-US" sz="800" b="1" kern="0" spc="150" dirty="0">
                <ns1:solidFill>
                  <ns1:srgbClr val="00BCD4"/>
                </ns1:solidFill>
              </ns1:rPr>
              <ns1:t>GREEN ENERGY</ns1:t>
            </ns1:r>
            <ns1:endParaRPr lang="en-US" sz="800" dirty="0"/>
          </ns1:p>
        </ns0:txBody>
      </ns0:sp>
      <ns0:sp>
        <ns0:nvSpPr>
          <ns0:cNvPr id="18" name="Text 16"/>
          <ns0:cNvSpPr/>
          <ns0:nvPr/>
        </ns0:nvSpPr>
        <ns0:spPr>
          <ns1:xfrm>
            <ns1:off x="3383280" y="2542032"/>
            <ns1:ext cx="2468880" cy="457200"/>
          </ns1:xfrm>
          <ns1:prstGeom prst="rect">
            <ns1:avLst/>
          </ns1:prstGeom>
          <ns1:noFill/>
          <ns1:ln/>
        </ns0:spPr>
        <ns0:txBody>
          <ns1:bodyPr wrap="square" rtlCol="0" anchor="ctr"/>
          <ns1:lstStyle/>
          <ns1:p>
            <ns1:pPr marL="0" indent="0" algn="ctr">
              <ns1:buNone/>
            </ns1:pPr>
            <ns1:r>
              <ns1:rPr lang="en-US" sz="1900" b="1" dirty="0">
                <ns1:solidFill>
                  <ns1:srgbClr val="FFFFFF"/>
                </ns1:solidFill>
              </ns1:rPr>
              <ns1:t>Energy Sector</ns1:t>
            </ns1:r>
            <ns1:endParaRPr lang="en-US" sz="1900" dirty="0"/>
          </ns1:p>
        </ns0:txBody>
      </ns0:sp>
      <ns0:sp>
        <ns0:nvSpPr>
          <ns0:cNvPr id="19" name="Shape 17"/>
          <ns0:cNvSpPr/>
          <ns0:nvPr/>
        </ns0:nvSpPr>
        <ns0:spPr>
          <ns1:xfrm>
            <ns1:off x="3977640" y="2999232"/>
            <ns1:ext cx="1280160" cy="36576"/>
          </ns1:xfrm>
          <ns1:prstGeom prst="rect">
            <ns1:avLst/>
          </ns1:prstGeom>
          <ns1:solidFill>
            <ns1:srgbClr val="00BCD4"/>
          </ns1:solidFill>
          <ns1:ln w="12700">
            <ns1:solidFill>
              <ns1:srgbClr val="00BCD4"/>
            </ns1:solidFill>
            <ns1:prstDash val="solid"/>
          </ns1:ln>
        </ns0:spPr>
      </ns0:sp>
      <ns0:sp>
        <ns0:nvSpPr>
          <ns0:cNvPr id="20" name="Text 18"/>
          <ns0:cNvSpPr/>
          <ns0:nvPr/>
        </ns0:nvSpPr>
        <ns0:spPr>
          <ns1:xfrm>
            <ns1:off x="3383280" y="3090672"/>
            <ns1:ext cx="2468880" cy="1508760"/>
          </ns1:xfrm>
          <ns1:prstGeom prst="rect">
            <ns1:avLst/>
          </ns1:prstGeom>
          <ns1:noFill/>
          <ns1:ln/>
        </ns0:spPr>
        <ns0:txBody>
          <ns1:bodyPr wrap="square" rtlCol="0" anchor="ctr"/>
          <ns1:lstStyle/>
          <ns1:p>
            <ns1:pPr marL="0" indent="0" algn="ctr">
              <ns1:lnSpc>
                <ns1:spcPct val="140000"/>
              </ns1:lnSpc>
              <ns1:buNone/>
            </ns1:pPr>
            <ns1:r>
              <ns1:rPr lang="en-US" sz="1000" dirty="0">
                <ns1:solidFill>
                  <ns1:srgbClr val="B0BEC5"/>
                </ns1:solidFill>
              </ns1:rPr>
              <ns1:t>The same workflow can be adapted for wind turbines, hydroelectric generators, and other rotating energy assets where early fault detection lowers maintenance burden.</ns1:t>
            </ns1:r>
            <ns1:endParaRPr lang="en-US" sz="1000" dirty="0"/>
          </ns1:p>
        </ns0:txBody>
      </ns0:sp>
      <ns0:sp>
        <ns0:nvSpPr>
          <ns0:cNvPr id="21" name="Shape 19"/>
          <ns0:cNvSpPr/>
          <ns0:nvPr/>
        </ns0:nvSpPr>
        <ns0:spPr>
          <ns1:xfrm>
            <ns1:off x="6172200" y="1188720"/>
            <ns1:ext cx="2743200" cy="3611880"/>
          </ns1:xfrm>
          <ns1:prstGeom prst="rect">
            <ns1:avLst/>
          </ns1:prstGeom>
          <ns1:solidFill>
            <ns1:srgbClr val="2D1A00"/>
          </ns1:solidFill>
          <ns1:ln w="12700">
            <ns1:solidFill>
              <ns1:srgbClr val="FF6F00"/>
            </ns1:solidFill>
            <ns1:prstDash val="solid"/>
          </ns1:ln>
          <ns1:effectLst>
            <ns1:outerShdw blurRad="101600" dist="38100" dir="8100000" algn="bl" rotWithShape="0">
              <ns1:srgbClr val="000000">
                <ns1:alpha val="12000"/>
              </ns1:srgbClr>
            </ns1:outerShdw>
          </ns1:effectLst>
        </ns0:spPr>
      </ns0:sp>
      <ns0:sp>
        <ns0:nvSpPr>
          <ns0:cNvPr id="22" name="Shape 20"/>
          <ns0:cNvSpPr/>
          <ns0:nvPr/>
        </ns0:nvSpPr>
        <ns0:spPr>
          <ns1:xfrm>
            <ns1:off x="6172200" y="1188720"/>
            <ns1:ext cx="2743200" cy="73152"/>
          </ns1:xfrm>
          <ns1:prstGeom prst="rect">
            <ns1:avLst/>
          </ns1:prstGeom>
          <ns1:solidFill>
            <ns1:srgbClr val="FF6F00"/>
          </ns1:solidFill>
          <ns1:ln w="12700">
            <ns1:solidFill>
              <ns1:srgbClr val="FF6F00"/>
            </ns1:solidFill>
            <ns1:prstDash val="solid"/>
          </ns1:ln>
        </ns0:spPr>
      </ns0:sp>
      <ns0:sp>
        <ns0:nvSpPr>
          <ns0:cNvPr id="23" name="Shape 21"/>
          <ns0:cNvSpPr/>
          <ns0:nvPr/>
        </ns0:nvSpPr>
        <ns0:spPr>
          <ns1:xfrm>
            <ns1:off x="7178040" y="1417320"/>
            <ns1:ext cx="731520" cy="731520"/>
          </ns1:xfrm>
          <ns1:prstGeom prst="ellipse">
            <ns1:avLst/>
          </ns1:prstGeom>
          <ns1:solidFill>
            <ns1:srgbClr val="FF6F00">
              <ns1:alpha val="80000"/>
            </ns1:srgbClr>
          </ns1:solidFill>
          <ns1:ln w="12700">
            <ns1:solidFill>
              <ns1:srgbClr val="FF6F00"/>
            </ns1:solidFill>
            <ns1:prstDash val="solid"/>
          </ns1:ln>
        </ns0:spPr>
      </ns0:sp>
      <ns0:sp>
        <ns0:nvSpPr>
          <ns0:cNvPr id="24" name="Text 22"/>
          <ns0:cNvSpPr/>
          <ns0:nvPr/>
        </ns0:nvSpPr>
        <ns0:spPr>
          <ns1:xfrm>
            <ns1:off x="7178040" y="1417320"/>
            <ns1:ext cx="731520" cy="731520"/>
          </ns1:xfrm>
          <ns1:prstGeom prst="rect">
            <ns1:avLst/>
          </ns1:prstGeom>
          <ns1:noFill/>
          <ns1:ln/>
        </ns0:spPr>
        <ns0:txBody>
          <ns1:bodyPr wrap="square" rtlCol="0" anchor="ctr"/>
          <ns1:lstStyle/>
          <ns1:p>
            <ns1:pPr marL="0" indent="0" algn="ctr">
              <ns1:buNone/>
            </ns1:pPr>
            <ns1:r>
              <ns1:rPr lang="en-US" sz="2200" dirty="0">
                <ns1:solidFill>
                  <ns1:srgbClr val="000000"/>
                </ns1:solidFill>
              </ns1:rPr>
              <ns1:t>🚀</ns1:t>
            </ns1:r>
            <ns1:endParaRPr lang="en-US" sz="2200" dirty="0"/>
          </ns1:p>
        </ns0:txBody>
      </ns0:sp>
      <ns0:sp>
        <ns0:nvSpPr>
          <ns0:cNvPr id="25" name="Text 23"/>
          <ns0:cNvSpPr/>
          <ns0:nvPr/>
        </ns0:nvSpPr>
        <ns0:spPr>
          <ns1:xfrm>
            <ns1:off x="6309360" y="2286000"/>
            <ns1:ext cx="2468880" cy="274320"/>
          </ns1:xfrm>
          <ns1:prstGeom prst="rect">
            <ns1:avLst/>
          </ns1:prstGeom>
          <ns1:noFill/>
          <ns1:ln/>
        </ns0:spPr>
        <ns0:txBody>
          <ns1:bodyPr wrap="square" rtlCol="0" anchor="ctr"/>
          <ns1:lstStyle/>
          <ns1:p>
            <ns1:pPr marL="0" indent="0" algn="ctr">
              <ns1:buNone/>
            </ns1:pPr>
            <ns1:r>
              <ns1:rPr lang="en-US" sz="800" b="1" kern="0" spc="150" dirty="0">
                <ns1:solidFill>
                  <ns1:srgbClr val="FF6F00"/>
                </ns1:solidFill>
              </ns1:rPr>
              <ns1:t>SAFETY CRITICAL</ns1:t>
            </ns1:r>
            <ns1:endParaRPr lang="en-US" sz="800" dirty="0"/>
          </ns1:p>
        </ns0:txBody>
      </ns0:sp>
      <ns0:sp>
        <ns0:nvSpPr>
          <ns0:cNvPr id="26" name="Text 24"/>
          <ns0:cNvSpPr/>
          <ns0:nvPr/>
        </ns0:nvSpPr>
        <ns0:spPr>
          <ns1:xfrm>
            <ns1:off x="6309360" y="2542032"/>
            <ns1:ext cx="2468880" cy="457200"/>
          </ns1:xfrm>
          <ns1:prstGeom prst="rect">
            <ns1:avLst/>
          </ns1:prstGeom>
          <ns1:noFill/>
          <ns1:ln/>
        </ns0:spPr>
        <ns0:txBody>
          <ns1:bodyPr wrap="square" rtlCol="0" anchor="ctr"/>
          <ns1:lstStyle/>
          <ns1:p>
            <ns1:pPr marL="0" indent="0" algn="ctr">
              <ns1:buNone/>
            </ns1:pPr>
            <ns1:r>
              <ns1:rPr lang="en-US" sz="1900" b="1" dirty="0">
                <ns1:solidFill>
                  <ns1:srgbClr val="FFFFFF"/>
                </ns1:solidFill>
              </ns1:rPr>
              <ns1:t>Aerospace</ns1:t>
            </ns1:r>
            <ns1:endParaRPr lang="en-US" sz="1900" dirty="0"/>
          </ns1:p>
        </ns0:txBody>
      </ns0:sp>
      <ns0:sp>
        <ns0:nvSpPr>
          <ns0:cNvPr id="27" name="Shape 25"/>
          <ns0:cNvSpPr/>
          <ns0:nvPr/>
        </ns0:nvSpPr>
        <ns0:spPr>
          <ns1:xfrm>
            <ns1:off x="6903720" y="2999232"/>
            <ns1:ext cx="1280160" cy="36576"/>
          </ns1:xfrm>
          <ns1:prstGeom prst="rect">
            <ns1:avLst/>
          </ns1:prstGeom>
          <ns1:solidFill>
            <ns1:srgbClr val="FF6F00"/>
          </ns1:solidFill>
          <ns1:ln w="12700">
            <ns1:solidFill>
              <ns1:srgbClr val="FF6F00"/>
            </ns1:solidFill>
            <ns1:prstDash val="solid"/>
          </ns1:ln>
        </ns0:spPr>
      </ns0:sp>
      <ns0:sp>
        <ns0:nvSpPr>
          <ns0:cNvPr id="28" name="Text 26"/>
          <ns0:cNvSpPr/>
          <ns0:nvPr/>
        </ns0:nvSpPr>
        <ns0:spPr>
          <ns1:xfrm>
            <ns1:off x="6309360" y="3090672"/>
            <ns1:ext cx="2468880" cy="1508760"/>
          </ns1:xfrm>
          <ns1:prstGeom prst="rect">
            <ns1:avLst/>
          </ns1:prstGeom>
          <ns1:noFill/>
          <ns1:ln/>
        </ns0:spPr>
        <ns0:txBody>
          <ns1:bodyPr wrap="square" rtlCol="0" anchor="ctr"/>
          <ns1:lstStyle/>
          <ns1:p>
            <ns1:pPr marL="0" indent="0" algn="ctr">
              <ns1:lnSpc>
                <ns1:spcPct val="140000"/>
              </ns1:lnSpc>
              <ns1:buNone/>
            </ns1:pPr>
            <ns1:r>
              <ns1:rPr lang="en-US" sz="1000" dirty="0">
                <ns1:solidFill>
                  <ns1:srgbClr val="B0BEC5"/>
                </ns1:solidFill>
              </ns1:rPr>
              <ns1:t>Similar vibration-based fault monitoring ideas are relevant for safety-critical aerospace components, where early warning is more valuable than post-failure diagnosis.</ns1:t>
            </ns1:r>
            <ns1:endParaRPr lang="en-US" sz="1000" dirty="0"/>
          </ns1:p>
        </ns0:txBody>
      </ns0:sp>
      <ns0:sp>
        <ns0:nvSpPr>
          <ns0:cNvPr id="29" name="Shape 27"/>
          <ns0:cNvSpPr/>
          <ns0:nvPr/>
        </ns0:nvSpPr>
        <ns0:spPr>
          <ns1:xfrm>
            <ns1:off x="0" y="4800600"/>
            <ns1:ext cx="9144000" cy="342900"/>
          </ns1:xfrm>
          <ns1:prstGeom prst="rect">
            <ns1:avLst/>
          </ns1:prstGeom>
          <ns1:solidFill>
            <ns1:srgbClr val="061020"/>
          </ns1:solidFill>
          <ns1:ln w="12700">
            <ns1:solidFill>
              <ns1:srgbClr val="061020"/>
            </ns1:solidFill>
            <ns1:prstDash val="solid"/>
          </ns1:ln>
        </ns0:spPr>
      </ns0:sp>
      <ns0:sp>
        <ns0:nvSpPr>
          <ns0:cNvPr id="30" name="Text 28"/>
          <ns0:cNvSpPr/>
          <ns0:nvPr/>
        </ns0:nvSpPr>
        <ns0:spPr>
          <ns1:xfrm>
            <ns1:off x="457200" y="4828032"/>
            <ns1:ext cx="8229600" cy="292608"/>
          </ns1:xfrm>
          <ns1:prstGeom prst="rect">
            <ns1:avLst/>
          </ns1:prstGeom>
          <ns1:noFill/>
          <ns1:ln/>
        </ns0:spPr>
        <ns0:txBody>
          <ns1:bodyPr wrap="square" rtlCol="0" anchor="ctr"/>
          <ns1:lstStyle/>
          <ns1:p>
            <ns1:pPr marL="0" indent="0" algn="ctr">
              <ns1:buNone/>
            </ns1:pPr>
            <ns1:r>
              <ns1:rPr lang="en-US" sz="1200" i="1" dirty="0">
                <ns1:solidFill>
                  <ns1:srgbClr val="00BCD4"/>
                </ns1:solidFill>
              </ns1:rPr>
              <ns1:t>"Shifting from Reactive to Proactive Maintenance Paradigms"</ns1:t>
            </ns1:r>
            <ns1:endParaRPr lang="en-US" sz="1200" dirty="0"/>
          </ns1:p>
        </ns0:txBody>
      </ns0:sp>
    </ns0:spTree>
  </ns0:cSld>
  <ns0:clrMapOvr>
    <ns1:masterClrMapping/>
  </ns0:clrMapOvr>
</ns0: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LITERATURE SURVEY</a:t>
            </a:r>
            <a:endParaRPr lang="en-US" sz="3000" dirty="0"/>
          </a:p>
        </p:txBody>
      </p:sp>
      <p:sp>
        <p:nvSpPr>
          <p:cNvPr id="5" name="Shape 3"/>
          <p:cNvSpPr/>
          <p:nvPr/>
        </p:nvSpPr>
        <p:spPr>
          <a:xfrm>
            <a:off x="274320" y="1170432"/>
            <a:ext cx="2743200" cy="19202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2743200" cy="64008"/>
          </a:xfrm>
          <a:prstGeom prst="rect">
            <a:avLst/>
          </a:prstGeom>
          <a:solidFill>
            <a:srgbClr val="1565C0"/>
          </a:solidFill>
          <a:ln w="12700">
            <a:solidFill>
              <a:srgbClr val="1565C0"/>
            </a:solidFill>
            <a:prstDash val="solid"/>
          </a:ln>
        </p:spPr>
      </p:sp>
      <p:sp>
        <p:nvSpPr>
          <p:cNvPr id="7" name="Shape 5"/>
          <p:cNvSpPr/>
          <p:nvPr/>
        </p:nvSpPr>
        <p:spPr>
          <a:xfrm>
            <a:off x="384048" y="1325880"/>
            <a:ext cx="502920" cy="502920"/>
          </a:xfrm>
          <a:prstGeom prst="ellipse">
            <a:avLst/>
          </a:prstGeom>
          <a:solidFill>
            <a:srgbClr val="1565C0"/>
          </a:solidFill>
          <a:ln w="12700">
            <a:solidFill>
              <a:srgbClr val="1565C0"/>
            </a:solidFill>
            <a:prstDash val="solid"/>
          </a:ln>
        </p:spPr>
      </p:sp>
      <p:sp>
        <p:nvSpPr>
          <p:cNvPr id="8" name="Text 6"/>
          <p:cNvSpPr/>
          <p:nvPr/>
        </p:nvSpPr>
        <p:spPr>
          <a:xfrm>
            <a:off x="384048" y="1325880"/>
            <a:ext cx="502920" cy="50292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9" name="Text 7"/>
          <p:cNvSpPr/>
          <p:nvPr/>
        </p:nvSpPr>
        <p:spPr>
          <a:xfrm>
            <a:off x="1024128" y="1344168"/>
            <a:ext cx="1920240" cy="475488"/>
          </a:xfrm>
          <a:prstGeom prst="rect">
            <a:avLst/>
          </a:prstGeom>
          <a:noFill/>
          <a:ln/>
        </p:spPr>
        <p:txBody>
          <a:bodyPr wrap="square" rtlCol="0" anchor="ctr"/>
          <a:lstStyle/>
          <a:p>
            <a:pPr marL="0" indent="0">
              <a:lnSpc>
                <a:spcPct val="120000"/>
              </a:lnSpc>
              <a:buNone/>
            </a:pPr>
            <a:r>
              <a:rPr lang="en-US" sz="1200" b="1" dirty="0">
                <a:solidFill>
                  <a:srgbClr val="1565C0"/>
                </a:solidFill>
              </a:rPr>
              <a:t>Classical Signal Processing</a:t>
            </a:r>
            <a:endParaRPr lang="en-US" sz="1200" dirty="0"/>
          </a:p>
        </p:txBody>
      </p:sp>
      <p:sp>
        <p:nvSpPr>
          <p:cNvPr id="10" name="Text 8"/>
          <p:cNvSpPr/>
          <p:nvPr/>
        </p:nvSpPr>
        <p:spPr>
          <a:xfrm>
            <a:off x="41148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Waveform analysis, FFT peak identification, wavelet decomposition and fault frequency interpretation.</a:t>
            </a:r>
            <a:endParaRPr lang="en-US" sz="1050" dirty="0"/>
          </a:p>
        </p:txBody>
      </p:sp>
      <p:sp>
        <p:nvSpPr>
          <p:cNvPr id="11" name="Shape 9"/>
          <p:cNvSpPr/>
          <p:nvPr/>
        </p:nvSpPr>
        <p:spPr>
          <a:xfrm>
            <a:off x="3154680" y="1170432"/>
            <a:ext cx="2743200" cy="19202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12" name="Shape 10"/>
          <p:cNvSpPr/>
          <p:nvPr/>
        </p:nvSpPr>
        <p:spPr>
          <a:xfrm>
            <a:off x="3154680" y="1170432"/>
            <a:ext cx="2743200" cy="64008"/>
          </a:xfrm>
          <a:prstGeom prst="rect">
            <a:avLst/>
          </a:prstGeom>
          <a:solidFill>
            <a:srgbClr val="00897B"/>
          </a:solidFill>
          <a:ln w="12700">
            <a:solidFill>
              <a:srgbClr val="00897B"/>
            </a:solidFill>
            <a:prstDash val="solid"/>
          </a:ln>
        </p:spPr>
      </p:sp>
      <p:sp>
        <p:nvSpPr>
          <p:cNvPr id="13" name="Shape 11"/>
          <p:cNvSpPr/>
          <p:nvPr/>
        </p:nvSpPr>
        <p:spPr>
          <a:xfrm>
            <a:off x="3264408" y="1325880"/>
            <a:ext cx="502920" cy="502920"/>
          </a:xfrm>
          <a:prstGeom prst="ellipse">
            <a:avLst/>
          </a:prstGeom>
          <a:solidFill>
            <a:srgbClr val="00897B"/>
          </a:solidFill>
          <a:ln w="12700">
            <a:solidFill>
              <a:srgbClr val="00897B"/>
            </a:solidFill>
            <a:prstDash val="solid"/>
          </a:ln>
        </p:spPr>
      </p:sp>
      <p:sp>
        <p:nvSpPr>
          <p:cNvPr id="14" name="Text 12"/>
          <p:cNvSpPr/>
          <p:nvPr/>
        </p:nvSpPr>
        <p:spPr>
          <a:xfrm>
            <a:off x="3264408" y="1325880"/>
            <a:ext cx="502920" cy="50292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15" name="Text 13"/>
          <p:cNvSpPr/>
          <p:nvPr/>
        </p:nvSpPr>
        <p:spPr>
          <a:xfrm>
            <a:off x="3904488" y="1344168"/>
            <a:ext cx="1920240" cy="475488"/>
          </a:xfrm>
          <a:prstGeom prst="rect">
            <a:avLst/>
          </a:prstGeom>
          <a:noFill/>
          <a:ln/>
        </p:spPr>
        <p:txBody>
          <a:bodyPr wrap="square" rtlCol="0" anchor="ctr"/>
          <a:lstStyle/>
          <a:p>
            <a:pPr marL="0" indent="0">
              <a:lnSpc>
                <a:spcPct val="120000"/>
              </a:lnSpc>
              <a:buNone/>
            </a:pPr>
            <a:r>
              <a:rPr lang="en-US" sz="1200" b="1" dirty="0">
                <a:solidFill>
                  <a:srgbClr val="00897B"/>
                </a:solidFill>
              </a:rPr>
              <a:t>Feature-Based ML</a:t>
            </a:r>
            <a:endParaRPr lang="en-US" sz="1200" dirty="0"/>
          </a:p>
        </p:txBody>
      </p:sp>
      <p:sp>
        <p:nvSpPr>
          <p:cNvPr id="16" name="Text 14"/>
          <p:cNvSpPr/>
          <p:nvPr/>
        </p:nvSpPr>
        <p:spPr>
          <a:xfrm>
            <a:off x="329184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Statistical features extracted + SVM, Random Forest, and gradient boosting classifiers applied.</a:t>
            </a:r>
            <a:endParaRPr lang="en-US" sz="1050" dirty="0"/>
          </a:p>
        </p:txBody>
      </p:sp>
      <p:sp>
        <p:nvSpPr>
          <p:cNvPr id="17" name="Shape 15"/>
          <p:cNvSpPr/>
          <p:nvPr/>
        </p:nvSpPr>
        <p:spPr>
          <a:xfrm>
            <a:off x="6035040" y="1170432"/>
            <a:ext cx="2743200" cy="1920240"/>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sp>
      <p:sp>
        <p:nvSpPr>
          <p:cNvPr id="18" name="Shape 16"/>
          <p:cNvSpPr/>
          <p:nvPr/>
        </p:nvSpPr>
        <p:spPr>
          <a:xfrm>
            <a:off x="6035040" y="1170432"/>
            <a:ext cx="2743200" cy="64008"/>
          </a:xfrm>
          <a:prstGeom prst="rect">
            <a:avLst/>
          </a:prstGeom>
          <a:solidFill>
            <a:srgbClr val="FF6F00"/>
          </a:solidFill>
          <a:ln w="12700">
            <a:solidFill>
              <a:srgbClr val="FF6F00"/>
            </a:solidFill>
            <a:prstDash val="solid"/>
          </a:ln>
        </p:spPr>
      </p:sp>
      <p:sp>
        <p:nvSpPr>
          <p:cNvPr id="19" name="Shape 17"/>
          <p:cNvSpPr/>
          <p:nvPr/>
        </p:nvSpPr>
        <p:spPr>
          <a:xfrm>
            <a:off x="6144768" y="1325880"/>
            <a:ext cx="502920" cy="502920"/>
          </a:xfrm>
          <a:prstGeom prst="ellipse">
            <a:avLst/>
          </a:prstGeom>
          <a:solidFill>
            <a:srgbClr val="FF6F00"/>
          </a:solidFill>
          <a:ln w="12700">
            <a:solidFill>
              <a:srgbClr val="FF6F00"/>
            </a:solidFill>
            <a:prstDash val="solid"/>
          </a:ln>
        </p:spPr>
      </p:sp>
      <p:sp>
        <p:nvSpPr>
          <p:cNvPr id="20" name="Text 18"/>
          <p:cNvSpPr/>
          <p:nvPr/>
        </p:nvSpPr>
        <p:spPr>
          <a:xfrm>
            <a:off x="6144768" y="1325880"/>
            <a:ext cx="502920" cy="50292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21" name="Text 19"/>
          <p:cNvSpPr/>
          <p:nvPr/>
        </p:nvSpPr>
        <p:spPr>
          <a:xfrm>
            <a:off x="6784848" y="1344168"/>
            <a:ext cx="1920240" cy="475488"/>
          </a:xfrm>
          <a:prstGeom prst="rect">
            <a:avLst/>
          </a:prstGeom>
          <a:noFill/>
          <a:ln/>
        </p:spPr>
        <p:txBody>
          <a:bodyPr wrap="square" rtlCol="0" anchor="ctr"/>
          <a:lstStyle/>
          <a:p>
            <a:pPr marL="0" indent="0">
              <a:lnSpc>
                <a:spcPct val="120000"/>
              </a:lnSpc>
              <a:buNone/>
            </a:pPr>
            <a:r>
              <a:rPr lang="en-US" sz="1200" b="1" dirty="0">
                <a:solidFill>
                  <a:srgbClr val="FF6F00"/>
                </a:solidFill>
              </a:rPr>
              <a:t>Deep Learning</a:t>
            </a:r>
            <a:endParaRPr lang="en-US" sz="1200" dirty="0"/>
          </a:p>
        </p:txBody>
      </p:sp>
      <p:sp>
        <p:nvSpPr>
          <p:cNvPr id="22" name="Text 20"/>
          <p:cNvSpPr/>
          <p:nvPr/>
        </p:nvSpPr>
        <p:spPr>
          <a:xfrm>
            <a:off x="617220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CNNs and autoencoders learning directly from raw signals or time-frequency images.</a:t>
            </a:r>
            <a:endParaRPr lang="en-US" sz="1050" dirty="0"/>
          </a:p>
        </p:txBody>
      </p:sp>
      <p:sp>
        <p:nvSpPr>
          <p:cNvPr id="23" name="Shape 21"/>
          <p:cNvSpPr/>
          <p:nvPr/>
        </p:nvSpPr>
        <p:spPr>
          <a:xfrm>
            <a:off x="274320" y="3246120"/>
            <a:ext cx="8595360" cy="166420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24" name="Text 22"/>
          <p:cNvSpPr/>
          <p:nvPr/>
        </p:nvSpPr>
        <p:spPr>
          <a:xfrm>
            <a:off x="457200" y="3355848"/>
            <a:ext cx="8229600" cy="320040"/>
          </a:xfrm>
          <a:prstGeom prst="rect">
            <a:avLst/>
          </a:prstGeom>
          <a:noFill/>
          <a:ln/>
        </p:spPr>
        <p:txBody>
          <a:bodyPr wrap="square" rtlCol="0" anchor="ctr"/>
          <a:lstStyle/>
          <a:p>
            <a:pPr marL="0" indent="0">
              <a:buNone/>
            </a:pPr>
            <a:r>
              <a:rPr lang="en-US" sz="1100" b="1" kern="0" spc="150" dirty="0">
                <a:solidFill>
                  <a:srgbClr val="0A1628"/>
                </a:solidFill>
              </a:rPr>
              <a:t>KEY RESEARCHERS &amp; BENCHMARK</a:t>
            </a:r>
            <a:endParaRPr lang="en-US" sz="1100" dirty="0"/>
          </a:p>
        </p:txBody>
      </p:sp>
      <p:sp>
        <p:nvSpPr>
          <p:cNvPr id="25" name="Shape 23"/>
          <p:cNvSpPr/>
          <p:nvPr/>
        </p:nvSpPr>
        <p:spPr>
          <a:xfrm>
            <a:off x="457200" y="3639312"/>
            <a:ext cx="8229600" cy="36576"/>
          </a:xfrm>
          <a:prstGeom prst="rect">
            <a:avLst/>
          </a:prstGeom>
          <a:solidFill>
            <a:srgbClr val="E3EAF5"/>
          </a:solidFill>
          <a:ln w="12700">
            <a:solidFill>
              <a:srgbClr val="E3EAF5"/>
            </a:solidFill>
            <a:prstDash val="solid"/>
          </a:ln>
        </p:spPr>
      </p:sp>
      <p:sp>
        <p:nvSpPr>
          <p:cNvPr id="26" name="Shape 24"/>
          <p:cNvSpPr/>
          <p:nvPr/>
        </p:nvSpPr>
        <p:spPr>
          <a:xfrm>
            <a:off x="457200" y="3730752"/>
            <a:ext cx="54864" cy="1005840"/>
          </a:xfrm>
          <a:prstGeom prst="rect">
            <a:avLst/>
          </a:prstGeom>
          <a:solidFill>
            <a:srgbClr val="1565C0"/>
          </a:solidFill>
          <a:ln w="12700">
            <a:solidFill>
              <a:srgbClr val="1565C0"/>
            </a:solidFill>
            <a:prstDash val="solid"/>
          </a:ln>
        </p:spPr>
      </p:sp>
      <p:sp>
        <p:nvSpPr>
          <p:cNvPr id="27" name="Text 25"/>
          <p:cNvSpPr/>
          <p:nvPr/>
        </p:nvSpPr>
        <p:spPr>
          <a:xfrm>
            <a:off x="594360" y="3749040"/>
            <a:ext cx="2560320" cy="292608"/>
          </a:xfrm>
          <a:prstGeom prst="rect">
            <a:avLst/>
          </a:prstGeom>
          <a:noFill/>
          <a:ln/>
        </p:spPr>
        <p:txBody>
          <a:bodyPr wrap="square" rtlCol="0" anchor="ctr"/>
          <a:lstStyle/>
          <a:p>
            <a:pPr marL="0" indent="0">
              <a:buNone/>
            </a:pPr>
            <a:r>
              <a:rPr lang="en-US" sz="1100" b="1" dirty="0">
                <a:solidFill>
                  <a:srgbClr val="0A1628"/>
                </a:solidFill>
              </a:rPr>
              <a:t>Kankar et al. (2011)</a:t>
            </a:r>
            <a:endParaRPr lang="en-US" sz="1100" dirty="0"/>
          </a:p>
        </p:txBody>
      </p:sp>
      <p:sp>
        <p:nvSpPr>
          <p:cNvPr id="28" name="Text 26"/>
          <p:cNvSpPr/>
          <p:nvPr/>
        </p:nvSpPr>
        <p:spPr>
          <a:xfrm>
            <a:off x="59436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Demonstrated effectiveness of SVM &amp; Random Forest for bearing classification.</a:t>
            </a:r>
            <a:endParaRPr lang="en-US" sz="1000" dirty="0"/>
          </a:p>
        </p:txBody>
      </p:sp>
      <p:sp>
        <p:nvSpPr>
          <p:cNvPr id="29" name="Shape 27"/>
          <p:cNvSpPr/>
          <p:nvPr/>
        </p:nvSpPr>
        <p:spPr>
          <a:xfrm>
            <a:off x="3291840" y="3730752"/>
            <a:ext cx="54864" cy="1005840"/>
          </a:xfrm>
          <a:prstGeom prst="rect">
            <a:avLst/>
          </a:prstGeom>
          <a:solidFill>
            <a:srgbClr val="FF6F00"/>
          </a:solidFill>
          <a:ln w="12700">
            <a:solidFill>
              <a:srgbClr val="FF6F00"/>
            </a:solidFill>
            <a:prstDash val="solid"/>
          </a:ln>
        </p:spPr>
      </p:sp>
      <p:sp>
        <p:nvSpPr>
          <p:cNvPr id="30" name="Text 28"/>
          <p:cNvSpPr/>
          <p:nvPr/>
        </p:nvSpPr>
        <p:spPr>
          <a:xfrm>
            <a:off x="3429000" y="3749040"/>
            <a:ext cx="2560320" cy="292608"/>
          </a:xfrm>
          <a:prstGeom prst="rect">
            <a:avLst/>
          </a:prstGeom>
          <a:noFill/>
          <a:ln/>
        </p:spPr>
        <p:txBody>
          <a:bodyPr wrap="square" rtlCol="0" anchor="ctr"/>
          <a:lstStyle/>
          <a:p>
            <a:pPr marL="0" indent="0">
              <a:buNone/>
            </a:pPr>
            <a:r>
              <a:rPr lang="en-US" sz="1100" b="1" dirty="0">
                <a:solidFill>
                  <a:srgbClr val="0A1628"/>
                </a:solidFill>
              </a:rPr>
              <a:t>Rajeswari et al. (2014)</a:t>
            </a:r>
            <a:endParaRPr lang="en-US" sz="1100" dirty="0"/>
          </a:p>
        </p:txBody>
      </p:sp>
      <p:sp>
        <p:nvSpPr>
          <p:cNvPr id="31" name="Text 29"/>
          <p:cNvSpPr/>
          <p:nvPr/>
        </p:nvSpPr>
        <p:spPr>
          <a:xfrm>
            <a:off x="342900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Explored Wavelet Packet Transforms combined with hybrid PSO + SVM.</a:t>
            </a:r>
            <a:endParaRPr lang="en-US" sz="1000" dirty="0"/>
          </a:p>
        </p:txBody>
      </p:sp>
      <p:sp>
        <p:nvSpPr>
          <p:cNvPr id="32" name="Shape 30"/>
          <p:cNvSpPr/>
          <p:nvPr/>
        </p:nvSpPr>
        <p:spPr>
          <a:xfrm>
            <a:off x="6126480" y="3730752"/>
            <a:ext cx="54864" cy="1005840"/>
          </a:xfrm>
          <a:prstGeom prst="rect">
            <a:avLst/>
          </a:prstGeom>
          <a:solidFill>
            <a:srgbClr val="00897B"/>
          </a:solidFill>
          <a:ln w="12700">
            <a:solidFill>
              <a:srgbClr val="00897B"/>
            </a:solidFill>
            <a:prstDash val="solid"/>
          </a:ln>
        </p:spPr>
      </p:sp>
      <p:sp>
        <p:nvSpPr>
          <p:cNvPr id="33" name="Text 31"/>
          <p:cNvSpPr/>
          <p:nvPr/>
        </p:nvSpPr>
        <p:spPr>
          <a:xfrm>
            <a:off x="6263640" y="3749040"/>
            <a:ext cx="2560320" cy="292608"/>
          </a:xfrm>
          <a:prstGeom prst="rect">
            <a:avLst/>
          </a:prstGeom>
          <a:noFill/>
          <a:ln/>
        </p:spPr>
        <p:txBody>
          <a:bodyPr wrap="square" rtlCol="0" anchor="ctr"/>
          <a:lstStyle/>
          <a:p>
            <a:pPr marL="0" indent="0">
              <a:buNone/>
            </a:pPr>
            <a:r>
              <a:rPr lang="en-US" sz="1100" b="1" dirty="0">
                <a:solidFill>
                  <a:srgbClr val="0A1628"/>
                </a:solidFill>
              </a:rPr>
              <a:t>CWRU Benchmark Dataset</a:t>
            </a:r>
            <a:endParaRPr lang="en-US" sz="1100" dirty="0"/>
          </a:p>
        </p:txBody>
      </p:sp>
      <p:sp>
        <p:nvSpPr>
          <p:cNvPr id="34" name="Text 32"/>
          <p:cNvSpPr/>
          <p:nvPr/>
        </p:nvSpPr>
        <p:spPr>
          <a:xfrm>
            <a:off x="626364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The gold standard for evaluating all bearing fault diagnosis methods.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E53935"/>
          </a:solidFill>
          <a:ln w="12700">
            <a:solidFill>
              <a:srgbClr val="E53935"/>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LITERATURE SURVEY: Limitations</a:t>
            </a:r>
            <a:endParaRPr lang="en-US" sz="2800" dirty="0"/>
          </a:p>
        </p:txBody>
      </p:sp>
      <p:sp>
        <p:nvSpPr>
          <p:cNvPr id="5" name="Shape 3"/>
          <p:cNvSpPr/>
          <p:nvPr/>
        </p:nvSpPr>
        <p:spPr>
          <a:xfrm>
            <a:off x="365760" y="1188720"/>
            <a:ext cx="8412480" cy="1115568"/>
          </a:xfrm>
          <a:prstGeom prst="rect">
            <a:avLst/>
          </a:prstGeom>
          <a:solidFill>
            <a:srgbClr val="FFEBEE"/>
          </a:solidFill>
          <a:ln w="12700">
            <a:solidFill>
              <a:srgbClr val="E53935"/>
            </a:solidFill>
            <a:prstDash val="solid"/>
          </a:ln>
          <a:effectLst>
            <a:outerShdw blurRad="101600" dist="38100" dir="8100000" algn="bl" rotWithShape="0">
              <a:srgbClr val="000000">
                <a:alpha val="12000"/>
              </a:srgbClr>
            </a:outerShdw>
          </a:effectLst>
        </p:spPr>
      </p:sp>
      <p:sp>
        <p:nvSpPr>
          <p:cNvPr id="6" name="Shape 4"/>
          <p:cNvSpPr/>
          <p:nvPr/>
        </p:nvSpPr>
        <p:spPr>
          <a:xfrm>
            <a:off x="365760" y="1188720"/>
            <a:ext cx="73152" cy="1115568"/>
          </a:xfrm>
          <a:prstGeom prst="rect">
            <a:avLst/>
          </a:prstGeom>
          <a:solidFill>
            <a:srgbClr val="E53935"/>
          </a:solidFill>
          <a:ln w="12700">
            <a:solidFill>
              <a:srgbClr val="E53935"/>
            </a:solidFill>
            <a:prstDash val="solid"/>
          </a:ln>
        </p:spPr>
      </p:sp>
      <p:sp>
        <p:nvSpPr>
          <p:cNvPr id="7" name="Shape 5"/>
          <p:cNvSpPr/>
          <p:nvPr/>
        </p:nvSpPr>
        <p:spPr>
          <a:xfrm>
            <a:off x="566928" y="1389888"/>
            <a:ext cx="822960" cy="713232"/>
          </a:xfrm>
          <a:prstGeom prst="rect">
            <a:avLst/>
          </a:prstGeom>
          <a:solidFill>
            <a:srgbClr val="E53935">
              <a:alpha val="20000"/>
            </a:srgbClr>
          </a:solidFill>
          <a:ln w="12700">
            <a:solidFill>
              <a:srgbClr val="000000"/>
            </a:solidFill>
            <a:prstDash val="solid"/>
          </a:ln>
        </p:spPr>
      </p:sp>
      <p:sp>
        <p:nvSpPr>
          <p:cNvPr id="8" name="Text 6"/>
          <p:cNvSpPr/>
          <p:nvPr/>
        </p:nvSpPr>
        <p:spPr>
          <a:xfrm>
            <a:off x="566928" y="137160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1508760" y="1298448"/>
            <a:ext cx="7040880" cy="347472"/>
          </a:xfrm>
          <a:prstGeom prst="rect">
            <a:avLst/>
          </a:prstGeom>
          <a:noFill/>
          <a:ln/>
        </p:spPr>
        <p:txBody>
          <a:bodyPr wrap="square" rtlCol="0" anchor="ctr"/>
          <a:lstStyle/>
          <a:p>
            <a:pPr marL="0" indent="0">
              <a:buNone/>
            </a:pPr>
            <a:r>
              <a:rPr lang="en-US" sz="1500" b="1" dirty="0">
                <a:solidFill>
                  <a:srgbClr val="E53935"/>
                </a:solidFill>
              </a:rPr>
              <a:t>Hidden Preprocessing</a:t>
            </a:r>
            <a:endParaRPr lang="en-US" sz="1500" dirty="0"/>
          </a:p>
        </p:txBody>
      </p:sp>
      <p:sp>
        <p:nvSpPr>
          <p:cNvPr id="10" name="Text 8"/>
          <p:cNvSpPr/>
          <p:nvPr/>
        </p:nvSpPr>
        <p:spPr>
          <a:xfrm>
            <a:off x="1508760" y="162763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Many studies emphasize model accuracy while keeping all preprocessing and feature engineering assumptions completely opaque  making reproduction impossible.</a:t>
            </a:r>
            <a:endParaRPr lang="en-US" sz="1100" dirty="0"/>
          </a:p>
        </p:txBody>
      </p:sp>
      <p:sp>
        <p:nvSpPr>
          <p:cNvPr id="11" name="Shape 9"/>
          <p:cNvSpPr/>
          <p:nvPr/>
        </p:nvSpPr>
        <p:spPr>
          <a:xfrm>
            <a:off x="365760" y="2468880"/>
            <a:ext cx="8412480" cy="1115568"/>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12" name="Shape 10"/>
          <p:cNvSpPr/>
          <p:nvPr/>
        </p:nvSpPr>
        <p:spPr>
          <a:xfrm>
            <a:off x="365760" y="2468880"/>
            <a:ext cx="73152" cy="1115568"/>
          </a:xfrm>
          <a:prstGeom prst="rect">
            <a:avLst/>
          </a:prstGeom>
          <a:solidFill>
            <a:srgbClr val="1565C0"/>
          </a:solidFill>
          <a:ln w="12700">
            <a:solidFill>
              <a:srgbClr val="1565C0"/>
            </a:solidFill>
            <a:prstDash val="solid"/>
          </a:ln>
        </p:spPr>
      </p:sp>
      <p:sp>
        <p:nvSpPr>
          <p:cNvPr id="13" name="Shape 11"/>
          <p:cNvSpPr/>
          <p:nvPr/>
        </p:nvSpPr>
        <p:spPr>
          <a:xfrm>
            <a:off x="566928" y="2670048"/>
            <a:ext cx="822960" cy="713232"/>
          </a:xfrm>
          <a:prstGeom prst="rect">
            <a:avLst/>
          </a:prstGeom>
          <a:solidFill>
            <a:srgbClr val="1565C0">
              <a:alpha val="20000"/>
            </a:srgbClr>
          </a:solidFill>
          <a:ln w="12700">
            <a:solidFill>
              <a:srgbClr val="000000"/>
            </a:solidFill>
            <a:prstDash val="solid"/>
          </a:ln>
        </p:spPr>
      </p:sp>
      <p:sp>
        <p:nvSpPr>
          <p:cNvPr id="14" name="Text 12"/>
          <p:cNvSpPr/>
          <p:nvPr/>
        </p:nvSpPr>
        <p:spPr>
          <a:xfrm>
            <a:off x="566928" y="265176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1508760" y="2578608"/>
            <a:ext cx="7040880" cy="347472"/>
          </a:xfrm>
          <a:prstGeom prst="rect">
            <a:avLst/>
          </a:prstGeom>
          <a:noFill/>
          <a:ln/>
        </p:spPr>
        <p:txBody>
          <a:bodyPr wrap="square" rtlCol="0" anchor="ctr"/>
          <a:lstStyle/>
          <a:p>
            <a:pPr marL="0" indent="0">
              <a:buNone/>
            </a:pPr>
            <a:r>
              <a:rPr lang="en-US" sz="1500" b="1" dirty="0">
                <a:solidFill>
                  <a:srgbClr val="1565C0"/>
                </a:solidFill>
              </a:rPr>
              <a:t>Lack of Accessibility</a:t>
            </a:r>
            <a:endParaRPr lang="en-US" sz="1500" dirty="0"/>
          </a:p>
        </p:txBody>
      </p:sp>
      <p:sp>
        <p:nvSpPr>
          <p:cNvPr id="16" name="Text 14"/>
          <p:cNvSpPr/>
          <p:nvPr/>
        </p:nvSpPr>
        <p:spPr>
          <a:xfrm>
            <a:off x="1508760" y="290779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Complete absence of user-facing interfaces for real-time demonstration or educational purposes. Results exist only in research papers.</a:t>
            </a:r>
            <a:endParaRPr lang="en-US" sz="1100" dirty="0"/>
          </a:p>
        </p:txBody>
      </p:sp>
      <p:sp>
        <p:nvSpPr>
          <p:cNvPr id="17" name="Shape 15"/>
          <p:cNvSpPr/>
          <p:nvPr/>
        </p:nvSpPr>
        <p:spPr>
          <a:xfrm>
            <a:off x="365760" y="3749040"/>
            <a:ext cx="8412480" cy="1115568"/>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sp>
      <p:sp>
        <p:nvSpPr>
          <p:cNvPr id="18" name="Shape 16"/>
          <p:cNvSpPr/>
          <p:nvPr/>
        </p:nvSpPr>
        <p:spPr>
          <a:xfrm>
            <a:off x="365760" y="3749040"/>
            <a:ext cx="73152" cy="1115568"/>
          </a:xfrm>
          <a:prstGeom prst="rect">
            <a:avLst/>
          </a:prstGeom>
          <a:solidFill>
            <a:srgbClr val="FF6F00"/>
          </a:solidFill>
          <a:ln w="12700">
            <a:solidFill>
              <a:srgbClr val="FF6F00"/>
            </a:solidFill>
            <a:prstDash val="solid"/>
          </a:ln>
        </p:spPr>
      </p:sp>
      <p:sp>
        <p:nvSpPr>
          <p:cNvPr id="19" name="Shape 17"/>
          <p:cNvSpPr/>
          <p:nvPr/>
        </p:nvSpPr>
        <p:spPr>
          <a:xfrm>
            <a:off x="566928" y="3950208"/>
            <a:ext cx="822960" cy="713232"/>
          </a:xfrm>
          <a:prstGeom prst="rect">
            <a:avLst/>
          </a:prstGeom>
          <a:solidFill>
            <a:srgbClr val="FF6F00">
              <a:alpha val="20000"/>
            </a:srgbClr>
          </a:solidFill>
          <a:ln w="12700">
            <a:solidFill>
              <a:srgbClr val="000000"/>
            </a:solidFill>
            <a:prstDash val="solid"/>
          </a:ln>
        </p:spPr>
      </p:sp>
      <p:sp>
        <p:nvSpPr>
          <p:cNvPr id="20" name="Text 18"/>
          <p:cNvSpPr/>
          <p:nvPr/>
        </p:nvSpPr>
        <p:spPr>
          <a:xfrm>
            <a:off x="566928" y="393192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1508760" y="3858768"/>
            <a:ext cx="7040880" cy="347472"/>
          </a:xfrm>
          <a:prstGeom prst="rect">
            <a:avLst/>
          </a:prstGeom>
          <a:noFill/>
          <a:ln/>
        </p:spPr>
        <p:txBody>
          <a:bodyPr wrap="square" rtlCol="0" anchor="ctr"/>
          <a:lstStyle/>
          <a:p>
            <a:pPr marL="0" indent="0">
              <a:buNone/>
            </a:pPr>
            <a:r>
              <a:rPr lang="en-US" sz="1500" b="1" dirty="0">
                <a:solidFill>
                  <a:srgbClr val="FF6F00"/>
                </a:solidFill>
              </a:rPr>
              <a:t>Research-Practice Gap</a:t>
            </a:r>
            <a:endParaRPr lang="en-US" sz="1500" dirty="0"/>
          </a:p>
        </p:txBody>
      </p:sp>
      <p:sp>
        <p:nvSpPr>
          <p:cNvPr id="22" name="Text 20"/>
          <p:cNvSpPr/>
          <p:nvPr/>
        </p:nvSpPr>
        <p:spPr>
          <a:xfrm>
            <a:off x="1508760" y="418795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Prototypes rarely integrate raw signal handling, feature extraction, and GUI deployment in a single cohesive, reproducible workflow.</a:t>
            </a:r>
            <a:endParaRPr lang="en-US" sz="1100" dirty="0"/>
          </a:p>
        </p:txBody>
      </p:sp>
      <p:sp>
        <p:nvSpPr>
          <p:cNvPr id="23" name="Shape 21"/>
          <p:cNvSpPr/>
          <p:nvPr/>
        </p:nvSpPr>
        <p:spPr>
          <a:xfrm>
            <a:off x="365760" y="4709160"/>
            <a:ext cx="8412480" cy="320040"/>
          </a:xfrm>
          <a:prstGeom prst="rect">
            <a:avLst/>
          </a:prstGeom>
          <a:solidFill>
            <a:srgbClr val="00897B"/>
          </a:solidFill>
          <a:ln w="12700">
            <a:solidFill>
              <a:srgbClr val="00897B"/>
            </a:solidFill>
            <a:prstDash val="solid"/>
          </a:ln>
        </p:spPr>
      </p:sp>
      <p:sp>
        <p:nvSpPr>
          <p:cNvPr id="24" name="Text 22"/>
          <p:cNvSpPr/>
          <p:nvPr/>
        </p:nvSpPr>
        <p:spPr>
          <a:xfrm>
            <a:off x="548640" y="4736592"/>
            <a:ext cx="8046720" cy="274320"/>
          </a:xfrm>
          <a:prstGeom prst="rect">
            <a:avLst/>
          </a:prstGeom>
          <a:noFill/>
          <a:ln/>
        </p:spPr>
        <p:txBody>
          <a:bodyPr wrap="square" rtlCol="0" anchor="ctr"/>
          <a:lstStyle/>
          <a:p>
            <a:pPr marL="0" indent="0" algn="ctr">
              <a:buNone/>
            </a:pPr>
            <a:r>
              <a:rPr lang="en-US" sz="1100" b="1" dirty="0">
                <a:solidFill>
                  <a:srgbClr val="FFFFFF"/>
                </a:solidFill>
              </a:rPr>
              <a:t>  This project addresses ALL three limitations with a complete, open, end-to-end system.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F6F00"/>
          </a:solidFill>
          <a:ln w="12700">
            <a:solidFill>
              <a:srgbClr val="FF6F00"/>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RESEARCH GAPS &amp; OBJECTIVES</a:t>
            </a:r>
            <a:endParaRPr lang="en-US" sz="2800" dirty="0"/>
          </a:p>
        </p:txBody>
      </p:sp>
      <p:sp>
        <p:nvSpPr>
          <p:cNvPr id="5" name="Shape 3"/>
          <p:cNvSpPr/>
          <p:nvPr/>
        </p:nvSpPr>
        <p:spPr>
          <a:xfrm>
            <a:off x="274320" y="1188720"/>
            <a:ext cx="4023360" cy="3749040"/>
          </a:xfrm>
          <a:prstGeom prst="rect">
            <a:avLst/>
          </a:prstGeom>
          <a:solidFill>
            <a:srgbClr val="0A1628"/>
          </a:solidFill>
          <a:ln w="12700">
            <a:solidFill>
              <a:srgbClr val="0A1628"/>
            </a:solidFill>
            <a:prstDash val="solid"/>
          </a:ln>
          <a:effectLst>
            <a:outerShdw blurRad="101600" dist="38100" dir="8100000" algn="bl" rotWithShape="0">
              <a:srgbClr val="000000">
                <a:alpha val="12000"/>
              </a:srgbClr>
            </a:outerShdw>
          </a:effectLst>
        </p:spPr>
      </p:sp>
      <p:sp>
        <p:nvSpPr>
          <p:cNvPr id="6" name="Text 4"/>
          <p:cNvSpPr/>
          <p:nvPr/>
        </p:nvSpPr>
        <p:spPr>
          <a:xfrm>
            <a:off x="457200" y="1325880"/>
            <a:ext cx="3657600" cy="320040"/>
          </a:xfrm>
          <a:prstGeom prst="rect">
            <a:avLst/>
          </a:prstGeom>
          <a:noFill/>
          <a:ln/>
        </p:spPr>
        <p:txBody>
          <a:bodyPr wrap="square" rtlCol="0" anchor="ctr"/>
          <a:lstStyle/>
          <a:p>
            <a:pPr marL="0" indent="0">
              <a:buNone/>
            </a:pPr>
            <a:r>
              <a:rPr lang="en-US" sz="1100" b="1" kern="0" spc="200" dirty="0">
                <a:solidFill>
                  <a:srgbClr val="FF6F00"/>
                </a:solidFill>
              </a:rPr>
              <a:t>RESEARCH GAP</a:t>
            </a:r>
            <a:endParaRPr lang="en-US" sz="1100" dirty="0"/>
          </a:p>
        </p:txBody>
      </p:sp>
      <p:sp>
        <p:nvSpPr>
          <p:cNvPr id="7" name="Shape 5"/>
          <p:cNvSpPr/>
          <p:nvPr/>
        </p:nvSpPr>
        <p:spPr>
          <a:xfrm>
            <a:off x="457200" y="1627632"/>
            <a:ext cx="3474720" cy="36576"/>
          </a:xfrm>
          <a:prstGeom prst="rect">
            <a:avLst/>
          </a:prstGeom>
          <a:solidFill>
            <a:srgbClr val="FF6F00"/>
          </a:solidFill>
          <a:ln w="12700">
            <a:solidFill>
              <a:srgbClr val="FF6F00"/>
            </a:solidFill>
            <a:prstDash val="solid"/>
          </a:ln>
        </p:spPr>
      </p:sp>
      <p:sp>
        <p:nvSpPr>
          <p:cNvPr id="8" name="Text 6"/>
          <p:cNvSpPr/>
          <p:nvPr/>
        </p:nvSpPr>
        <p:spPr>
          <a:xfrm>
            <a:off x="457200" y="1737360"/>
            <a:ext cx="3657600" cy="1645920"/>
          </a:xfrm>
          <a:prstGeom prst="rect">
            <a:avLst/>
          </a:prstGeom>
          <a:noFill/>
          <a:ln/>
        </p:spPr>
        <p:txBody>
          <a:bodyPr wrap="square" rtlCol="0" anchor="ctr"/>
          <a:lstStyle/>
          <a:p>
            <a:pPr marL="0" indent="0">
              <a:lnSpc>
                <a:spcPct val="150000"/>
              </a:lnSpc>
              <a:buNone/>
            </a:pPr>
            <a:r>
              <a:rPr lang="en-US" sz="1100" dirty="0">
                <a:solidFill>
                  <a:srgbClr val="CBD5E0"/>
                </a:solidFill>
              </a:rPr>
              <a:t>Standard literature focuses on model accuracy metrics alone, completely lacking a comprehensive mechanical engineering demonstrative tool that bridges signal processing with web-based inference and interactive visualization.</a:t>
            </a:r>
            <a:endParaRPr lang="en-US" sz="1100" dirty="0"/>
          </a:p>
        </p:txBody>
      </p:sp>
      <p:sp>
        <p:nvSpPr>
          <p:cNvPr id="9" name="Text 7"/>
          <p:cNvSpPr/>
          <p:nvPr/>
        </p:nvSpPr>
        <p:spPr>
          <a:xfrm>
            <a:off x="457200" y="3401568"/>
            <a:ext cx="3657600" cy="274320"/>
          </a:xfrm>
          <a:prstGeom prst="rect">
            <a:avLst/>
          </a:prstGeom>
          <a:noFill/>
          <a:ln/>
        </p:spPr>
        <p:txBody>
          <a:bodyPr wrap="square" rtlCol="0" anchor="ctr"/>
          <a:lstStyle/>
          <a:p>
            <a:pPr marL="0" indent="0">
              <a:buNone/>
            </a:pPr>
            <a:r>
              <a:rPr lang="en-US" sz="1000" b="1" dirty="0">
                <a:solidFill>
                  <a:srgbClr val="FF6F00"/>
                </a:solidFill>
              </a:rPr>
              <a:t>Missing in existing work:</a:t>
            </a:r>
            <a:endParaRPr lang="en-US" sz="1000" dirty="0"/>
          </a:p>
        </p:txBody>
      </p:sp>
      <p:sp>
        <p:nvSpPr>
          <p:cNvPr id="10" name="Shape 8"/>
          <p:cNvSpPr/>
          <p:nvPr/>
        </p:nvSpPr>
        <p:spPr>
          <a:xfrm>
            <a:off x="457200" y="3703320"/>
            <a:ext cx="137160" cy="137160"/>
          </a:xfrm>
          <a:prstGeom prst="ellipse">
            <a:avLst/>
          </a:prstGeom>
          <a:solidFill>
            <a:srgbClr val="E53935"/>
          </a:solidFill>
          <a:ln w="12700">
            <a:solidFill>
              <a:srgbClr val="E53935"/>
            </a:solidFill>
            <a:prstDash val="solid"/>
          </a:ln>
        </p:spPr>
      </p:sp>
      <p:sp>
        <p:nvSpPr>
          <p:cNvPr id="11" name="Text 9"/>
          <p:cNvSpPr/>
          <p:nvPr/>
        </p:nvSpPr>
        <p:spPr>
          <a:xfrm>
            <a:off x="667512" y="3675888"/>
            <a:ext cx="3520440" cy="219456"/>
          </a:xfrm>
          <a:prstGeom prst="rect">
            <a:avLst/>
          </a:prstGeom>
          <a:noFill/>
          <a:ln/>
        </p:spPr>
        <p:txBody>
          <a:bodyPr wrap="square" rtlCol="0" anchor="ctr"/>
          <a:lstStyle/>
          <a:p>
            <a:pPr marL="0" indent="0">
              <a:buNone/>
            </a:pPr>
            <a:r>
              <a:rPr lang="en-US" sz="1000" dirty="0">
                <a:solidFill>
                  <a:srgbClr val="90A4AE"/>
                </a:solidFill>
              </a:rPr>
              <a:t>Full reproducible pipeline</a:t>
            </a:r>
            <a:endParaRPr lang="en-US" sz="1000" dirty="0"/>
          </a:p>
        </p:txBody>
      </p:sp>
      <p:sp>
        <p:nvSpPr>
          <p:cNvPr id="12" name="Shape 10"/>
          <p:cNvSpPr/>
          <p:nvPr/>
        </p:nvSpPr>
        <p:spPr>
          <a:xfrm>
            <a:off x="457200" y="4032504"/>
            <a:ext cx="137160" cy="137160"/>
          </a:xfrm>
          <a:prstGeom prst="ellipse">
            <a:avLst/>
          </a:prstGeom>
          <a:solidFill>
            <a:srgbClr val="E53935"/>
          </a:solidFill>
          <a:ln w="12700">
            <a:solidFill>
              <a:srgbClr val="E53935"/>
            </a:solidFill>
            <a:prstDash val="solid"/>
          </a:ln>
        </p:spPr>
      </p:sp>
      <p:sp>
        <p:nvSpPr>
          <p:cNvPr id="13" name="Text 11"/>
          <p:cNvSpPr/>
          <p:nvPr/>
        </p:nvSpPr>
        <p:spPr>
          <a:xfrm>
            <a:off x="667512" y="4005072"/>
            <a:ext cx="3520440" cy="219456"/>
          </a:xfrm>
          <a:prstGeom prst="rect">
            <a:avLst/>
          </a:prstGeom>
          <a:noFill/>
          <a:ln/>
        </p:spPr>
        <p:txBody>
          <a:bodyPr wrap="square" rtlCol="0" anchor="ctr"/>
          <a:lstStyle/>
          <a:p>
            <a:pPr marL="0" indent="0">
              <a:buNone/>
            </a:pPr>
            <a:r>
              <a:rPr lang="en-US" sz="1000" dirty="0">
                <a:solidFill>
                  <a:srgbClr val="90A4AE"/>
                </a:solidFill>
              </a:rPr>
              <a:t>GUI for real-time demos</a:t>
            </a:r>
            <a:endParaRPr lang="en-US" sz="1000" dirty="0"/>
          </a:p>
        </p:txBody>
      </p:sp>
      <p:sp>
        <p:nvSpPr>
          <p:cNvPr id="14" name="Shape 12"/>
          <p:cNvSpPr/>
          <p:nvPr/>
        </p:nvSpPr>
        <p:spPr>
          <a:xfrm>
            <a:off x="457200" y="4361688"/>
            <a:ext cx="137160" cy="137160"/>
          </a:xfrm>
          <a:prstGeom prst="ellipse">
            <a:avLst/>
          </a:prstGeom>
          <a:solidFill>
            <a:srgbClr val="E53935"/>
          </a:solidFill>
          <a:ln w="12700">
            <a:solidFill>
              <a:srgbClr val="E53935"/>
            </a:solidFill>
            <a:prstDash val="solid"/>
          </a:ln>
        </p:spPr>
      </p:sp>
      <p:sp>
        <p:nvSpPr>
          <p:cNvPr id="15" name="Text 13"/>
          <p:cNvSpPr/>
          <p:nvPr/>
        </p:nvSpPr>
        <p:spPr>
          <a:xfrm>
            <a:off x="667512" y="4334256"/>
            <a:ext cx="3520440" cy="219456"/>
          </a:xfrm>
          <a:prstGeom prst="rect">
            <a:avLst/>
          </a:prstGeom>
          <a:noFill/>
          <a:ln/>
        </p:spPr>
        <p:txBody>
          <a:bodyPr wrap="square" rtlCol="0" anchor="ctr"/>
          <a:lstStyle/>
          <a:p>
            <a:pPr marL="0" indent="0">
              <a:buNone/>
            </a:pPr>
            <a:r>
              <a:rPr lang="en-US" sz="1000" dirty="0">
                <a:solidFill>
                  <a:srgbClr val="90A4AE"/>
                </a:solidFill>
              </a:rPr>
              <a:t>Explainable feature importance</a:t>
            </a:r>
            <a:endParaRPr lang="en-US" sz="1000" dirty="0"/>
          </a:p>
        </p:txBody>
      </p:sp>
      <p:sp>
        <p:nvSpPr>
          <p:cNvPr id="16" name="Shape 14"/>
          <p:cNvSpPr/>
          <p:nvPr/>
        </p:nvSpPr>
        <p:spPr>
          <a:xfrm>
            <a:off x="4480560" y="1188720"/>
            <a:ext cx="4389120" cy="3749040"/>
          </a:xfrm>
          <a:prstGeom prst="rect">
            <a:avLst/>
          </a:prstGeom>
          <a:solidFill>
            <a:srgbClr val="F0F4FF"/>
          </a:solidFill>
          <a:ln w="12700">
            <a:solidFill>
              <a:srgbClr val="E3EAF5"/>
            </a:solidFill>
            <a:prstDash val="solid"/>
          </a:ln>
          <a:effectLst>
            <a:outerShdw blurRad="101600" dist="38100" dir="8100000" algn="bl" rotWithShape="0">
              <a:srgbClr val="000000">
                <a:alpha val="12000"/>
              </a:srgbClr>
            </a:outerShdw>
          </a:effectLst>
        </p:spPr>
      </p:sp>
      <p:sp>
        <p:nvSpPr>
          <p:cNvPr id="17" name="Text 15"/>
          <p:cNvSpPr/>
          <p:nvPr/>
        </p:nvSpPr>
        <p:spPr>
          <a:xfrm>
            <a:off x="4663440" y="1325880"/>
            <a:ext cx="4023360" cy="320040"/>
          </a:xfrm>
          <a:prstGeom prst="rect">
            <a:avLst/>
          </a:prstGeom>
          <a:noFill/>
          <a:ln/>
        </p:spPr>
        <p:txBody>
          <a:bodyPr wrap="square" rtlCol="0" anchor="ctr"/>
          <a:lstStyle/>
          <a:p>
            <a:pPr marL="0" indent="0">
              <a:buNone/>
            </a:pPr>
            <a:r>
              <a:rPr lang="en-US" sz="1100" b="1" kern="0" spc="200" dirty="0">
                <a:solidFill>
                  <a:srgbClr val="1565C0"/>
                </a:solidFill>
              </a:rPr>
              <a:t>PROJECT OBJECTIVES</a:t>
            </a:r>
            <a:endParaRPr lang="en-US" sz="1100" dirty="0"/>
          </a:p>
        </p:txBody>
      </p:sp>
      <p:sp>
        <p:nvSpPr>
          <p:cNvPr id="18" name="Shape 16"/>
          <p:cNvSpPr/>
          <p:nvPr/>
        </p:nvSpPr>
        <p:spPr>
          <a:xfrm>
            <a:off x="4663440" y="1627632"/>
            <a:ext cx="4023360" cy="36576"/>
          </a:xfrm>
          <a:prstGeom prst="rect">
            <a:avLst/>
          </a:prstGeom>
          <a:solidFill>
            <a:srgbClr val="1565C0"/>
          </a:solidFill>
          <a:ln w="12700">
            <a:solidFill>
              <a:srgbClr val="1565C0"/>
            </a:solidFill>
            <a:prstDash val="solid"/>
          </a:ln>
        </p:spPr>
      </p:sp>
      <p:sp>
        <p:nvSpPr>
          <p:cNvPr id="19" name="Shape 17"/>
          <p:cNvSpPr/>
          <p:nvPr/>
        </p:nvSpPr>
        <p:spPr>
          <a:xfrm>
            <a:off x="4663440" y="1783080"/>
            <a:ext cx="411480" cy="411480"/>
          </a:xfrm>
          <a:prstGeom prst="rect">
            <a:avLst/>
          </a:prstGeom>
          <a:solidFill>
            <a:srgbClr val="1565C0"/>
          </a:solidFill>
          <a:ln w="12700">
            <a:solidFill>
              <a:srgbClr val="1565C0"/>
            </a:solidFill>
            <a:prstDash val="solid"/>
          </a:ln>
        </p:spPr>
      </p:sp>
      <p:sp>
        <p:nvSpPr>
          <p:cNvPr id="20" name="Text 18"/>
          <p:cNvSpPr/>
          <p:nvPr/>
        </p:nvSpPr>
        <p:spPr>
          <a:xfrm>
            <a:off x="4663440" y="1783080"/>
            <a:ext cx="411480" cy="411480"/>
          </a:xfrm>
          <a:prstGeom prst="rect">
            <a:avLst/>
          </a:prstGeom>
          <a:noFill/>
          <a:ln/>
        </p:spPr>
        <p:txBody>
          <a:bodyPr wrap="square" rtlCol="0" anchor="ctr"/>
          <a:lstStyle/>
          <a:p>
            <a:pPr marL="0" indent="0" algn="ctr">
              <a:buNone/>
            </a:pPr>
            <a:r>
              <a:rPr lang="en-US" sz="1300" b="1" dirty="0">
                <a:solidFill>
                  <a:srgbClr val="FFFFFF"/>
                </a:solidFill>
              </a:rPr>
              <a:t>01</a:t>
            </a:r>
            <a:endParaRPr lang="en-US" sz="1300" dirty="0"/>
          </a:p>
        </p:txBody>
      </p:sp>
      <p:sp>
        <p:nvSpPr>
          <p:cNvPr id="21" name="Text 19"/>
          <p:cNvSpPr/>
          <p:nvPr/>
        </p:nvSpPr>
        <p:spPr>
          <a:xfrm>
            <a:off x="5166360" y="1792224"/>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Preprocess CWRU signals using 2048-sample windows with 50% overlap</a:t>
            </a:r>
            <a:endParaRPr lang="en-US" sz="1050" dirty="0"/>
          </a:p>
        </p:txBody>
      </p:sp>
      <p:sp>
        <p:nvSpPr>
          <p:cNvPr id="22" name="Shape 20"/>
          <p:cNvSpPr/>
          <p:nvPr/>
        </p:nvSpPr>
        <p:spPr>
          <a:xfrm>
            <a:off x="4663440" y="2441448"/>
            <a:ext cx="411480" cy="411480"/>
          </a:xfrm>
          <a:prstGeom prst="rect">
            <a:avLst/>
          </a:prstGeom>
          <a:solidFill>
            <a:srgbClr val="1565C0"/>
          </a:solidFill>
          <a:ln w="12700">
            <a:solidFill>
              <a:srgbClr val="1565C0"/>
            </a:solidFill>
            <a:prstDash val="solid"/>
          </a:ln>
        </p:spPr>
      </p:sp>
      <p:sp>
        <p:nvSpPr>
          <p:cNvPr id="23" name="Text 21"/>
          <p:cNvSpPr/>
          <p:nvPr/>
        </p:nvSpPr>
        <p:spPr>
          <a:xfrm>
            <a:off x="4663440" y="2441448"/>
            <a:ext cx="411480" cy="411480"/>
          </a:xfrm>
          <a:prstGeom prst="rect">
            <a:avLst/>
          </a:prstGeom>
          <a:noFill/>
          <a:ln/>
        </p:spPr>
        <p:txBody>
          <a:bodyPr wrap="square" rtlCol="0" anchor="ctr"/>
          <a:lstStyle/>
          <a:p>
            <a:pPr marL="0" indent="0" algn="ctr">
              <a:buNone/>
            </a:pPr>
            <a:r>
              <a:rPr lang="en-US" sz="1300" b="1" dirty="0">
                <a:solidFill>
                  <a:srgbClr val="FFFFFF"/>
                </a:solidFill>
              </a:rPr>
              <a:t>02</a:t>
            </a:r>
            <a:endParaRPr lang="en-US" sz="1300" dirty="0"/>
          </a:p>
        </p:txBody>
      </p:sp>
      <p:sp>
        <p:nvSpPr>
          <p:cNvPr id="24" name="Text 22"/>
          <p:cNvSpPr/>
          <p:nvPr/>
        </p:nvSpPr>
        <p:spPr>
          <a:xfrm>
            <a:off x="5166360" y="2450592"/>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Extract 25 engineered time-domain &amp; frequency-domain features</a:t>
            </a:r>
            <a:endParaRPr lang="en-US" sz="1050" dirty="0"/>
          </a:p>
        </p:txBody>
      </p:sp>
      <p:sp>
        <p:nvSpPr>
          <p:cNvPr id="25" name="Shape 23"/>
          <p:cNvSpPr/>
          <p:nvPr/>
        </p:nvSpPr>
        <p:spPr>
          <a:xfrm>
            <a:off x="4663440" y="3099816"/>
            <a:ext cx="411480" cy="411480"/>
          </a:xfrm>
          <a:prstGeom prst="rect">
            <a:avLst/>
          </a:prstGeom>
          <a:solidFill>
            <a:srgbClr val="1565C0"/>
          </a:solidFill>
          <a:ln w="12700">
            <a:solidFill>
              <a:srgbClr val="1565C0"/>
            </a:solidFill>
            <a:prstDash val="solid"/>
          </a:ln>
        </p:spPr>
      </p:sp>
      <p:sp>
        <p:nvSpPr>
          <p:cNvPr id="26" name="Text 24"/>
          <p:cNvSpPr/>
          <p:nvPr/>
        </p:nvSpPr>
        <p:spPr>
          <a:xfrm>
            <a:off x="4663440" y="3099816"/>
            <a:ext cx="411480" cy="411480"/>
          </a:xfrm>
          <a:prstGeom prst="rect">
            <a:avLst/>
          </a:prstGeom>
          <a:noFill/>
          <a:ln/>
        </p:spPr>
        <p:txBody>
          <a:bodyPr wrap="square" rtlCol="0" anchor="ctr"/>
          <a:lstStyle/>
          <a:p>
            <a:pPr marL="0" indent="0" algn="ctr">
              <a:buNone/>
            </a:pPr>
            <a:r>
              <a:rPr lang="en-US" sz="1300" b="1" dirty="0">
                <a:solidFill>
                  <a:srgbClr val="FFFFFF"/>
                </a:solidFill>
              </a:rPr>
              <a:t>03</a:t>
            </a:r>
            <a:endParaRPr lang="en-US" sz="1300" dirty="0"/>
          </a:p>
        </p:txBody>
      </p:sp>
      <p:sp>
        <p:nvSpPr>
          <p:cNvPr id="27" name="Text 25"/>
          <p:cNvSpPr/>
          <p:nvPr/>
        </p:nvSpPr>
        <p:spPr>
          <a:xfrm>
            <a:off x="5166360" y="3108960"/>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Train and compare SVM (RBF) vs. Random Forest classifiers</a:t>
            </a:r>
            <a:endParaRPr lang="en-US" sz="1050" dirty="0"/>
          </a:p>
        </p:txBody>
      </p:sp>
      <p:sp>
        <p:nvSpPr>
          <p:cNvPr id="28" name="Shape 26"/>
          <p:cNvSpPr/>
          <p:nvPr/>
        </p:nvSpPr>
        <p:spPr>
          <a:xfrm>
            <a:off x="4663440" y="3758184"/>
            <a:ext cx="411480" cy="411480"/>
          </a:xfrm>
          <a:prstGeom prst="rect">
            <a:avLst/>
          </a:prstGeom>
          <a:solidFill>
            <a:srgbClr val="1565C0"/>
          </a:solidFill>
          <a:ln w="12700">
            <a:solidFill>
              <a:srgbClr val="1565C0"/>
            </a:solidFill>
            <a:prstDash val="solid"/>
          </a:ln>
        </p:spPr>
      </p:sp>
      <p:sp>
        <p:nvSpPr>
          <p:cNvPr id="29" name="Text 27"/>
          <p:cNvSpPr/>
          <p:nvPr/>
        </p:nvSpPr>
        <p:spPr>
          <a:xfrm>
            <a:off x="4663440" y="3758184"/>
            <a:ext cx="411480" cy="411480"/>
          </a:xfrm>
          <a:prstGeom prst="rect">
            <a:avLst/>
          </a:prstGeom>
          <a:noFill/>
          <a:ln/>
        </p:spPr>
        <p:txBody>
          <a:bodyPr wrap="square" rtlCol="0" anchor="ctr"/>
          <a:lstStyle/>
          <a:p>
            <a:pPr marL="0" indent="0" algn="ctr">
              <a:buNone/>
            </a:pPr>
            <a:r>
              <a:rPr lang="en-US" sz="1300" b="1" dirty="0">
                <a:solidFill>
                  <a:srgbClr val="FFFFFF"/>
                </a:solidFill>
              </a:rPr>
              <a:t>04</a:t>
            </a:r>
            <a:endParaRPr lang="en-US" sz="1300" dirty="0"/>
          </a:p>
        </p:txBody>
      </p:sp>
      <p:sp>
        <p:nvSpPr>
          <p:cNvPr id="30" name="Text 28"/>
          <p:cNvSpPr/>
          <p:nvPr/>
        </p:nvSpPr>
        <p:spPr>
          <a:xfrm>
            <a:off x="5166360" y="3767328"/>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Evaluate with accuracy, precision, recall, and weighted F1-score</a:t>
            </a:r>
            <a:endParaRPr lang="en-US" sz="1050" dirty="0"/>
          </a:p>
        </p:txBody>
      </p:sp>
      <p:sp>
        <p:nvSpPr>
          <p:cNvPr id="31" name="Shape 29"/>
          <p:cNvSpPr/>
          <p:nvPr/>
        </p:nvSpPr>
        <p:spPr>
          <a:xfrm>
            <a:off x="4663440" y="4416552"/>
            <a:ext cx="411480" cy="411480"/>
          </a:xfrm>
          <a:prstGeom prst="rect">
            <a:avLst/>
          </a:prstGeom>
          <a:solidFill>
            <a:srgbClr val="1565C0"/>
          </a:solidFill>
          <a:ln w="12700">
            <a:solidFill>
              <a:srgbClr val="1565C0"/>
            </a:solidFill>
            <a:prstDash val="solid"/>
          </a:ln>
        </p:spPr>
      </p:sp>
      <p:sp>
        <p:nvSpPr>
          <p:cNvPr id="32" name="Text 30"/>
          <p:cNvSpPr/>
          <p:nvPr/>
        </p:nvSpPr>
        <p:spPr>
          <a:xfrm>
            <a:off x="4663440" y="4416552"/>
            <a:ext cx="411480" cy="411480"/>
          </a:xfrm>
          <a:prstGeom prst="rect">
            <a:avLst/>
          </a:prstGeom>
          <a:noFill/>
          <a:ln/>
        </p:spPr>
        <p:txBody>
          <a:bodyPr wrap="square" rtlCol="0" anchor="ctr"/>
          <a:lstStyle/>
          <a:p>
            <a:pPr marL="0" indent="0" algn="ctr">
              <a:buNone/>
            </a:pPr>
            <a:r>
              <a:rPr lang="en-US" sz="1300" b="1" dirty="0">
                <a:solidFill>
                  <a:srgbClr val="FFFFFF"/>
                </a:solidFill>
              </a:rPr>
              <a:t>05</a:t>
            </a:r>
            <a:endParaRPr lang="en-US" sz="1300" dirty="0"/>
          </a:p>
        </p:txBody>
      </p:sp>
      <p:sp>
        <p:nvSpPr>
          <p:cNvPr id="33" name="Text 31"/>
          <p:cNvSpPr/>
          <p:nvPr/>
        </p:nvSpPr>
        <p:spPr>
          <a:xfrm>
            <a:off x="5166360" y="4425696"/>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Deploy an interactive Streamlit Dashboard for live inference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METHODOLOGY: System Design</a:t>
            </a:r>
            <a:endParaRPr lang="en-US" sz="2800" dirty="0"/>
          </a:p>
        </p:txBody>
      </p:sp>
      <p:sp>
        <p:nvSpPr>
          <p:cNvPr id="5" name="Shape 3"/>
          <p:cNvSpPr/>
          <p:nvPr/>
        </p:nvSpPr>
        <p:spPr>
          <a:xfrm>
            <a:off x="274320"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1572768" cy="73152"/>
          </a:xfrm>
          <a:prstGeom prst="rect">
            <a:avLst/>
          </a:prstGeom>
          <a:solidFill>
            <a:srgbClr val="1565C0"/>
          </a:solidFill>
          <a:ln w="12700">
            <a:solidFill>
              <a:srgbClr val="1565C0"/>
            </a:solidFill>
            <a:prstDash val="solid"/>
          </a:ln>
        </p:spPr>
      </p:sp>
      <p:sp>
        <p:nvSpPr>
          <p:cNvPr id="7" name="Shape 5"/>
          <p:cNvSpPr/>
          <p:nvPr/>
        </p:nvSpPr>
        <p:spPr>
          <a:xfrm>
            <a:off x="832104" y="1298448"/>
            <a:ext cx="457200" cy="457200"/>
          </a:xfrm>
          <a:prstGeom prst="ellipse">
            <a:avLst/>
          </a:prstGeom>
          <a:solidFill>
            <a:srgbClr val="1565C0"/>
          </a:solidFill>
          <a:ln w="12700">
            <a:solidFill>
              <a:srgbClr val="1565C0"/>
            </a:solidFill>
            <a:prstDash val="solid"/>
          </a:ln>
        </p:spPr>
      </p:sp>
      <p:sp>
        <p:nvSpPr>
          <p:cNvPr id="8" name="Text 6"/>
          <p:cNvSpPr/>
          <p:nvPr/>
        </p:nvSpPr>
        <p:spPr>
          <a:xfrm>
            <a:off x="832104" y="1298448"/>
            <a:ext cx="457200" cy="4572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603504" y="1874520"/>
            <a:ext cx="914400" cy="548640"/>
          </a:xfrm>
          <a:prstGeom prst="rect">
            <a:avLst/>
          </a:prstGeom>
          <a:noFill/>
          <a:ln/>
        </p:spPr>
        <p:txBody>
          <a:bodyPr wrap="square" rtlCol="0" anchor="ctr"/>
          <a:lstStyle/>
          <a:p>
            <a:pPr marL="0" indent="0" algn="ctr">
              <a:buNone/>
            </a:pPr>
            <a:endParaRPr lang="en-US" sz="2600" dirty="0"/>
          </a:p>
        </p:txBody>
      </p:sp>
      <p:sp>
        <p:nvSpPr>
          <p:cNvPr id="10" name="Text 8"/>
          <p:cNvSpPr/>
          <p:nvPr/>
        </p:nvSpPr>
        <p:spPr>
          <a:xfrm>
            <a:off x="365760" y="2423160"/>
            <a:ext cx="1389888" cy="320040"/>
          </a:xfrm>
          <a:prstGeom prst="rect">
            <a:avLst/>
          </a:prstGeom>
          <a:noFill/>
          <a:ln/>
        </p:spPr>
        <p:txBody>
          <a:bodyPr wrap="square" rtlCol="0" anchor="ctr"/>
          <a:lstStyle/>
          <a:p>
            <a:pPr marL="0" indent="0" algn="ctr">
              <a:buNone/>
            </a:pPr>
            <a:r>
              <a:rPr lang="en-US" sz="1150" b="1" dirty="0">
                <a:solidFill>
                  <a:srgbClr val="1565C0"/>
                </a:solidFill>
              </a:rPr>
              <a:t>Data Source</a:t>
            </a:r>
            <a:endParaRPr lang="en-US" sz="1150" dirty="0"/>
          </a:p>
        </p:txBody>
      </p:sp>
      <p:sp>
        <p:nvSpPr>
          <p:cNvPr id="11" name="Text 9"/>
          <p:cNvSpPr/>
          <p:nvPr/>
        </p:nvSpPr>
        <p:spPr>
          <a:xfrm>
            <a:off x="365760"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CWRU Bearing</a:t>
            </a:r>
            <a:endParaRPr lang="en-US" sz="950" dirty="0"/>
          </a:p>
          <a:p>
            <a:pPr marL="0" indent="0" algn="ctr">
              <a:lnSpc>
                <a:spcPct val="135000"/>
              </a:lnSpc>
              <a:buNone/>
            </a:pPr>
            <a:r>
              <a:rPr lang="en-US" sz="950" dirty="0">
                <a:solidFill>
                  <a:srgbClr val="37474F"/>
                </a:solidFill>
              </a:rPr>
              <a:t>MAT Files</a:t>
            </a:r>
            <a:endParaRPr lang="en-US" sz="950" dirty="0"/>
          </a:p>
          <a:p>
            <a:pPr marL="0" indent="0" algn="ctr">
              <a:lnSpc>
                <a:spcPct val="135000"/>
              </a:lnSpc>
              <a:buNone/>
            </a:pPr>
            <a:r>
              <a:rPr lang="en-US" sz="950" dirty="0">
                <a:solidFill>
                  <a:srgbClr val="37474F"/>
                </a:solidFill>
              </a:rPr>
              <a:t>(4 conditions)</a:t>
            </a:r>
            <a:endParaRPr lang="en-US" sz="950" dirty="0"/>
          </a:p>
        </p:txBody>
      </p:sp>
      <p:sp>
        <p:nvSpPr>
          <p:cNvPr id="12" name="Text 10"/>
          <p:cNvSpPr/>
          <p:nvPr/>
        </p:nvSpPr>
        <p:spPr>
          <a:xfrm>
            <a:off x="1847088"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13" name="Shape 11"/>
          <p:cNvSpPr/>
          <p:nvPr/>
        </p:nvSpPr>
        <p:spPr>
          <a:xfrm>
            <a:off x="1993392" y="1170432"/>
            <a:ext cx="1572768" cy="2560320"/>
          </a:xfrm>
          <a:prstGeom prst="rect">
            <a:avLst/>
          </a:prstGeom>
          <a:solidFill>
            <a:srgbClr val="FFFFFF"/>
          </a:solidFill>
          <a:ln w="12700">
            <a:solidFill>
              <a:srgbClr val="FF6F00"/>
            </a:solidFill>
            <a:prstDash val="solid"/>
          </a:ln>
          <a:effectLst>
            <a:outerShdw blurRad="101600" dist="38100" dir="8100000" algn="bl" rotWithShape="0">
              <a:srgbClr val="000000">
                <a:alpha val="12000"/>
              </a:srgbClr>
            </a:outerShdw>
          </a:effectLst>
        </p:spPr>
      </p:sp>
      <p:sp>
        <p:nvSpPr>
          <p:cNvPr id="14" name="Shape 12"/>
          <p:cNvSpPr/>
          <p:nvPr/>
        </p:nvSpPr>
        <p:spPr>
          <a:xfrm>
            <a:off x="1993392" y="1170432"/>
            <a:ext cx="1572768" cy="73152"/>
          </a:xfrm>
          <a:prstGeom prst="rect">
            <a:avLst/>
          </a:prstGeom>
          <a:solidFill>
            <a:srgbClr val="FF6F00"/>
          </a:solidFill>
          <a:ln w="12700">
            <a:solidFill>
              <a:srgbClr val="FF6F00"/>
            </a:solidFill>
            <a:prstDash val="solid"/>
          </a:ln>
        </p:spPr>
      </p:sp>
      <p:sp>
        <p:nvSpPr>
          <p:cNvPr id="15" name="Shape 13"/>
          <p:cNvSpPr/>
          <p:nvPr/>
        </p:nvSpPr>
        <p:spPr>
          <a:xfrm>
            <a:off x="2551176" y="1298448"/>
            <a:ext cx="457200" cy="457200"/>
          </a:xfrm>
          <a:prstGeom prst="ellipse">
            <a:avLst/>
          </a:prstGeom>
          <a:solidFill>
            <a:srgbClr val="FF6F00"/>
          </a:solidFill>
          <a:ln w="12700">
            <a:solidFill>
              <a:srgbClr val="FF6F00"/>
            </a:solidFill>
            <a:prstDash val="solid"/>
          </a:ln>
        </p:spPr>
      </p:sp>
      <p:sp>
        <p:nvSpPr>
          <p:cNvPr id="16" name="Text 14"/>
          <p:cNvSpPr/>
          <p:nvPr/>
        </p:nvSpPr>
        <p:spPr>
          <a:xfrm>
            <a:off x="2551176" y="1298448"/>
            <a:ext cx="457200" cy="4572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7" name="Text 15"/>
          <p:cNvSpPr/>
          <p:nvPr/>
        </p:nvSpPr>
        <p:spPr>
          <a:xfrm>
            <a:off x="2322576" y="1874520"/>
            <a:ext cx="914400" cy="548640"/>
          </a:xfrm>
          <a:prstGeom prst="rect">
            <a:avLst/>
          </a:prstGeom>
          <a:noFill/>
          <a:ln/>
        </p:spPr>
        <p:txBody>
          <a:bodyPr wrap="square" rtlCol="0" anchor="ctr"/>
          <a:lstStyle/>
          <a:p>
            <a:pPr marL="0" indent="0" algn="ctr">
              <a:buNone/>
            </a:pPr>
            <a:endParaRPr lang="en-US" sz="2600" dirty="0"/>
          </a:p>
        </p:txBody>
      </p:sp>
      <p:sp>
        <p:nvSpPr>
          <p:cNvPr id="18" name="Text 16"/>
          <p:cNvSpPr/>
          <p:nvPr/>
        </p:nvSpPr>
        <p:spPr>
          <a:xfrm>
            <a:off x="2084832" y="2423160"/>
            <a:ext cx="1389888" cy="320040"/>
          </a:xfrm>
          <a:prstGeom prst="rect">
            <a:avLst/>
          </a:prstGeom>
          <a:noFill/>
          <a:ln/>
        </p:spPr>
        <p:txBody>
          <a:bodyPr wrap="square" rtlCol="0" anchor="ctr"/>
          <a:lstStyle/>
          <a:p>
            <a:pPr marL="0" indent="0" algn="ctr">
              <a:buNone/>
            </a:pPr>
            <a:r>
              <a:rPr lang="en-US" sz="1150" b="1" dirty="0">
                <a:solidFill>
                  <a:srgbClr val="FF6F00"/>
                </a:solidFill>
              </a:rPr>
              <a:t>Preprocessing</a:t>
            </a:r>
            <a:endParaRPr lang="en-US" sz="1150" dirty="0"/>
          </a:p>
        </p:txBody>
      </p:sp>
      <p:sp>
        <p:nvSpPr>
          <p:cNvPr id="19" name="Text 17"/>
          <p:cNvSpPr/>
          <p:nvPr/>
        </p:nvSpPr>
        <p:spPr>
          <a:xfrm>
            <a:off x="2084832"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2048-sample windows</a:t>
            </a:r>
            <a:endParaRPr lang="en-US" sz="950" dirty="0"/>
          </a:p>
          <a:p>
            <a:pPr marL="0" indent="0" algn="ctr">
              <a:lnSpc>
                <a:spcPct val="135000"/>
              </a:lnSpc>
              <a:buNone/>
            </a:pPr>
            <a:r>
              <a:rPr lang="en-US" sz="950" dirty="0">
                <a:solidFill>
                  <a:srgbClr val="37474F"/>
                </a:solidFill>
              </a:rPr>
              <a:t>50% overlap</a:t>
            </a:r>
            <a:endParaRPr lang="en-US" sz="950" dirty="0"/>
          </a:p>
          <a:p>
            <a:pPr marL="0" indent="0" algn="ctr">
              <a:lnSpc>
                <a:spcPct val="135000"/>
              </a:lnSpc>
              <a:buNone/>
            </a:pPr>
            <a:r>
              <a:rPr lang="en-US" sz="950" dirty="0">
                <a:solidFill>
                  <a:srgbClr val="37474F"/>
                </a:solidFill>
              </a:rPr>
              <a:t>9,736 samples</a:t>
            </a:r>
            <a:endParaRPr lang="en-US" sz="950" dirty="0"/>
          </a:p>
        </p:txBody>
      </p:sp>
      <p:sp>
        <p:nvSpPr>
          <p:cNvPr id="20" name="Text 18"/>
          <p:cNvSpPr/>
          <p:nvPr/>
        </p:nvSpPr>
        <p:spPr>
          <a:xfrm>
            <a:off x="3566160"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1" name="Shape 19"/>
          <p:cNvSpPr/>
          <p:nvPr/>
        </p:nvSpPr>
        <p:spPr>
          <a:xfrm>
            <a:off x="3712464" y="1170432"/>
            <a:ext cx="1572768" cy="2560320"/>
          </a:xfrm>
          <a:prstGeom prst="rect">
            <a:avLst/>
          </a:prstGeom>
          <a:solidFill>
            <a:srgbClr val="FFFFFF"/>
          </a:solidFill>
          <a:ln w="12700">
            <a:solidFill>
              <a:srgbClr val="00897B"/>
            </a:solidFill>
            <a:prstDash val="solid"/>
          </a:ln>
          <a:effectLst>
            <a:outerShdw blurRad="101600" dist="38100" dir="8100000" algn="bl" rotWithShape="0">
              <a:srgbClr val="000000">
                <a:alpha val="12000"/>
              </a:srgbClr>
            </a:outerShdw>
          </a:effectLst>
        </p:spPr>
      </p:sp>
      <p:sp>
        <p:nvSpPr>
          <p:cNvPr id="22" name="Shape 20"/>
          <p:cNvSpPr/>
          <p:nvPr/>
        </p:nvSpPr>
        <p:spPr>
          <a:xfrm>
            <a:off x="3712464" y="1170432"/>
            <a:ext cx="1572768" cy="73152"/>
          </a:xfrm>
          <a:prstGeom prst="rect">
            <a:avLst/>
          </a:prstGeom>
          <a:solidFill>
            <a:srgbClr val="00897B"/>
          </a:solidFill>
          <a:ln w="12700">
            <a:solidFill>
              <a:srgbClr val="00897B"/>
            </a:solidFill>
            <a:prstDash val="solid"/>
          </a:ln>
        </p:spPr>
      </p:sp>
      <p:sp>
        <p:nvSpPr>
          <p:cNvPr id="23" name="Shape 21"/>
          <p:cNvSpPr/>
          <p:nvPr/>
        </p:nvSpPr>
        <p:spPr>
          <a:xfrm>
            <a:off x="4270248" y="1298448"/>
            <a:ext cx="457200" cy="457200"/>
          </a:xfrm>
          <a:prstGeom prst="ellipse">
            <a:avLst/>
          </a:prstGeom>
          <a:solidFill>
            <a:srgbClr val="00897B"/>
          </a:solidFill>
          <a:ln w="12700">
            <a:solidFill>
              <a:srgbClr val="00897B"/>
            </a:solidFill>
            <a:prstDash val="solid"/>
          </a:ln>
        </p:spPr>
      </p:sp>
      <p:sp>
        <p:nvSpPr>
          <p:cNvPr id="24" name="Text 22"/>
          <p:cNvSpPr/>
          <p:nvPr/>
        </p:nvSpPr>
        <p:spPr>
          <a:xfrm>
            <a:off x="4270248" y="1298448"/>
            <a:ext cx="457200" cy="4572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5" name="Text 23"/>
          <p:cNvSpPr/>
          <p:nvPr/>
        </p:nvSpPr>
        <p:spPr>
          <a:xfrm>
            <a:off x="4041648" y="1874520"/>
            <a:ext cx="914400" cy="548640"/>
          </a:xfrm>
          <a:prstGeom prst="rect">
            <a:avLst/>
          </a:prstGeom>
          <a:noFill/>
          <a:ln/>
        </p:spPr>
        <p:txBody>
          <a:bodyPr wrap="square" rtlCol="0" anchor="ctr"/>
          <a:lstStyle/>
          <a:p>
            <a:pPr marL="0" indent="0" algn="ctr">
              <a:buNone/>
            </a:pPr>
            <a:endParaRPr lang="en-US" sz="2600" dirty="0"/>
          </a:p>
        </p:txBody>
      </p:sp>
      <p:sp>
        <p:nvSpPr>
          <p:cNvPr id="26" name="Text 24"/>
          <p:cNvSpPr/>
          <p:nvPr/>
        </p:nvSpPr>
        <p:spPr>
          <a:xfrm>
            <a:off x="3803904" y="2423160"/>
            <a:ext cx="1389888" cy="320040"/>
          </a:xfrm>
          <a:prstGeom prst="rect">
            <a:avLst/>
          </a:prstGeom>
          <a:noFill/>
          <a:ln/>
        </p:spPr>
        <p:txBody>
          <a:bodyPr wrap="square" rtlCol="0" anchor="ctr"/>
          <a:lstStyle/>
          <a:p>
            <a:pPr marL="0" indent="0" algn="ctr">
              <a:buNone/>
            </a:pPr>
            <a:r>
              <a:rPr lang="en-US" sz="1150" b="1" dirty="0">
                <a:solidFill>
                  <a:srgbClr val="00897B"/>
                </a:solidFill>
              </a:rPr>
              <a:t>Feature Extraction</a:t>
            </a:r>
            <a:endParaRPr lang="en-US" sz="1150" dirty="0"/>
          </a:p>
        </p:txBody>
      </p:sp>
      <p:sp>
        <p:nvSpPr>
          <p:cNvPr id="27" name="Text 25"/>
          <p:cNvSpPr/>
          <p:nvPr/>
        </p:nvSpPr>
        <p:spPr>
          <a:xfrm>
            <a:off x="3803904"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25 engineered</a:t>
            </a:r>
            <a:endParaRPr lang="en-US" sz="950" dirty="0"/>
          </a:p>
          <a:p>
            <a:pPr marL="0" indent="0" algn="ctr">
              <a:lnSpc>
                <a:spcPct val="135000"/>
              </a:lnSpc>
              <a:buNone/>
            </a:pPr>
            <a:r>
              <a:rPr lang="en-US" sz="950" dirty="0">
                <a:solidFill>
                  <a:srgbClr val="37474F"/>
                </a:solidFill>
              </a:rPr>
              <a:t>time + frequency</a:t>
            </a:r>
            <a:endParaRPr lang="en-US" sz="950" dirty="0"/>
          </a:p>
          <a:p>
            <a:pPr marL="0" indent="0" algn="ctr">
              <a:lnSpc>
                <a:spcPct val="135000"/>
              </a:lnSpc>
              <a:buNone/>
            </a:pPr>
            <a:r>
              <a:rPr lang="en-US" sz="950" dirty="0">
                <a:solidFill>
                  <a:srgbClr val="37474F"/>
                </a:solidFill>
              </a:rPr>
              <a:t>domain features</a:t>
            </a:r>
            <a:endParaRPr lang="en-US" sz="950" dirty="0"/>
          </a:p>
        </p:txBody>
      </p:sp>
      <p:sp>
        <p:nvSpPr>
          <p:cNvPr id="28" name="Text 26"/>
          <p:cNvSpPr/>
          <p:nvPr/>
        </p:nvSpPr>
        <p:spPr>
          <a:xfrm>
            <a:off x="5285232"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9" name="Shape 27"/>
          <p:cNvSpPr/>
          <p:nvPr/>
        </p:nvSpPr>
        <p:spPr>
          <a:xfrm>
            <a:off x="5431536"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30" name="Shape 28"/>
          <p:cNvSpPr/>
          <p:nvPr/>
        </p:nvSpPr>
        <p:spPr>
          <a:xfrm>
            <a:off x="5431536" y="1170432"/>
            <a:ext cx="1572768" cy="73152"/>
          </a:xfrm>
          <a:prstGeom prst="rect">
            <a:avLst/>
          </a:prstGeom>
          <a:solidFill>
            <a:srgbClr val="1565C0"/>
          </a:solidFill>
          <a:ln w="12700">
            <a:solidFill>
              <a:srgbClr val="1565C0"/>
            </a:solidFill>
            <a:prstDash val="solid"/>
          </a:ln>
        </p:spPr>
      </p:sp>
      <p:sp>
        <p:nvSpPr>
          <p:cNvPr id="31" name="Shape 29"/>
          <p:cNvSpPr/>
          <p:nvPr/>
        </p:nvSpPr>
        <p:spPr>
          <a:xfrm>
            <a:off x="5989320" y="1298448"/>
            <a:ext cx="457200" cy="457200"/>
          </a:xfrm>
          <a:prstGeom prst="ellipse">
            <a:avLst/>
          </a:prstGeom>
          <a:solidFill>
            <a:srgbClr val="1565C0"/>
          </a:solidFill>
          <a:ln w="12700">
            <a:solidFill>
              <a:srgbClr val="1565C0"/>
            </a:solidFill>
            <a:prstDash val="solid"/>
          </a:ln>
        </p:spPr>
      </p:sp>
      <p:sp>
        <p:nvSpPr>
          <p:cNvPr id="32" name="Text 30"/>
          <p:cNvSpPr/>
          <p:nvPr/>
        </p:nvSpPr>
        <p:spPr>
          <a:xfrm>
            <a:off x="5989320" y="1298448"/>
            <a:ext cx="457200" cy="45720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33" name="Text 31"/>
          <p:cNvSpPr/>
          <p:nvPr/>
        </p:nvSpPr>
        <p:spPr>
          <a:xfrm>
            <a:off x="5760720" y="1874520"/>
            <a:ext cx="914400" cy="548640"/>
          </a:xfrm>
          <a:prstGeom prst="rect">
            <a:avLst/>
          </a:prstGeom>
          <a:noFill/>
          <a:ln/>
        </p:spPr>
        <p:txBody>
          <a:bodyPr wrap="square" rtlCol="0" anchor="ctr"/>
          <a:lstStyle/>
          <a:p>
            <a:pPr marL="0" indent="0" algn="ctr">
              <a:buNone/>
            </a:pPr>
            <a:endParaRPr lang="en-US" sz="2600" dirty="0"/>
          </a:p>
        </p:txBody>
      </p:sp>
      <p:sp>
        <p:nvSpPr>
          <p:cNvPr id="34" name="Text 32"/>
          <p:cNvSpPr/>
          <p:nvPr/>
        </p:nvSpPr>
        <p:spPr>
          <a:xfrm>
            <a:off x="5522976" y="2423160"/>
            <a:ext cx="1389888" cy="320040"/>
          </a:xfrm>
          <a:prstGeom prst="rect">
            <a:avLst/>
          </a:prstGeom>
          <a:noFill/>
          <a:ln/>
        </p:spPr>
        <p:txBody>
          <a:bodyPr wrap="square" rtlCol="0" anchor="ctr"/>
          <a:lstStyle/>
          <a:p>
            <a:pPr marL="0" indent="0" algn="ctr">
              <a:buNone/>
            </a:pPr>
            <a:r>
              <a:rPr lang="en-US" sz="1150" b="1" dirty="0">
                <a:solidFill>
                  <a:srgbClr val="1565C0"/>
                </a:solidFill>
              </a:rPr>
              <a:t>Modeling</a:t>
            </a:r>
            <a:endParaRPr lang="en-US" sz="1150" dirty="0"/>
          </a:p>
        </p:txBody>
      </p:sp>
      <p:sp>
        <p:nvSpPr>
          <p:cNvPr id="35" name="Text 33"/>
          <p:cNvSpPr/>
          <p:nvPr/>
        </p:nvSpPr>
        <p:spPr>
          <a:xfrm>
            <a:off x="5522976"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SVM (RBF) &amp;</a:t>
            </a:r>
            <a:endParaRPr lang="en-US" sz="950" dirty="0"/>
          </a:p>
          <a:p>
            <a:pPr marL="0" indent="0" algn="ctr">
              <a:lnSpc>
                <a:spcPct val="135000"/>
              </a:lnSpc>
              <a:buNone/>
            </a:pPr>
            <a:r>
              <a:rPr lang="en-US" sz="950" dirty="0">
                <a:solidFill>
                  <a:srgbClr val="37474F"/>
                </a:solidFill>
              </a:rPr>
              <a:t>Random Forest</a:t>
            </a:r>
            <a:endParaRPr lang="en-US" sz="950" dirty="0"/>
          </a:p>
          <a:p>
            <a:pPr marL="0" indent="0" algn="ctr">
              <a:lnSpc>
                <a:spcPct val="135000"/>
              </a:lnSpc>
              <a:buNone/>
            </a:pPr>
            <a:r>
              <a:rPr lang="en-US" sz="950" dirty="0">
                <a:solidFill>
                  <a:srgbClr val="37474F"/>
                </a:solidFill>
              </a:rPr>
              <a:t>80:20 split</a:t>
            </a:r>
            <a:endParaRPr lang="en-US" sz="950" dirty="0"/>
          </a:p>
        </p:txBody>
      </p:sp>
      <p:sp>
        <p:nvSpPr>
          <p:cNvPr id="36" name="Text 34"/>
          <p:cNvSpPr/>
          <p:nvPr/>
        </p:nvSpPr>
        <p:spPr>
          <a:xfrm>
            <a:off x="7004304"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37" name="Shape 35"/>
          <p:cNvSpPr/>
          <p:nvPr/>
        </p:nvSpPr>
        <p:spPr>
          <a:xfrm>
            <a:off x="7150608" y="1170432"/>
            <a:ext cx="1572768" cy="2560320"/>
          </a:xfrm>
          <a:prstGeom prst="rect">
            <a:avLst/>
          </a:prstGeom>
          <a:solidFill>
            <a:srgbClr val="FFFFFF"/>
          </a:solidFill>
          <a:ln w="12700">
            <a:solidFill>
              <a:srgbClr val="00BCD4"/>
            </a:solidFill>
            <a:prstDash val="solid"/>
          </a:ln>
          <a:effectLst>
            <a:outerShdw blurRad="101600" dist="38100" dir="8100000" algn="bl" rotWithShape="0">
              <a:srgbClr val="000000">
                <a:alpha val="12000"/>
              </a:srgbClr>
            </a:outerShdw>
          </a:effectLst>
        </p:spPr>
      </p:sp>
      <p:sp>
        <p:nvSpPr>
          <p:cNvPr id="38" name="Shape 36"/>
          <p:cNvSpPr/>
          <p:nvPr/>
        </p:nvSpPr>
        <p:spPr>
          <a:xfrm>
            <a:off x="7150608" y="1170432"/>
            <a:ext cx="1572768" cy="73152"/>
          </a:xfrm>
          <a:prstGeom prst="rect">
            <a:avLst/>
          </a:prstGeom>
          <a:solidFill>
            <a:srgbClr val="00BCD4"/>
          </a:solidFill>
          <a:ln w="12700">
            <a:solidFill>
              <a:srgbClr val="00BCD4"/>
            </a:solidFill>
            <a:prstDash val="solid"/>
          </a:ln>
        </p:spPr>
      </p:sp>
      <p:sp>
        <p:nvSpPr>
          <p:cNvPr id="39" name="Shape 37"/>
          <p:cNvSpPr/>
          <p:nvPr/>
        </p:nvSpPr>
        <p:spPr>
          <a:xfrm>
            <a:off x="7708392" y="1298448"/>
            <a:ext cx="457200" cy="457200"/>
          </a:xfrm>
          <a:prstGeom prst="ellipse">
            <a:avLst/>
          </a:prstGeom>
          <a:solidFill>
            <a:srgbClr val="00BCD4"/>
          </a:solidFill>
          <a:ln w="12700">
            <a:solidFill>
              <a:srgbClr val="00BCD4"/>
            </a:solidFill>
            <a:prstDash val="solid"/>
          </a:ln>
        </p:spPr>
      </p:sp>
      <p:sp>
        <p:nvSpPr>
          <p:cNvPr id="40" name="Text 38"/>
          <p:cNvSpPr/>
          <p:nvPr/>
        </p:nvSpPr>
        <p:spPr>
          <a:xfrm>
            <a:off x="7708392" y="1298448"/>
            <a:ext cx="457200" cy="45720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41" name="Text 39"/>
          <p:cNvSpPr/>
          <p:nvPr/>
        </p:nvSpPr>
        <p:spPr>
          <a:xfrm>
            <a:off x="7479792" y="1874520"/>
            <a:ext cx="914400" cy="548640"/>
          </a:xfrm>
          <a:prstGeom prst="rect">
            <a:avLst/>
          </a:prstGeom>
          <a:noFill/>
          <a:ln/>
        </p:spPr>
        <p:txBody>
          <a:bodyPr wrap="square" rtlCol="0" anchor="ctr"/>
          <a:lstStyle/>
          <a:p>
            <a:pPr marL="0" indent="0" algn="ctr">
              <a:buNone/>
            </a:pPr>
            <a:endParaRPr lang="en-US" sz="2600" dirty="0"/>
          </a:p>
        </p:txBody>
      </p:sp>
      <p:sp>
        <p:nvSpPr>
          <p:cNvPr id="42" name="Text 40"/>
          <p:cNvSpPr/>
          <p:nvPr/>
        </p:nvSpPr>
        <p:spPr>
          <a:xfrm>
            <a:off x="7242048" y="2423160"/>
            <a:ext cx="1389888" cy="320040"/>
          </a:xfrm>
          <a:prstGeom prst="rect">
            <a:avLst/>
          </a:prstGeom>
          <a:noFill/>
          <a:ln/>
        </p:spPr>
        <p:txBody>
          <a:bodyPr wrap="square" rtlCol="0" anchor="ctr"/>
          <a:lstStyle/>
          <a:p>
            <a:pPr marL="0" indent="0" algn="ctr">
              <a:buNone/>
            </a:pPr>
            <a:r>
              <a:rPr lang="en-US" sz="1150" b="1" dirty="0">
                <a:solidFill>
                  <a:srgbClr val="00BCD4"/>
                </a:solidFill>
              </a:rPr>
              <a:t>Deployment</a:t>
            </a:r>
            <a:endParaRPr lang="en-US" sz="1150" dirty="0"/>
          </a:p>
        </p:txBody>
      </p:sp>
      <p:sp>
        <p:nvSpPr>
          <p:cNvPr id="43" name="Text 41"/>
          <p:cNvSpPr/>
          <p:nvPr/>
        </p:nvSpPr>
        <p:spPr>
          <a:xfrm>
            <a:off x="7242048"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Streamlit Dashboard</a:t>
            </a:r>
            <a:endParaRPr lang="en-US" sz="950" dirty="0"/>
          </a:p>
          <a:p>
            <a:pPr marL="0" indent="0" algn="ctr">
              <a:lnSpc>
                <a:spcPct val="135000"/>
              </a:lnSpc>
              <a:buNone/>
            </a:pPr>
            <a:r>
              <a:rPr lang="en-US" sz="950" dirty="0">
                <a:solidFill>
                  <a:srgbClr val="37474F"/>
                </a:solidFill>
              </a:rPr>
              <a:t>Interactive GUI</a:t>
            </a:r>
            <a:endParaRPr lang="en-US" sz="950" dirty="0"/>
          </a:p>
          <a:p>
            <a:pPr marL="0" indent="0" algn="ctr">
              <a:lnSpc>
                <a:spcPct val="135000"/>
              </a:lnSpc>
              <a:buNone/>
            </a:pPr>
            <a:r>
              <a:rPr lang="en-US" sz="950" dirty="0">
                <a:solidFill>
                  <a:srgbClr val="37474F"/>
                </a:solidFill>
              </a:rPr>
              <a:t>Live inference</a:t>
            </a:r>
            <a:endParaRPr lang="en-US" sz="950" dirty="0"/>
          </a:p>
        </p:txBody>
      </p:sp>
      <p:sp>
        <p:nvSpPr>
          <p:cNvPr id="44" name="Shape 42"/>
          <p:cNvSpPr/>
          <p:nvPr/>
        </p:nvSpPr>
        <p:spPr>
          <a:xfrm>
            <a:off x="274320" y="3913632"/>
            <a:ext cx="8595360" cy="105156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45" name="Text 43"/>
          <p:cNvSpPr/>
          <p:nvPr/>
        </p:nvSpPr>
        <p:spPr>
          <a:xfrm>
            <a:off x="457200" y="4005072"/>
            <a:ext cx="2286000" cy="274320"/>
          </a:xfrm>
          <a:prstGeom prst="rect">
            <a:avLst/>
          </a:prstGeom>
          <a:noFill/>
          <a:ln/>
        </p:spPr>
        <p:txBody>
          <a:bodyPr wrap="square" rtlCol="0" anchor="ctr"/>
          <a:lstStyle/>
          <a:p>
            <a:pPr marL="0" indent="0">
              <a:buNone/>
            </a:pPr>
            <a:r>
              <a:rPr lang="en-US" sz="900" b="1" kern="0" spc="150" dirty="0">
                <a:solidFill>
                  <a:srgbClr val="0A1628"/>
                </a:solidFill>
              </a:rPr>
              <a:t>TECHNOLOGIES USED</a:t>
            </a:r>
            <a:endParaRPr lang="en-US" sz="900" dirty="0"/>
          </a:p>
        </p:txBody>
      </p:sp>
      <p:sp>
        <p:nvSpPr>
          <p:cNvPr id="46" name="Shape 44"/>
          <p:cNvSpPr/>
          <p:nvPr/>
        </p:nvSpPr>
        <p:spPr>
          <a:xfrm>
            <a:off x="411480" y="4315968"/>
            <a:ext cx="1115568" cy="457200"/>
          </a:xfrm>
          <a:prstGeom prst="roundRect">
            <a:avLst>
              <a:gd name="adj" fmla="val 12000"/>
            </a:avLst>
          </a:prstGeom>
          <a:solidFill>
            <a:srgbClr val="1565C0">
              <a:alpha val="15000"/>
            </a:srgbClr>
          </a:solidFill>
          <a:ln w="12700">
            <a:solidFill>
              <a:srgbClr val="1565C0"/>
            </a:solidFill>
            <a:prstDash val="solid"/>
          </a:ln>
        </p:spPr>
      </p:sp>
      <p:sp>
        <p:nvSpPr>
          <p:cNvPr id="47" name="Text 45"/>
          <p:cNvSpPr/>
          <p:nvPr/>
        </p:nvSpPr>
        <p:spPr>
          <a:xfrm>
            <a:off x="411480" y="4315968"/>
            <a:ext cx="1115568" cy="457200"/>
          </a:xfrm>
          <a:prstGeom prst="rect">
            <a:avLst/>
          </a:prstGeom>
          <a:noFill/>
          <a:ln/>
        </p:spPr>
        <p:txBody>
          <a:bodyPr wrap="square" rtlCol="0" anchor="ctr"/>
          <a:lstStyle/>
          <a:p>
            <a:pPr marL="0" indent="0" algn="ctr">
              <a:buNone/>
            </a:pPr>
            <a:r>
              <a:rPr lang="en-US" sz="900" b="1" dirty="0">
                <a:solidFill>
                  <a:srgbClr val="1565C0"/>
                </a:solidFill>
              </a:rPr>
              <a:t>Python</a:t>
            </a:r>
            <a:endParaRPr lang="en-US" sz="900" dirty="0"/>
          </a:p>
        </p:txBody>
      </p:sp>
      <p:sp>
        <p:nvSpPr>
          <p:cNvPr id="48" name="Shape 46"/>
          <p:cNvSpPr/>
          <p:nvPr/>
        </p:nvSpPr>
        <p:spPr>
          <a:xfrm>
            <a:off x="1627632" y="4315968"/>
            <a:ext cx="1115568" cy="457200"/>
          </a:xfrm>
          <a:prstGeom prst="roundRect">
            <a:avLst>
              <a:gd name="adj" fmla="val 12000"/>
            </a:avLst>
          </a:prstGeom>
          <a:solidFill>
            <a:srgbClr val="FF6F00">
              <a:alpha val="15000"/>
            </a:srgbClr>
          </a:solidFill>
          <a:ln w="12700">
            <a:solidFill>
              <a:srgbClr val="FF6F00"/>
            </a:solidFill>
            <a:prstDash val="solid"/>
          </a:ln>
        </p:spPr>
      </p:sp>
      <p:sp>
        <p:nvSpPr>
          <p:cNvPr id="49" name="Text 47"/>
          <p:cNvSpPr/>
          <p:nvPr/>
        </p:nvSpPr>
        <p:spPr>
          <a:xfrm>
            <a:off x="1627632" y="4315968"/>
            <a:ext cx="1115568" cy="457200"/>
          </a:xfrm>
          <a:prstGeom prst="rect">
            <a:avLst/>
          </a:prstGeom>
          <a:noFill/>
          <a:ln/>
        </p:spPr>
        <p:txBody>
          <a:bodyPr wrap="square" rtlCol="0" anchor="ctr"/>
          <a:lstStyle/>
          <a:p>
            <a:pPr marL="0" indent="0" algn="ctr">
              <a:buNone/>
            </a:pPr>
            <a:r>
              <a:rPr lang="en-US" sz="900" b="1" dirty="0">
                <a:solidFill>
                  <a:srgbClr val="FF6F00"/>
                </a:solidFill>
              </a:rPr>
              <a:t>NumPy / Pandas</a:t>
            </a:r>
            <a:endParaRPr lang="en-US" sz="900" dirty="0"/>
          </a:p>
        </p:txBody>
      </p:sp>
      <p:sp>
        <p:nvSpPr>
          <p:cNvPr id="50" name="Shape 48"/>
          <p:cNvSpPr/>
          <p:nvPr/>
        </p:nvSpPr>
        <p:spPr>
          <a:xfrm>
            <a:off x="2843784" y="4315968"/>
            <a:ext cx="1115568" cy="457200"/>
          </a:xfrm>
          <a:prstGeom prst="roundRect">
            <a:avLst>
              <a:gd name="adj" fmla="val 12000"/>
            </a:avLst>
          </a:prstGeom>
          <a:solidFill>
            <a:srgbClr val="00897B">
              <a:alpha val="15000"/>
            </a:srgbClr>
          </a:solidFill>
          <a:ln w="12700">
            <a:solidFill>
              <a:srgbClr val="00897B"/>
            </a:solidFill>
            <a:prstDash val="solid"/>
          </a:ln>
        </p:spPr>
      </p:sp>
      <p:sp>
        <p:nvSpPr>
          <p:cNvPr id="51" name="Text 49"/>
          <p:cNvSpPr/>
          <p:nvPr/>
        </p:nvSpPr>
        <p:spPr>
          <a:xfrm>
            <a:off x="2843784" y="4315968"/>
            <a:ext cx="1115568" cy="457200"/>
          </a:xfrm>
          <a:prstGeom prst="rect">
            <a:avLst/>
          </a:prstGeom>
          <a:noFill/>
          <a:ln/>
        </p:spPr>
        <p:txBody>
          <a:bodyPr wrap="square" rtlCol="0" anchor="ctr"/>
          <a:lstStyle/>
          <a:p>
            <a:pPr marL="0" indent="0" algn="ctr">
              <a:buNone/>
            </a:pPr>
            <a:r>
              <a:rPr lang="en-US" sz="900" b="1" dirty="0">
                <a:solidFill>
                  <a:srgbClr val="00897B"/>
                </a:solidFill>
              </a:rPr>
              <a:t>SciPy (FFT)</a:t>
            </a:r>
            <a:endParaRPr lang="en-US" sz="900" dirty="0"/>
          </a:p>
        </p:txBody>
      </p:sp>
      <p:sp>
        <p:nvSpPr>
          <p:cNvPr id="52" name="Shape 50"/>
          <p:cNvSpPr/>
          <p:nvPr/>
        </p:nvSpPr>
        <p:spPr>
          <a:xfrm>
            <a:off x="4059936" y="4315968"/>
            <a:ext cx="1115568" cy="457200"/>
          </a:xfrm>
          <a:prstGeom prst="roundRect">
            <a:avLst>
              <a:gd name="adj" fmla="val 12000"/>
            </a:avLst>
          </a:prstGeom>
          <a:solidFill>
            <a:srgbClr val="8E24AA">
              <a:alpha val="15000"/>
            </a:srgbClr>
          </a:solidFill>
          <a:ln w="12700">
            <a:solidFill>
              <a:srgbClr val="8E24AA"/>
            </a:solidFill>
            <a:prstDash val="solid"/>
          </a:ln>
        </p:spPr>
      </p:sp>
      <p:sp>
        <p:nvSpPr>
          <p:cNvPr id="53" name="Text 51"/>
          <p:cNvSpPr/>
          <p:nvPr/>
        </p:nvSpPr>
        <p:spPr>
          <a:xfrm>
            <a:off x="4059936" y="4315968"/>
            <a:ext cx="1115568" cy="457200"/>
          </a:xfrm>
          <a:prstGeom prst="rect">
            <a:avLst/>
          </a:prstGeom>
          <a:noFill/>
          <a:ln/>
        </p:spPr>
        <p:txBody>
          <a:bodyPr wrap="square" rtlCol="0" anchor="ctr"/>
          <a:lstStyle/>
          <a:p>
            <a:pPr marL="0" indent="0" algn="ctr">
              <a:buNone/>
            </a:pPr>
            <a:r>
              <a:rPr lang="en-US" sz="900" b="1" dirty="0">
                <a:solidFill>
                  <a:srgbClr val="8E24AA"/>
                </a:solidFill>
              </a:rPr>
              <a:t>scikit-learn</a:t>
            </a:r>
            <a:endParaRPr lang="en-US" sz="900" dirty="0"/>
          </a:p>
        </p:txBody>
      </p:sp>
      <p:sp>
        <p:nvSpPr>
          <p:cNvPr id="54" name="Shape 52"/>
          <p:cNvSpPr/>
          <p:nvPr/>
        </p:nvSpPr>
        <p:spPr>
          <a:xfrm>
            <a:off x="5276088" y="4315968"/>
            <a:ext cx="1115568" cy="457200"/>
          </a:xfrm>
          <a:prstGeom prst="roundRect">
            <a:avLst>
              <a:gd name="adj" fmla="val 12000"/>
            </a:avLst>
          </a:prstGeom>
          <a:solidFill>
            <a:srgbClr val="E53935">
              <a:alpha val="15000"/>
            </a:srgbClr>
          </a:solidFill>
          <a:ln w="12700">
            <a:solidFill>
              <a:srgbClr val="E53935"/>
            </a:solidFill>
            <a:prstDash val="solid"/>
          </a:ln>
        </p:spPr>
      </p:sp>
      <p:sp>
        <p:nvSpPr>
          <p:cNvPr id="55" name="Text 53"/>
          <p:cNvSpPr/>
          <p:nvPr/>
        </p:nvSpPr>
        <p:spPr>
          <a:xfrm>
            <a:off x="5276088" y="4315968"/>
            <a:ext cx="1115568" cy="457200"/>
          </a:xfrm>
          <a:prstGeom prst="rect">
            <a:avLst/>
          </a:prstGeom>
          <a:noFill/>
          <a:ln/>
        </p:spPr>
        <p:txBody>
          <a:bodyPr wrap="square" rtlCol="0" anchor="ctr"/>
          <a:lstStyle/>
          <a:p>
            <a:pPr marL="0" indent="0" algn="ctr">
              <a:buNone/>
            </a:pPr>
            <a:r>
              <a:rPr lang="en-US" sz="900" b="1" dirty="0">
                <a:solidFill>
                  <a:srgbClr val="E53935"/>
                </a:solidFill>
              </a:rPr>
              <a:t>Matplotlib</a:t>
            </a:r>
            <a:endParaRPr lang="en-US" sz="900" dirty="0"/>
          </a:p>
        </p:txBody>
      </p:sp>
      <p:sp>
        <p:nvSpPr>
          <p:cNvPr id="56" name="Shape 54"/>
          <p:cNvSpPr/>
          <p:nvPr/>
        </p:nvSpPr>
        <p:spPr>
          <a:xfrm>
            <a:off x="6492240" y="4315968"/>
            <a:ext cx="1115568" cy="457200"/>
          </a:xfrm>
          <a:prstGeom prst="roundRect">
            <a:avLst>
              <a:gd name="adj" fmla="val 12000"/>
            </a:avLst>
          </a:prstGeom>
          <a:solidFill>
            <a:srgbClr val="37474F">
              <a:alpha val="15000"/>
            </a:srgbClr>
          </a:solidFill>
          <a:ln w="12700">
            <a:solidFill>
              <a:srgbClr val="37474F"/>
            </a:solidFill>
            <a:prstDash val="solid"/>
          </a:ln>
        </p:spPr>
      </p:sp>
      <p:sp>
        <p:nvSpPr>
          <p:cNvPr id="57" name="Text 55"/>
          <p:cNvSpPr/>
          <p:nvPr/>
        </p:nvSpPr>
        <p:spPr>
          <a:xfrm>
            <a:off x="6492240" y="4315968"/>
            <a:ext cx="1115568" cy="457200"/>
          </a:xfrm>
          <a:prstGeom prst="rect">
            <a:avLst/>
          </a:prstGeom>
          <a:noFill/>
          <a:ln/>
        </p:spPr>
        <p:txBody>
          <a:bodyPr wrap="square" rtlCol="0" anchor="ctr"/>
          <a:lstStyle/>
          <a:p>
            <a:pPr marL="0" indent="0" algn="ctr">
              <a:buNone/>
            </a:pPr>
            <a:r>
              <a:rPr lang="en-US" sz="900" b="1" dirty="0">
                <a:solidFill>
                  <a:srgbClr val="37474F"/>
                </a:solidFill>
              </a:rPr>
              <a:t>Joblib</a:t>
            </a:r>
            <a:endParaRPr lang="en-US" sz="900" dirty="0"/>
          </a:p>
        </p:txBody>
      </p:sp>
      <p:sp>
        <p:nvSpPr>
          <p:cNvPr id="58" name="Shape 56"/>
          <p:cNvSpPr/>
          <p:nvPr/>
        </p:nvSpPr>
        <p:spPr>
          <a:xfrm>
            <a:off x="7708392" y="4315968"/>
            <a:ext cx="1115568" cy="457200"/>
          </a:xfrm>
          <a:prstGeom prst="roundRect">
            <a:avLst>
              <a:gd name="adj" fmla="val 12000"/>
            </a:avLst>
          </a:prstGeom>
          <a:solidFill>
            <a:srgbClr val="00BCD4">
              <a:alpha val="15000"/>
            </a:srgbClr>
          </a:solidFill>
          <a:ln w="12700">
            <a:solidFill>
              <a:srgbClr val="00BCD4"/>
            </a:solidFill>
            <a:prstDash val="solid"/>
          </a:ln>
        </p:spPr>
      </p:sp>
      <p:sp>
        <p:nvSpPr>
          <p:cNvPr id="59" name="Text 57"/>
          <p:cNvSpPr/>
          <p:nvPr/>
        </p:nvSpPr>
        <p:spPr>
          <a:xfrm>
            <a:off x="7708392" y="4315968"/>
            <a:ext cx="1115568" cy="457200"/>
          </a:xfrm>
          <a:prstGeom prst="rect">
            <a:avLst/>
          </a:prstGeom>
          <a:noFill/>
          <a:ln/>
        </p:spPr>
        <p:txBody>
          <a:bodyPr wrap="square" rtlCol="0" anchor="ctr"/>
          <a:lstStyle/>
          <a:p>
            <a:pPr marL="0" indent="0" algn="ctr">
              <a:buNone/>
            </a:pPr>
            <a:r>
              <a:rPr lang="en-US" sz="900" b="1" dirty="0">
                <a:solidFill>
                  <a:srgbClr val="00BCD4"/>
                </a:solidFill>
              </a:rPr>
              <a:t>Streamlit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0A1628"/>
          </a:solidFill>
          <a:ln w="12700">
            <a:solidFill>
              <a:srgbClr val="0A1628"/>
            </a:solidFill>
            <a:prstDash val="solid"/>
          </a:ln>
        </p:spPr>
      </p:sp>
      <p:sp>
        <p:nvSpPr>
          <p:cNvPr id="3" name="Shape 1"/>
          <p:cNvSpPr/>
          <p:nvPr/>
        </p:nvSpPr>
        <p:spPr>
          <a:xfrm>
            <a:off x="4572000" y="0"/>
            <a:ext cx="64008" cy="5143500"/>
          </a:xfrm>
          <a:prstGeom prst="rect">
            <a:avLst/>
          </a:prstGeom>
          <a:solidFill>
            <a:srgbClr val="00BCD4"/>
          </a:solidFill>
          <a:ln w="12700">
            <a:solidFill>
              <a:srgbClr val="00BCD4"/>
            </a:solidFill>
            <a:prstDash val="solid"/>
          </a:ln>
        </p:spPr>
      </p:sp>
      <p:sp>
        <p:nvSpPr>
          <p:cNvPr id="4" name="Text 2"/>
          <p:cNvSpPr/>
          <p:nvPr/>
        </p:nvSpPr>
        <p:spPr>
          <a:xfrm>
            <a:off x="274320" y="228600"/>
            <a:ext cx="4114800" cy="320040"/>
          </a:xfrm>
          <a:prstGeom prst="rect">
            <a:avLst/>
          </a:prstGeom>
          <a:noFill/>
          <a:ln/>
        </p:spPr>
        <p:txBody>
          <a:bodyPr wrap="square" rtlCol="0" anchor="ctr"/>
          <a:lstStyle/>
          <a:p>
            <a:pPr marL="0" indent="0">
              <a:buNone/>
            </a:pPr>
            <a:r>
              <a:rPr lang="en-US" sz="1100" b="1" kern="0" spc="200" dirty="0">
                <a:solidFill>
                  <a:srgbClr val="00BCD4"/>
                </a:solidFill>
              </a:rPr>
              <a:t>METHODOLOGY</a:t>
            </a:r>
            <a:endParaRPr lang="en-US" sz="1100" dirty="0"/>
          </a:p>
        </p:txBody>
      </p:sp>
      <p:sp>
        <p:nvSpPr>
          <p:cNvPr id="5" name="Text 3"/>
          <p:cNvSpPr/>
          <p:nvPr/>
        </p:nvSpPr>
        <p:spPr>
          <a:xfrm>
            <a:off x="274320" y="530352"/>
            <a:ext cx="4114800" cy="1097280"/>
          </a:xfrm>
          <a:prstGeom prst="rect">
            <a:avLst/>
          </a:prstGeom>
          <a:noFill/>
          <a:ln/>
        </p:spPr>
        <p:txBody>
          <a:bodyPr wrap="square" rtlCol="0" anchor="ctr"/>
          <a:lstStyle/>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Feature</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Extraction</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Module</a:t>
            </a:r>
            <a:endParaRPr lang="en-US" sz="3000" dirty="0"/>
          </a:p>
        </p:txBody>
      </p:sp>
      <p:sp>
        <p:nvSpPr>
          <p:cNvPr id="6" name="Shape 4"/>
          <p:cNvSpPr/>
          <p:nvPr/>
        </p:nvSpPr>
        <p:spPr>
          <a:xfrm>
            <a:off x="274320" y="1737360"/>
            <a:ext cx="4114800" cy="365760"/>
          </a:xfrm>
          <a:prstGeom prst="rect">
            <a:avLst/>
          </a:prstGeom>
          <a:solidFill>
            <a:srgbClr val="1E88E5"/>
          </a:solidFill>
          <a:ln w="12700">
            <a:solidFill>
              <a:srgbClr val="1E88E5"/>
            </a:solidFill>
            <a:prstDash val="solid"/>
          </a:ln>
        </p:spPr>
      </p:sp>
      <p:sp>
        <p:nvSpPr>
          <p:cNvPr id="7" name="Text 5"/>
          <p:cNvSpPr/>
          <p:nvPr/>
        </p:nvSpPr>
        <p:spPr>
          <a:xfrm>
            <a:off x="320040" y="1755648"/>
            <a:ext cx="4023360" cy="329184"/>
          </a:xfrm>
          <a:prstGeom prst="rect">
            <a:avLst/>
          </a:prstGeom>
          <a:noFill/>
          <a:ln/>
        </p:spPr>
        <p:txBody>
          <a:bodyPr wrap="square" rtlCol="0" anchor="ctr"/>
          <a:lstStyle/>
          <a:p>
            <a:pPr marL="0" indent="0">
              <a:buNone/>
            </a:pPr>
            <a:r>
              <a:rPr lang="en-US" sz="1050" b="1" dirty="0">
                <a:solidFill>
                  <a:srgbClr val="FFFFFF"/>
                </a:solidFill>
              </a:rPr>
              <a:t>⏱  TIME DOMAIN — Statistical Features</a:t>
            </a:r>
            <a:endParaRPr lang="en-US" sz="1050" dirty="0"/>
          </a:p>
        </p:txBody>
      </p:sp>
      <p:sp>
        <p:nvSpPr>
          <p:cNvPr id="8" name="Shape 6"/>
          <p:cNvSpPr/>
          <p:nvPr/>
        </p:nvSpPr>
        <p:spPr>
          <a:xfrm>
            <a:off x="320040" y="2176272"/>
            <a:ext cx="128016" cy="128016"/>
          </a:xfrm>
          <a:prstGeom prst="ellipse">
            <a:avLst/>
          </a:prstGeom>
          <a:solidFill>
            <a:srgbClr val="00BCD4"/>
          </a:solidFill>
          <a:ln w="12700">
            <a:solidFill>
              <a:srgbClr val="00BCD4"/>
            </a:solidFill>
            <a:prstDash val="solid"/>
          </a:ln>
        </p:spPr>
      </p:sp>
      <p:sp>
        <p:nvSpPr>
          <p:cNvPr id="9" name="Text 7"/>
          <p:cNvSpPr/>
          <p:nvPr/>
        </p:nvSpPr>
        <p:spPr>
          <a:xfrm>
            <a:off x="512064" y="2148840"/>
            <a:ext cx="3794760" cy="219456"/>
          </a:xfrm>
          <a:prstGeom prst="rect">
            <a:avLst/>
          </a:prstGeom>
          <a:noFill/>
          <a:ln/>
        </p:spPr>
        <p:txBody>
          <a:bodyPr wrap="square" rtlCol="0" anchor="ctr"/>
          <a:lstStyle/>
          <a:p>
            <a:pPr marL="0" indent="0">
              <a:buNone/>
            </a:pPr>
            <a:r>
              <a:rPr lang="en-US" sz="1050" dirty="0">
                <a:solidFill>
                  <a:srgbClr val="B0C4DE"/>
                </a:solidFill>
              </a:rPr>
              <a:t>Mean &amp; Standard Deviation</a:t>
            </a:r>
            <a:endParaRPr lang="en-US" sz="1050" dirty="0"/>
          </a:p>
        </p:txBody>
      </p:sp>
      <p:sp>
        <p:nvSpPr>
          <p:cNvPr id="10" name="Shape 8"/>
          <p:cNvSpPr/>
          <p:nvPr/>
        </p:nvSpPr>
        <p:spPr>
          <a:xfrm>
            <a:off x="320040" y="2523744"/>
            <a:ext cx="128016" cy="128016"/>
          </a:xfrm>
          <a:prstGeom prst="ellipse">
            <a:avLst/>
          </a:prstGeom>
          <a:solidFill>
            <a:srgbClr val="00BCD4"/>
          </a:solidFill>
          <a:ln w="12700">
            <a:solidFill>
              <a:srgbClr val="00BCD4"/>
            </a:solidFill>
            <a:prstDash val="solid"/>
          </a:ln>
        </p:spPr>
      </p:sp>
      <p:sp>
        <p:nvSpPr>
          <p:cNvPr id="11" name="Text 9"/>
          <p:cNvSpPr/>
          <p:nvPr/>
        </p:nvSpPr>
        <p:spPr>
          <a:xfrm>
            <a:off x="512064" y="2496312"/>
            <a:ext cx="3794760" cy="219456"/>
          </a:xfrm>
          <a:prstGeom prst="rect">
            <a:avLst/>
          </a:prstGeom>
          <a:noFill/>
          <a:ln/>
        </p:spPr>
        <p:txBody>
          <a:bodyPr wrap="square" rtlCol="0" anchor="ctr"/>
          <a:lstStyle/>
          <a:p>
            <a:pPr marL="0" indent="0">
              <a:buNone/>
            </a:pPr>
            <a:r>
              <a:rPr lang="en-US" sz="1050" dirty="0">
                <a:solidFill>
                  <a:srgbClr val="B0C4DE"/>
                </a:solidFill>
              </a:rPr>
              <a:t>Mean Absolute Deviation</a:t>
            </a:r>
            <a:endParaRPr lang="en-US" sz="1050" dirty="0"/>
          </a:p>
        </p:txBody>
      </p:sp>
      <p:sp>
        <p:nvSpPr>
          <p:cNvPr id="12" name="Shape 10"/>
          <p:cNvSpPr/>
          <p:nvPr/>
        </p:nvSpPr>
        <p:spPr>
          <a:xfrm>
            <a:off x="320040" y="2871216"/>
            <a:ext cx="128016" cy="128016"/>
          </a:xfrm>
          <a:prstGeom prst="ellipse">
            <a:avLst/>
          </a:prstGeom>
          <a:solidFill>
            <a:srgbClr val="00BCD4"/>
          </a:solidFill>
          <a:ln w="12700">
            <a:solidFill>
              <a:srgbClr val="00BCD4"/>
            </a:solidFill>
            <a:prstDash val="solid"/>
          </a:ln>
        </p:spPr>
      </p:sp>
      <p:sp>
        <p:nvSpPr>
          <p:cNvPr id="13" name="Text 11"/>
          <p:cNvSpPr/>
          <p:nvPr/>
        </p:nvSpPr>
        <p:spPr>
          <a:xfrm>
            <a:off x="512064" y="2843784"/>
            <a:ext cx="3794760" cy="219456"/>
          </a:xfrm>
          <a:prstGeom prst="rect">
            <a:avLst/>
          </a:prstGeom>
          <a:noFill/>
          <a:ln/>
        </p:spPr>
        <p:txBody>
          <a:bodyPr wrap="square" rtlCol="0" anchor="ctr"/>
          <a:lstStyle/>
          <a:p>
            <a:pPr marL="0" indent="0">
              <a:buNone/>
            </a:pPr>
            <a:r>
              <a:rPr lang="en-US" sz="1050" dirty="0">
                <a:solidFill>
                  <a:srgbClr val="B0C4DE"/>
                </a:solidFill>
              </a:rPr>
              <a:t>RMS (Root Mean Square)</a:t>
            </a:r>
            <a:endParaRPr lang="en-US" sz="1050" dirty="0"/>
          </a:p>
        </p:txBody>
      </p:sp>
      <p:sp>
        <p:nvSpPr>
          <p:cNvPr id="14" name="Shape 12"/>
          <p:cNvSpPr/>
          <p:nvPr/>
        </p:nvSpPr>
        <p:spPr>
          <a:xfrm>
            <a:off x="320040" y="3218688"/>
            <a:ext cx="128016" cy="128016"/>
          </a:xfrm>
          <a:prstGeom prst="ellipse">
            <a:avLst/>
          </a:prstGeom>
          <a:solidFill>
            <a:srgbClr val="00BCD4"/>
          </a:solidFill>
          <a:ln w="12700">
            <a:solidFill>
              <a:srgbClr val="00BCD4"/>
            </a:solidFill>
            <a:prstDash val="solid"/>
          </a:ln>
        </p:spPr>
      </p:sp>
      <p:sp>
        <p:nvSpPr>
          <p:cNvPr id="15" name="Text 13"/>
          <p:cNvSpPr/>
          <p:nvPr/>
        </p:nvSpPr>
        <p:spPr>
          <a:xfrm>
            <a:off x="512064" y="3191256"/>
            <a:ext cx="3794760" cy="219456"/>
          </a:xfrm>
          <a:prstGeom prst="rect">
            <a:avLst/>
          </a:prstGeom>
          <a:noFill/>
          <a:ln/>
        </p:spPr>
        <p:txBody>
          <a:bodyPr wrap="square" rtlCol="0" anchor="ctr"/>
          <a:lstStyle/>
          <a:p>
            <a:pPr marL="0" indent="0">
              <a:buNone/>
            </a:pPr>
            <a:r>
              <a:rPr lang="en-US" sz="1050" dirty="0">
                <a:solidFill>
                  <a:srgbClr val="B0C4DE"/>
                </a:solidFill>
              </a:rPr>
              <a:t>Maximum Absolute Amplitude</a:t>
            </a:r>
            <a:endParaRPr lang="en-US" sz="1050" dirty="0"/>
          </a:p>
        </p:txBody>
      </p:sp>
      <p:sp>
        <p:nvSpPr>
          <p:cNvPr id="16" name="Shape 14"/>
          <p:cNvSpPr/>
          <p:nvPr/>
        </p:nvSpPr>
        <p:spPr>
          <a:xfrm>
            <a:off x="320040" y="3566160"/>
            <a:ext cx="128016" cy="128016"/>
          </a:xfrm>
          <a:prstGeom prst="ellipse">
            <a:avLst/>
          </a:prstGeom>
          <a:solidFill>
            <a:srgbClr val="00BCD4"/>
          </a:solidFill>
          <a:ln w="12700">
            <a:solidFill>
              <a:srgbClr val="00BCD4"/>
            </a:solidFill>
            <a:prstDash val="solid"/>
          </a:ln>
        </p:spPr>
      </p:sp>
      <p:sp>
        <p:nvSpPr>
          <p:cNvPr id="17" name="Text 15"/>
          <p:cNvSpPr/>
          <p:nvPr/>
        </p:nvSpPr>
        <p:spPr>
          <a:xfrm>
            <a:off x="512064" y="3538728"/>
            <a:ext cx="3794760" cy="219456"/>
          </a:xfrm>
          <a:prstGeom prst="rect">
            <a:avLst/>
          </a:prstGeom>
          <a:noFill/>
          <a:ln/>
        </p:spPr>
        <p:txBody>
          <a:bodyPr wrap="square" rtlCol="0" anchor="ctr"/>
          <a:lstStyle/>
          <a:p>
            <a:pPr marL="0" indent="0">
              <a:buNone/>
            </a:pPr>
            <a:r>
              <a:rPr lang="en-US" sz="1050" dirty="0">
                <a:solidFill>
                  <a:srgbClr val="B0C4DE"/>
                </a:solidFill>
              </a:rPr>
              <a:t>Skewness &amp; Kurtosis</a:t>
            </a:r>
            <a:endParaRPr lang="en-US" sz="1050" dirty="0"/>
          </a:p>
        </p:txBody>
      </p:sp>
      <p:sp>
        <p:nvSpPr>
          <p:cNvPr id="18" name="Shape 16"/>
          <p:cNvSpPr/>
          <p:nvPr/>
        </p:nvSpPr>
        <p:spPr>
          <a:xfrm>
            <a:off x="320040" y="3913632"/>
            <a:ext cx="128016" cy="128016"/>
          </a:xfrm>
          <a:prstGeom prst="ellipse">
            <a:avLst/>
          </a:prstGeom>
          <a:solidFill>
            <a:srgbClr val="00BCD4"/>
          </a:solidFill>
          <a:ln w="12700">
            <a:solidFill>
              <a:srgbClr val="00BCD4"/>
            </a:solidFill>
            <a:prstDash val="solid"/>
          </a:ln>
        </p:spPr>
      </p:sp>
      <p:sp>
        <p:nvSpPr>
          <p:cNvPr id="19" name="Text 17"/>
          <p:cNvSpPr/>
          <p:nvPr/>
        </p:nvSpPr>
        <p:spPr>
          <a:xfrm>
            <a:off x="512064" y="3886200"/>
            <a:ext cx="3794760" cy="219456"/>
          </a:xfrm>
          <a:prstGeom prst="rect">
            <a:avLst/>
          </a:prstGeom>
          <a:noFill/>
          <a:ln/>
        </p:spPr>
        <p:txBody>
          <a:bodyPr wrap="square" rtlCol="0" anchor="ctr"/>
          <a:lstStyle/>
          <a:p>
            <a:pPr marL="0" indent="0">
              <a:buNone/>
            </a:pPr>
            <a:r>
              <a:rPr lang="en-US" sz="1050" dirty="0">
                <a:solidFill>
                  <a:srgbClr val="B0C4DE"/>
                </a:solidFill>
              </a:rPr>
              <a:t>Crest Factor, Form Factor</a:t>
            </a:r>
            <a:endParaRPr lang="en-US" sz="1050" dirty="0"/>
          </a:p>
        </p:txBody>
      </p:sp>
      <p:sp>
        <p:nvSpPr>
          <p:cNvPr id="20" name="Shape 18"/>
          <p:cNvSpPr/>
          <p:nvPr/>
        </p:nvSpPr>
        <p:spPr>
          <a:xfrm>
            <a:off x="320040" y="4261104"/>
            <a:ext cx="128016" cy="128016"/>
          </a:xfrm>
          <a:prstGeom prst="ellipse">
            <a:avLst/>
          </a:prstGeom>
          <a:solidFill>
            <a:srgbClr val="00BCD4"/>
          </a:solidFill>
          <a:ln w="12700">
            <a:solidFill>
              <a:srgbClr val="00BCD4"/>
            </a:solidFill>
            <a:prstDash val="solid"/>
          </a:ln>
        </p:spPr>
      </p:sp>
      <p:sp>
        <p:nvSpPr>
          <p:cNvPr id="21" name="Text 19"/>
          <p:cNvSpPr/>
          <p:nvPr/>
        </p:nvSpPr>
        <p:spPr>
          <a:xfrm>
            <a:off x="512064" y="4233672"/>
            <a:ext cx="3794760" cy="219456"/>
          </a:xfrm>
          <a:prstGeom prst="rect">
            <a:avLst/>
          </a:prstGeom>
          <a:noFill/>
          <a:ln/>
        </p:spPr>
        <p:txBody>
          <a:bodyPr wrap="square" rtlCol="0" anchor="ctr"/>
          <a:lstStyle/>
          <a:p>
            <a:pPr marL="0" indent="0">
              <a:buNone/>
            </a:pPr>
            <a:r>
              <a:rPr lang="en-US" sz="1050" dirty="0">
                <a:solidFill>
                  <a:srgbClr val="B0C4DE"/>
                </a:solidFill>
              </a:rPr>
              <a:t>Shape Factor, Impulse Factor</a:t>
            </a:r>
            <a:endParaRPr lang="en-US" sz="1050" dirty="0"/>
          </a:p>
        </p:txBody>
      </p:sp>
      <p:sp>
        <p:nvSpPr>
          <p:cNvPr id="22" name="Shape 20"/>
          <p:cNvSpPr/>
          <p:nvPr/>
        </p:nvSpPr>
        <p:spPr>
          <a:xfrm>
            <a:off x="274320" y="4617720"/>
            <a:ext cx="4114800" cy="411480"/>
          </a:xfrm>
          <a:prstGeom prst="rect">
            <a:avLst/>
          </a:prstGeom>
          <a:solidFill>
            <a:srgbClr val="071829"/>
          </a:solidFill>
          <a:ln w="12700">
            <a:solidFill>
              <a:srgbClr val="00BCD4"/>
            </a:solidFill>
            <a:prstDash val="solid"/>
          </a:ln>
        </p:spPr>
      </p:sp>
      <p:sp>
        <p:nvSpPr>
          <p:cNvPr id="23" name="Text 21"/>
          <p:cNvSpPr/>
          <p:nvPr/>
        </p:nvSpPr>
        <p:spPr>
          <a:xfrm>
            <a:off x="320040" y="4663440"/>
            <a:ext cx="4023360" cy="320040"/>
          </a:xfrm>
          <a:prstGeom prst="rect">
            <a:avLst/>
          </a:prstGeom>
          <a:noFill/>
          <a:ln/>
        </p:spPr>
        <p:txBody>
          <a:bodyPr wrap="square" rtlCol="0" anchor="ctr"/>
          <a:lstStyle/>
          <a:p>
            <a:pPr marL="0" indent="0" algn="ctr">
              <a:buNone/>
            </a:pPr>
            <a:r>
              <a:rPr lang="en-US" sz="1000" b="1" dirty="0">
                <a:solidFill>
                  <a:srgbClr val="00BCD4"/>
                </a:solidFill>
              </a:rPr>
              <a:t>Window: 2048 samples @ 48 kHz = 42.67 ms</a:t>
            </a:r>
            <a:endParaRPr lang="en-US" sz="1000" dirty="0"/>
          </a:p>
        </p:txBody>
      </p:sp>
      <p:sp>
        <p:nvSpPr>
          <p:cNvPr id="24" name="Shape 22"/>
          <p:cNvSpPr/>
          <p:nvPr/>
        </p:nvSpPr>
        <p:spPr>
          <a:xfrm>
            <a:off x="4773168" y="182880"/>
            <a:ext cx="4160520" cy="365760"/>
          </a:xfrm>
          <a:prstGeom prst="rect">
            <a:avLst/>
          </a:prstGeom>
          <a:solidFill>
            <a:srgbClr val="FF6F00"/>
          </a:solidFill>
          <a:ln w="12700">
            <a:solidFill>
              <a:srgbClr val="FF6F00"/>
            </a:solidFill>
            <a:prstDash val="solid"/>
          </a:ln>
        </p:spPr>
      </p:sp>
      <p:sp>
        <p:nvSpPr>
          <p:cNvPr id="25" name="Text 23"/>
          <p:cNvSpPr/>
          <p:nvPr/>
        </p:nvSpPr>
        <p:spPr>
          <a:xfrm>
            <a:off x="4846320" y="201168"/>
            <a:ext cx="4023360" cy="329184"/>
          </a:xfrm>
          <a:prstGeom prst="rect">
            <a:avLst/>
          </a:prstGeom>
          <a:noFill/>
          <a:ln/>
        </p:spPr>
        <p:txBody>
          <a:bodyPr wrap="square" rtlCol="0" anchor="ctr"/>
          <a:lstStyle/>
          <a:p>
            <a:pPr marL="0" indent="0">
              <a:buNone/>
            </a:pPr>
            <a:r>
              <a:rPr lang="en-US" sz="1000" b="1" dirty="0">
                <a:solidFill>
                  <a:srgbClr val="FFFFFF"/>
                </a:solidFill>
              </a:rPr>
              <a:t>〰  FREQUENCY DOMAIN — Spectral Features</a:t>
            </a:r>
            <a:endParaRPr lang="en-US" sz="1000" dirty="0"/>
          </a:p>
        </p:txBody>
      </p:sp>
      <p:sp>
        <p:nvSpPr>
          <p:cNvPr id="26" name="Shape 24"/>
          <p:cNvSpPr/>
          <p:nvPr/>
        </p:nvSpPr>
        <p:spPr>
          <a:xfrm>
            <a:off x="4828032" y="667512"/>
            <a:ext cx="128016" cy="128016"/>
          </a:xfrm>
          <a:prstGeom prst="ellipse">
            <a:avLst/>
          </a:prstGeom>
          <a:solidFill>
            <a:srgbClr val="FF6F00"/>
          </a:solidFill>
          <a:ln w="12700">
            <a:solidFill>
              <a:srgbClr val="FF6F00"/>
            </a:solidFill>
            <a:prstDash val="solid"/>
          </a:ln>
        </p:spPr>
      </p:sp>
      <p:sp>
        <p:nvSpPr>
          <p:cNvPr id="27" name="Text 25"/>
          <p:cNvSpPr/>
          <p:nvPr/>
        </p:nvSpPr>
        <p:spPr>
          <a:xfrm>
            <a:off x="5029200" y="640080"/>
            <a:ext cx="3840480" cy="219456"/>
          </a:xfrm>
          <a:prstGeom prst="rect">
            <a:avLst/>
          </a:prstGeom>
          <a:noFill/>
          <a:ln/>
        </p:spPr>
        <p:txBody>
          <a:bodyPr wrap="square" rtlCol="0" anchor="ctr"/>
          <a:lstStyle/>
          <a:p>
            <a:pPr marL="0" indent="0">
              <a:buNone/>
            </a:pPr>
            <a:r>
              <a:rPr lang="en-US" sz="1050" dirty="0">
                <a:solidFill>
                  <a:srgbClr val="0A1628"/>
                </a:solidFill>
              </a:rPr>
              <a:t>FFT Peak Amplitude</a:t>
            </a:r>
            <a:endParaRPr lang="en-US" sz="1050" dirty="0"/>
          </a:p>
        </p:txBody>
      </p:sp>
      <p:sp>
        <p:nvSpPr>
          <p:cNvPr id="28" name="Shape 26"/>
          <p:cNvSpPr/>
          <p:nvPr/>
        </p:nvSpPr>
        <p:spPr>
          <a:xfrm>
            <a:off x="4828032" y="1014984"/>
            <a:ext cx="128016" cy="128016"/>
          </a:xfrm>
          <a:prstGeom prst="ellipse">
            <a:avLst/>
          </a:prstGeom>
          <a:solidFill>
            <a:srgbClr val="FF6F00"/>
          </a:solidFill>
          <a:ln w="12700">
            <a:solidFill>
              <a:srgbClr val="FF6F00"/>
            </a:solidFill>
            <a:prstDash val="solid"/>
          </a:ln>
        </p:spPr>
      </p:sp>
      <p:sp>
        <p:nvSpPr>
          <p:cNvPr id="29" name="Text 27"/>
          <p:cNvSpPr/>
          <p:nvPr/>
        </p:nvSpPr>
        <p:spPr>
          <a:xfrm>
            <a:off x="5029200" y="987552"/>
            <a:ext cx="3840480" cy="219456"/>
          </a:xfrm>
          <a:prstGeom prst="rect">
            <a:avLst/>
          </a:prstGeom>
          <a:noFill/>
          <a:ln/>
        </p:spPr>
        <p:txBody>
          <a:bodyPr wrap="square" rtlCol="0" anchor="ctr"/>
          <a:lstStyle/>
          <a:p>
            <a:pPr marL="0" indent="0">
              <a:buNone/>
            </a:pPr>
            <a:r>
              <a:rPr lang="en-US" sz="1050" dirty="0">
                <a:solidFill>
                  <a:srgbClr val="0A1628"/>
                </a:solidFill>
              </a:rPr>
              <a:t>Spectral Mean</a:t>
            </a:r>
            <a:endParaRPr lang="en-US" sz="1050" dirty="0"/>
          </a:p>
        </p:txBody>
      </p:sp>
      <p:sp>
        <p:nvSpPr>
          <p:cNvPr id="30" name="Shape 28"/>
          <p:cNvSpPr/>
          <p:nvPr/>
        </p:nvSpPr>
        <p:spPr>
          <a:xfrm>
            <a:off x="4828032" y="1362456"/>
            <a:ext cx="128016" cy="128016"/>
          </a:xfrm>
          <a:prstGeom prst="ellipse">
            <a:avLst/>
          </a:prstGeom>
          <a:solidFill>
            <a:srgbClr val="FF6F00"/>
          </a:solidFill>
          <a:ln w="12700">
            <a:solidFill>
              <a:srgbClr val="FF6F00"/>
            </a:solidFill>
            <a:prstDash val="solid"/>
          </a:ln>
        </p:spPr>
      </p:sp>
      <p:sp>
        <p:nvSpPr>
          <p:cNvPr id="31" name="Text 29"/>
          <p:cNvSpPr/>
          <p:nvPr/>
        </p:nvSpPr>
        <p:spPr>
          <a:xfrm>
            <a:off x="5029200" y="1335024"/>
            <a:ext cx="3840480" cy="219456"/>
          </a:xfrm>
          <a:prstGeom prst="rect">
            <a:avLst/>
          </a:prstGeom>
          <a:noFill/>
          <a:ln/>
        </p:spPr>
        <p:txBody>
          <a:bodyPr wrap="square" rtlCol="0" anchor="ctr"/>
          <a:lstStyle/>
          <a:p>
            <a:pPr marL="0" indent="0">
              <a:buNone/>
            </a:pPr>
            <a:r>
              <a:rPr lang="en-US" sz="1050" dirty="0">
                <a:solidFill>
                  <a:srgbClr val="0A1628"/>
                </a:solidFill>
              </a:rPr>
              <a:t>Spectral Standard Deviation</a:t>
            </a:r>
            <a:endParaRPr lang="en-US" sz="1050" dirty="0"/>
          </a:p>
        </p:txBody>
      </p:sp>
      <p:sp>
        <p:nvSpPr>
          <p:cNvPr id="32" name="Shape 30"/>
          <p:cNvSpPr/>
          <p:nvPr/>
        </p:nvSpPr>
        <p:spPr>
          <a:xfrm>
            <a:off x="4828032" y="1709928"/>
            <a:ext cx="128016" cy="128016"/>
          </a:xfrm>
          <a:prstGeom prst="ellipse">
            <a:avLst/>
          </a:prstGeom>
          <a:solidFill>
            <a:srgbClr val="FF6F00"/>
          </a:solidFill>
          <a:ln w="12700">
            <a:solidFill>
              <a:srgbClr val="FF6F00"/>
            </a:solidFill>
            <a:prstDash val="solid"/>
          </a:ln>
        </p:spPr>
      </p:sp>
      <p:sp>
        <p:nvSpPr>
          <p:cNvPr id="33" name="Text 31"/>
          <p:cNvSpPr/>
          <p:nvPr/>
        </p:nvSpPr>
        <p:spPr>
          <a:xfrm>
            <a:off x="5029200" y="1682496"/>
            <a:ext cx="3840480" cy="219456"/>
          </a:xfrm>
          <a:prstGeom prst="rect">
            <a:avLst/>
          </a:prstGeom>
          <a:noFill/>
          <a:ln/>
        </p:spPr>
        <p:txBody>
          <a:bodyPr wrap="square" rtlCol="0" anchor="ctr"/>
          <a:lstStyle/>
          <a:p>
            <a:pPr marL="0" indent="0">
              <a:buNone/>
            </a:pPr>
            <a:r>
              <a:rPr lang="en-US" sz="1050" dirty="0">
                <a:solidFill>
                  <a:srgbClr val="0A1628"/>
                </a:solidFill>
              </a:rPr>
              <a:t>Dominant Frequency</a:t>
            </a:r>
            <a:endParaRPr lang="en-US" sz="1050" dirty="0"/>
          </a:p>
        </p:txBody>
      </p:sp>
      <p:sp>
        <p:nvSpPr>
          <p:cNvPr id="34" name="Shape 32"/>
          <p:cNvSpPr/>
          <p:nvPr/>
        </p:nvSpPr>
        <p:spPr>
          <a:xfrm>
            <a:off x="4828032" y="2057400"/>
            <a:ext cx="128016" cy="128016"/>
          </a:xfrm>
          <a:prstGeom prst="ellipse">
            <a:avLst/>
          </a:prstGeom>
          <a:solidFill>
            <a:srgbClr val="FF6F00"/>
          </a:solidFill>
          <a:ln w="12700">
            <a:solidFill>
              <a:srgbClr val="FF6F00"/>
            </a:solidFill>
            <a:prstDash val="solid"/>
          </a:ln>
        </p:spPr>
      </p:sp>
      <p:sp>
        <p:nvSpPr>
          <p:cNvPr id="35" name="Text 33"/>
          <p:cNvSpPr/>
          <p:nvPr/>
        </p:nvSpPr>
        <p:spPr>
          <a:xfrm>
            <a:off x="5029200" y="2029968"/>
            <a:ext cx="3840480" cy="219456"/>
          </a:xfrm>
          <a:prstGeom prst="rect">
            <a:avLst/>
          </a:prstGeom>
          <a:noFill/>
          <a:ln/>
        </p:spPr>
        <p:txBody>
          <a:bodyPr wrap="square" rtlCol="0" anchor="ctr"/>
          <a:lstStyle/>
          <a:p>
            <a:pPr marL="0" indent="0">
              <a:buNone/>
            </a:pPr>
            <a:r>
              <a:rPr lang="en-US" sz="1050" dirty="0">
                <a:solidFill>
                  <a:srgbClr val="0A1628"/>
                </a:solidFill>
              </a:rPr>
              <a:t>Spectral Centroid Proxy</a:t>
            </a:r>
            <a:endParaRPr lang="en-US" sz="1050" dirty="0"/>
          </a:p>
        </p:txBody>
      </p:sp>
      <p:sp>
        <p:nvSpPr>
          <p:cNvPr id="36" name="Shape 34"/>
          <p:cNvSpPr/>
          <p:nvPr/>
        </p:nvSpPr>
        <p:spPr>
          <a:xfrm>
            <a:off x="4828032" y="2404872"/>
            <a:ext cx="128016" cy="128016"/>
          </a:xfrm>
          <a:prstGeom prst="ellipse">
            <a:avLst/>
          </a:prstGeom>
          <a:solidFill>
            <a:srgbClr val="FF6F00"/>
          </a:solidFill>
          <a:ln w="12700">
            <a:solidFill>
              <a:srgbClr val="FF6F00"/>
            </a:solidFill>
            <a:prstDash val="solid"/>
          </a:ln>
        </p:spPr>
      </p:sp>
      <p:sp>
        <p:nvSpPr>
          <p:cNvPr id="37" name="Text 35"/>
          <p:cNvSpPr/>
          <p:nvPr/>
        </p:nvSpPr>
        <p:spPr>
          <a:xfrm>
            <a:off x="5029200" y="2377440"/>
            <a:ext cx="3840480" cy="219456"/>
          </a:xfrm>
          <a:prstGeom prst="rect">
            <a:avLst/>
          </a:prstGeom>
          <a:noFill/>
          <a:ln/>
        </p:spPr>
        <p:txBody>
          <a:bodyPr wrap="square" rtlCol="0" anchor="ctr"/>
          <a:lstStyle/>
          <a:p>
            <a:pPr marL="0" indent="0">
              <a:buNone/>
            </a:pPr>
            <a:r>
              <a:rPr lang="en-US" sz="1050" dirty="0">
                <a:solidFill>
                  <a:srgbClr val="0A1628"/>
                </a:solidFill>
              </a:rPr>
              <a:t>Frequency Variance</a:t>
            </a:r>
            <a:endParaRPr lang="en-US" sz="1050" dirty="0"/>
          </a:p>
        </p:txBody>
      </p:sp>
      <p:sp>
        <p:nvSpPr>
          <p:cNvPr id="38" name="Shape 36"/>
          <p:cNvSpPr/>
          <p:nvPr/>
        </p:nvSpPr>
        <p:spPr>
          <a:xfrm>
            <a:off x="4828032" y="2752344"/>
            <a:ext cx="128016" cy="128016"/>
          </a:xfrm>
          <a:prstGeom prst="ellipse">
            <a:avLst/>
          </a:prstGeom>
          <a:solidFill>
            <a:srgbClr val="FF6F00"/>
          </a:solidFill>
          <a:ln w="12700">
            <a:solidFill>
              <a:srgbClr val="FF6F00"/>
            </a:solidFill>
            <a:prstDash val="solid"/>
          </a:ln>
        </p:spPr>
      </p:sp>
      <p:sp>
        <p:nvSpPr>
          <p:cNvPr id="39" name="Text 37"/>
          <p:cNvSpPr/>
          <p:nvPr/>
        </p:nvSpPr>
        <p:spPr>
          <a:xfrm>
            <a:off x="5029200" y="2724912"/>
            <a:ext cx="3840480" cy="219456"/>
          </a:xfrm>
          <a:prstGeom prst="rect">
            <a:avLst/>
          </a:prstGeom>
          <a:noFill/>
          <a:ln/>
        </p:spPr>
        <p:txBody>
          <a:bodyPr wrap="square" rtlCol="0" anchor="ctr"/>
          <a:lstStyle/>
          <a:p>
            <a:pPr marL="0" indent="0">
              <a:buNone/>
            </a:pPr>
            <a:r>
              <a:rPr lang="en-US" sz="1050" dirty="0">
                <a:solidFill>
                  <a:srgbClr val="0A1628"/>
                </a:solidFill>
              </a:rPr>
              <a:t>Frequency Variation Factor</a:t>
            </a:r>
            <a:endParaRPr lang="en-US" sz="1050" dirty="0"/>
          </a:p>
        </p:txBody>
      </p:sp>
      <p:sp>
        <p:nvSpPr>
          <p:cNvPr id="40" name="Shape 38"/>
          <p:cNvSpPr/>
          <p:nvPr/>
        </p:nvSpPr>
        <p:spPr>
          <a:xfrm>
            <a:off x="4773168" y="3291840"/>
            <a:ext cx="4160520" cy="1664208"/>
          </a:xfrm>
          <a:prstGeom prst="rect">
            <a:avLst/>
          </a:prstGeom>
          <a:solidFill>
            <a:srgbClr val="0A1628"/>
          </a:solidFill>
          <a:ln w="12700">
            <a:solidFill>
              <a:srgbClr val="0A1628"/>
            </a:solidFill>
            <a:prstDash val="solid"/>
          </a:ln>
        </p:spPr>
      </p:sp>
      <p:sp>
        <p:nvSpPr>
          <p:cNvPr id="41" name="Text 39"/>
          <p:cNvSpPr/>
          <p:nvPr/>
        </p:nvSpPr>
        <p:spPr>
          <a:xfrm>
            <a:off x="4937760" y="3401568"/>
            <a:ext cx="3840480" cy="292608"/>
          </a:xfrm>
          <a:prstGeom prst="rect">
            <a:avLst/>
          </a:prstGeom>
          <a:noFill/>
          <a:ln/>
        </p:spPr>
        <p:txBody>
          <a:bodyPr wrap="square" rtlCol="0" anchor="ctr"/>
          <a:lstStyle/>
          <a:p>
            <a:pPr marL="0" indent="0">
              <a:buNone/>
            </a:pPr>
            <a:r>
              <a:rPr lang="en-US" sz="1000" b="1" kern="0" spc="150" dirty="0">
                <a:solidFill>
                  <a:srgbClr val="00BCD4"/>
                </a:solidFill>
              </a:rPr>
              <a:t>DATASET SUMMARY</a:t>
            </a:r>
            <a:endParaRPr lang="en-US" sz="1000" dirty="0"/>
          </a:p>
        </p:txBody>
      </p:sp>
      <p:sp>
        <p:nvSpPr>
          <p:cNvPr id="42" name="Text 40"/>
          <p:cNvSpPr/>
          <p:nvPr/>
        </p:nvSpPr>
        <p:spPr>
          <a:xfrm>
            <a:off x="4892040" y="3767328"/>
            <a:ext cx="1920240" cy="411480"/>
          </a:xfrm>
          <a:prstGeom prst="rect">
            <a:avLst/>
          </a:prstGeom>
          <a:noFill/>
          <a:ln/>
        </p:spPr>
        <p:txBody>
          <a:bodyPr wrap="square" rtlCol="0" anchor="ctr"/>
          <a:lstStyle/>
          <a:p>
            <a:pPr marL="0" indent="0">
              <a:buNone/>
            </a:pPr>
            <a:r>
              <a:rPr lang="en-US" sz="2600" b="1" dirty="0">
                <a:solidFill>
                  <a:srgbClr val="FF6F00"/>
                </a:solidFill>
              </a:rPr>
              <a:t>9,736</a:t>
            </a:r>
            <a:endParaRPr lang="en-US" sz="2600" dirty="0"/>
          </a:p>
        </p:txBody>
      </p:sp>
      <p:sp>
        <p:nvSpPr>
          <p:cNvPr id="43" name="Text 41"/>
          <p:cNvSpPr/>
          <p:nvPr/>
        </p:nvSpPr>
        <p:spPr>
          <a:xfrm>
            <a:off x="4892040" y="4151376"/>
            <a:ext cx="1920240" cy="256032"/>
          </a:xfrm>
          <a:prstGeom prst="rect">
            <a:avLst/>
          </a:prstGeom>
          <a:noFill/>
          <a:ln/>
        </p:spPr>
        <p:txBody>
          <a:bodyPr wrap="square" rtlCol="0" anchor="ctr"/>
          <a:lstStyle/>
          <a:p>
            <a:pPr marL="0" indent="0">
              <a:buNone/>
            </a:pPr>
            <a:r>
              <a:rPr lang="en-US" sz="950" dirty="0">
                <a:solidFill>
                  <a:srgbClr val="8ECAE6"/>
                </a:solidFill>
              </a:rPr>
              <a:t>labeled windows</a:t>
            </a:r>
            <a:endParaRPr lang="en-US" sz="950" dirty="0"/>
          </a:p>
        </p:txBody>
      </p:sp>
      <p:sp>
        <p:nvSpPr>
          <p:cNvPr id="44" name="Text 42"/>
          <p:cNvSpPr/>
          <p:nvPr/>
        </p:nvSpPr>
        <p:spPr>
          <a:xfrm>
            <a:off x="6922008" y="3767328"/>
            <a:ext cx="1920240" cy="411480"/>
          </a:xfrm>
          <a:prstGeom prst="rect">
            <a:avLst/>
          </a:prstGeom>
          <a:noFill/>
          <a:ln/>
        </p:spPr>
        <p:txBody>
          <a:bodyPr wrap="square" rtlCol="0" anchor="ctr"/>
          <a:lstStyle/>
          <a:p>
            <a:pPr marL="0" indent="0">
              <a:buNone/>
            </a:pPr>
            <a:r>
              <a:rPr lang="en-US" sz="2600" b="1" dirty="0">
                <a:solidFill>
                  <a:srgbClr val="FF6F00"/>
                </a:solidFill>
              </a:rPr>
              <a:t>25</a:t>
            </a:r>
            <a:endParaRPr lang="en-US" sz="2600" dirty="0"/>
          </a:p>
        </p:txBody>
      </p:sp>
      <p:sp>
        <p:nvSpPr>
          <p:cNvPr id="45" name="Text 43"/>
          <p:cNvSpPr/>
          <p:nvPr/>
        </p:nvSpPr>
        <p:spPr>
          <a:xfrm>
            <a:off x="6922008" y="4151376"/>
            <a:ext cx="1920240" cy="256032"/>
          </a:xfrm>
          <a:prstGeom prst="rect">
            <a:avLst/>
          </a:prstGeom>
          <a:noFill/>
          <a:ln/>
        </p:spPr>
        <p:txBody>
          <a:bodyPr wrap="square" rtlCol="0" anchor="ctr"/>
          <a:lstStyle/>
          <a:p>
            <a:pPr marL="0" indent="0">
              <a:buNone/>
            </a:pPr>
            <a:r>
              <a:rPr lang="en-US" sz="950" dirty="0">
                <a:solidFill>
                  <a:srgbClr val="8ECAE6"/>
                </a:solidFill>
              </a:rPr>
              <a:t>engineered features</a:t>
            </a:r>
            <a:endParaRPr lang="en-US" sz="950" dirty="0"/>
          </a:p>
        </p:txBody>
      </p:sp>
      <p:sp>
        <p:nvSpPr>
          <p:cNvPr id="46" name="Text 44"/>
          <p:cNvSpPr/>
          <p:nvPr/>
        </p:nvSpPr>
        <p:spPr>
          <a:xfrm>
            <a:off x="4892040" y="4590288"/>
            <a:ext cx="1920240" cy="411480"/>
          </a:xfrm>
          <a:prstGeom prst="rect">
            <a:avLst/>
          </a:prstGeom>
          <a:noFill/>
          <a:ln/>
        </p:spPr>
        <p:txBody>
          <a:bodyPr wrap="square" rtlCol="0" anchor="ctr"/>
          <a:lstStyle/>
          <a:p>
            <a:pPr marL="0" indent="0">
              <a:buNone/>
            </a:pPr>
            <a:r>
              <a:rPr lang="en-US" sz="2600" b="1" dirty="0">
                <a:solidFill>
                  <a:srgbClr val="FF6F00"/>
                </a:solidFill>
              </a:rPr>
              <a:t>4</a:t>
            </a:r>
            <a:endParaRPr lang="en-US" sz="2600" dirty="0"/>
          </a:p>
        </p:txBody>
      </p:sp>
      <p:sp>
        <p:nvSpPr>
          <p:cNvPr id="47" name="Text 45"/>
          <p:cNvSpPr/>
          <p:nvPr/>
        </p:nvSpPr>
        <p:spPr>
          <a:xfrm>
            <a:off x="4892040" y="4974336"/>
            <a:ext cx="1920240" cy="256032"/>
          </a:xfrm>
          <a:prstGeom prst="rect">
            <a:avLst/>
          </a:prstGeom>
          <a:noFill/>
          <a:ln/>
        </p:spPr>
        <p:txBody>
          <a:bodyPr wrap="square" rtlCol="0" anchor="ctr"/>
          <a:lstStyle/>
          <a:p>
            <a:pPr marL="0" indent="0">
              <a:buNone/>
            </a:pPr>
            <a:r>
              <a:rPr lang="en-US" sz="950" dirty="0">
                <a:solidFill>
                  <a:srgbClr val="8ECAE6"/>
                </a:solidFill>
              </a:rPr>
              <a:t>bearing conditions</a:t>
            </a:r>
            <a:endParaRPr lang="en-US" sz="950" dirty="0"/>
          </a:p>
        </p:txBody>
      </p:sp>
      <p:sp>
        <p:nvSpPr>
          <p:cNvPr id="48" name="Text 46"/>
          <p:cNvSpPr/>
          <p:nvPr/>
        </p:nvSpPr>
        <p:spPr>
          <a:xfrm>
            <a:off x="6922008" y="4590288"/>
            <a:ext cx="1920240" cy="411480"/>
          </a:xfrm>
          <a:prstGeom prst="rect">
            <a:avLst/>
          </a:prstGeom>
          <a:noFill/>
          <a:ln/>
        </p:spPr>
        <p:txBody>
          <a:bodyPr wrap="square" rtlCol="0" anchor="ctr"/>
          <a:lstStyle/>
          <a:p>
            <a:pPr marL="0" indent="0">
              <a:buNone/>
            </a:pPr>
            <a:r>
              <a:rPr lang="en-US" sz="2600" b="1" dirty="0">
                <a:solidFill>
                  <a:srgbClr val="FF6F00"/>
                </a:solidFill>
              </a:rPr>
              <a:t>48 kHz</a:t>
            </a:r>
            <a:endParaRPr lang="en-US" sz="2600" dirty="0"/>
          </a:p>
        </p:txBody>
      </p:sp>
      <p:sp>
        <p:nvSpPr>
          <p:cNvPr id="49" name="Text 47"/>
          <p:cNvSpPr/>
          <p:nvPr/>
        </p:nvSpPr>
        <p:spPr>
          <a:xfrm>
            <a:off x="6922008" y="4974336"/>
            <a:ext cx="1920240" cy="256032"/>
          </a:xfrm>
          <a:prstGeom prst="rect">
            <a:avLst/>
          </a:prstGeom>
          <a:noFill/>
          <a:ln/>
        </p:spPr>
        <p:txBody>
          <a:bodyPr wrap="square" rtlCol="0" anchor="ctr"/>
          <a:lstStyle/>
          <a:p>
            <a:pPr marL="0" indent="0">
              <a:buNone/>
            </a:pPr>
            <a:r>
              <a:rPr lang="en-US" sz="950" dirty="0">
                <a:solidFill>
                  <a:srgbClr val="8ECAE6"/>
                </a:solidFill>
              </a:rPr>
              <a:t>sampling rate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RESULTS: Model Performance</a:t>
            </a:r>
            <a:endParaRPr lang="en-US" sz="2800" dirty="0"/>
          </a:p>
        </p:txBody>
      </p:sp>
      <p:sp>
        <p:nvSpPr>
          <p:cNvPr id="5" name="Shape 3"/>
          <p:cNvSpPr/>
          <p:nvPr/>
        </p:nvSpPr>
        <p:spPr>
          <a:xfrm>
            <a:off x="274320" y="1188720"/>
            <a:ext cx="4160520" cy="14630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6" name="Shape 4"/>
          <p:cNvSpPr/>
          <p:nvPr/>
        </p:nvSpPr>
        <p:spPr>
          <a:xfrm>
            <a:off x="274320" y="1188720"/>
            <a:ext cx="4160520" cy="73152"/>
          </a:xfrm>
          <a:prstGeom prst="rect">
            <a:avLst/>
          </a:prstGeom>
          <a:solidFill>
            <a:srgbClr val="00897B"/>
          </a:solidFill>
          <a:ln w="12700">
            <a:solidFill>
              <a:srgbClr val="00897B"/>
            </a:solidFill>
            <a:prstDash val="solid"/>
          </a:ln>
        </p:spPr>
      </p:sp>
      <p:sp>
        <p:nvSpPr>
          <p:cNvPr id="7" name="Text 5"/>
          <p:cNvSpPr/>
          <p:nvPr/>
        </p:nvSpPr>
        <p:spPr>
          <a:xfrm>
            <a:off x="457200" y="1371600"/>
            <a:ext cx="3794760" cy="658368"/>
          </a:xfrm>
          <a:prstGeom prst="rect">
            <a:avLst/>
          </a:prstGeom>
          <a:noFill/>
          <a:ln/>
        </p:spPr>
        <p:txBody>
          <a:bodyPr wrap="square" rtlCol="0" anchor="ctr"/>
          <a:lstStyle/>
          <a:p>
            <a:pPr marL="0" indent="0" algn="ctr">
              <a:buNone/>
            </a:pPr>
            <a:r>
              <a:rPr lang="en-US" sz="4800" b="1" dirty="0">
                <a:solidFill>
                  <a:srgbClr val="00897B"/>
                </a:solidFill>
                <a:latin typeface="Calibri" pitchFamily="34" charset="0"/>
                <a:ea typeface="Calibri" pitchFamily="34" charset="-122"/>
                <a:cs typeface="Calibri" pitchFamily="34" charset="-120"/>
              </a:rPr>
              <a:t>97.59%</a:t>
            </a:r>
            <a:endParaRPr lang="en-US" sz="4800" dirty="0"/>
          </a:p>
        </p:txBody>
      </p:sp>
      <p:sp>
        <p:nvSpPr>
          <p:cNvPr id="8" name="Text 6"/>
          <p:cNvSpPr/>
          <p:nvPr/>
        </p:nvSpPr>
        <p:spPr>
          <a:xfrm>
            <a:off x="457200" y="1993392"/>
            <a:ext cx="3794760" cy="292608"/>
          </a:xfrm>
          <a:prstGeom prst="rect">
            <a:avLst/>
          </a:prstGeom>
          <a:noFill/>
          <a:ln/>
        </p:spPr>
        <p:txBody>
          <a:bodyPr wrap="square" rtlCol="0" anchor="ctr"/>
          <a:lstStyle/>
          <a:p>
            <a:pPr marL="0" indent="0" algn="ctr">
              <a:buNone/>
            </a:pPr>
            <a:r>
              <a:rPr lang="en-US" sz="1200" b="1" dirty="0">
                <a:solidFill>
                  <a:srgbClr val="37474F"/>
                </a:solidFill>
              </a:rPr>
              <a:t>Random Forest Accuracy</a:t>
            </a:r>
            <a:endParaRPr lang="en-US" sz="1200" dirty="0"/>
          </a:p>
        </p:txBody>
      </p:sp>
      <p:sp>
        <p:nvSpPr>
          <p:cNvPr id="9" name="Shape 7"/>
          <p:cNvSpPr/>
          <p:nvPr/>
        </p:nvSpPr>
        <p:spPr>
          <a:xfrm>
            <a:off x="1463040" y="2286000"/>
            <a:ext cx="1783080" cy="274320"/>
          </a:xfrm>
          <a:prstGeom prst="roundRect">
            <a:avLst>
              <a:gd name="adj" fmla="val 20000"/>
            </a:avLst>
          </a:prstGeom>
          <a:solidFill>
            <a:srgbClr val="00897B"/>
          </a:solidFill>
          <a:ln w="12700">
            <a:solidFill>
              <a:srgbClr val="00897B"/>
            </a:solidFill>
            <a:prstDash val="solid"/>
          </a:ln>
        </p:spPr>
      </p:sp>
      <p:sp>
        <p:nvSpPr>
          <p:cNvPr id="10" name="Text 8"/>
          <p:cNvSpPr/>
          <p:nvPr/>
        </p:nvSpPr>
        <p:spPr>
          <a:xfrm>
            <a:off x="1463040" y="2286000"/>
            <a:ext cx="1783080" cy="274320"/>
          </a:xfrm>
          <a:prstGeom prst="rect">
            <a:avLst/>
          </a:prstGeom>
          <a:noFill/>
          <a:ln/>
        </p:spPr>
        <p:txBody>
          <a:bodyPr wrap="square" rtlCol="0" anchor="ctr"/>
          <a:lstStyle/>
          <a:p>
            <a:pPr marL="0" indent="0" algn="ctr">
              <a:buNone/>
            </a:pPr>
            <a:r>
              <a:rPr lang="en-US" sz="900" b="1" dirty="0">
                <a:solidFill>
                  <a:srgbClr val="FFFFFF"/>
                </a:solidFill>
              </a:rPr>
              <a:t>Best Model</a:t>
            </a:r>
            <a:endParaRPr lang="en-US" sz="900" dirty="0"/>
          </a:p>
        </p:txBody>
      </p:sp>
      <p:sp>
        <p:nvSpPr>
          <p:cNvPr id="11" name="Shape 9"/>
          <p:cNvSpPr/>
          <p:nvPr/>
        </p:nvSpPr>
        <p:spPr>
          <a:xfrm>
            <a:off x="4663440" y="1188720"/>
            <a:ext cx="4160520" cy="14630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12" name="Shape 10"/>
          <p:cNvSpPr/>
          <p:nvPr/>
        </p:nvSpPr>
        <p:spPr>
          <a:xfrm>
            <a:off x="4663440" y="1188720"/>
            <a:ext cx="4160520" cy="73152"/>
          </a:xfrm>
          <a:prstGeom prst="rect">
            <a:avLst/>
          </a:prstGeom>
          <a:solidFill>
            <a:srgbClr val="1565C0"/>
          </a:solidFill>
          <a:ln w="12700">
            <a:solidFill>
              <a:srgbClr val="1565C0"/>
            </a:solidFill>
            <a:prstDash val="solid"/>
          </a:ln>
        </p:spPr>
      </p:sp>
      <p:sp>
        <p:nvSpPr>
          <p:cNvPr id="13" name="Text 11"/>
          <p:cNvSpPr/>
          <p:nvPr/>
        </p:nvSpPr>
        <p:spPr>
          <a:xfrm>
            <a:off x="4846320" y="1371600"/>
            <a:ext cx="3794760" cy="658368"/>
          </a:xfrm>
          <a:prstGeom prst="rect">
            <a:avLst/>
          </a:prstGeom>
          <a:noFill/>
          <a:ln/>
        </p:spPr>
        <p:txBody>
          <a:bodyPr wrap="square" rtlCol="0" anchor="ctr"/>
          <a:lstStyle/>
          <a:p>
            <a:pPr marL="0" indent="0" algn="ctr">
              <a:buNone/>
            </a:pPr>
            <a:r>
              <a:rPr lang="en-US" sz="4800" b="1" dirty="0">
                <a:solidFill>
                  <a:srgbClr val="1565C0"/>
                </a:solidFill>
                <a:latin typeface="Calibri" pitchFamily="34" charset="0"/>
                <a:ea typeface="Calibri" pitchFamily="34" charset="-122"/>
                <a:cs typeface="Calibri" pitchFamily="34" charset="-120"/>
              </a:rPr>
              <a:t>97.48%</a:t>
            </a:r>
            <a:endParaRPr lang="en-US" sz="4800" dirty="0"/>
          </a:p>
        </p:txBody>
      </p:sp>
      <p:sp>
        <p:nvSpPr>
          <p:cNvPr id="14" name="Text 12"/>
          <p:cNvSpPr/>
          <p:nvPr/>
        </p:nvSpPr>
        <p:spPr>
          <a:xfrm>
            <a:off x="4846320" y="1993392"/>
            <a:ext cx="3794760" cy="292608"/>
          </a:xfrm>
          <a:prstGeom prst="rect">
            <a:avLst/>
          </a:prstGeom>
          <a:noFill/>
          <a:ln/>
        </p:spPr>
        <p:txBody>
          <a:bodyPr wrap="square" rtlCol="0" anchor="ctr"/>
          <a:lstStyle/>
          <a:p>
            <a:pPr marL="0" indent="0" algn="ctr">
              <a:buNone/>
            </a:pPr>
            <a:r>
              <a:rPr lang="en-US" sz="1200" b="1" dirty="0">
                <a:solidFill>
                  <a:srgbClr val="37474F"/>
                </a:solidFill>
              </a:rPr>
              <a:t>SVM (RBF) Accuracy</a:t>
            </a:r>
            <a:endParaRPr lang="en-US" sz="1200" dirty="0"/>
          </a:p>
        </p:txBody>
      </p:sp>
      <p:sp>
        <p:nvSpPr>
          <p:cNvPr id="15" name="Shape 13"/>
          <p:cNvSpPr/>
          <p:nvPr/>
        </p:nvSpPr>
        <p:spPr>
          <a:xfrm>
            <a:off x="5852160" y="2286000"/>
            <a:ext cx="1783080" cy="274320"/>
          </a:xfrm>
          <a:prstGeom prst="roundRect">
            <a:avLst>
              <a:gd name="adj" fmla="val 20000"/>
            </a:avLst>
          </a:prstGeom>
          <a:solidFill>
            <a:srgbClr val="1565C0"/>
          </a:solidFill>
          <a:ln w="12700">
            <a:solidFill>
              <a:srgbClr val="1565C0"/>
            </a:solidFill>
            <a:prstDash val="solid"/>
          </a:ln>
        </p:spPr>
      </p:sp>
      <p:sp>
        <p:nvSpPr>
          <p:cNvPr id="16" name="Text 14"/>
          <p:cNvSpPr/>
          <p:nvPr/>
        </p:nvSpPr>
        <p:spPr>
          <a:xfrm>
            <a:off x="5852160" y="2286000"/>
            <a:ext cx="1783080" cy="274320"/>
          </a:xfrm>
          <a:prstGeom prst="rect">
            <a:avLst/>
          </a:prstGeom>
          <a:noFill/>
          <a:ln/>
        </p:spPr>
        <p:txBody>
          <a:bodyPr wrap="square" rtlCol="0" anchor="ctr"/>
          <a:lstStyle/>
          <a:p>
            <a:pPr marL="0" indent="0" algn="ctr">
              <a:buNone/>
            </a:pPr>
            <a:r>
              <a:rPr lang="en-US" sz="900" b="1" dirty="0">
                <a:solidFill>
                  <a:srgbClr val="FFFFFF"/>
                </a:solidFill>
              </a:rPr>
              <a:t>Strong Baseline</a:t>
            </a:r>
            <a:endParaRPr lang="en-US" sz="900" dirty="0"/>
          </a:p>
        </p:txBody>
      </p:sp>
      <p:sp>
        <p:nvSpPr>
          <p:cNvPr id="17" name="Shape 15"/>
          <p:cNvSpPr/>
          <p:nvPr/>
        </p:nvSpPr>
        <p:spPr>
          <a:xfrm>
            <a:off x="274320" y="2743200"/>
            <a:ext cx="8595360" cy="221284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18" name="Shape 16"/>
          <p:cNvSpPr/>
          <p:nvPr/>
        </p:nvSpPr>
        <p:spPr>
          <a:xfrm>
            <a:off x="274320" y="2743200"/>
            <a:ext cx="8595360" cy="411480"/>
          </a:xfrm>
          <a:prstGeom prst="rect">
            <a:avLst/>
          </a:prstGeom>
          <a:solidFill>
            <a:srgbClr val="0A1628"/>
          </a:solidFill>
          <a:ln w="12700">
            <a:solidFill>
              <a:srgbClr val="0A1628"/>
            </a:solidFill>
            <a:prstDash val="solid"/>
          </a:ln>
        </p:spPr>
      </p:sp>
      <p:sp>
        <p:nvSpPr>
          <p:cNvPr id="19" name="Text 17"/>
          <p:cNvSpPr/>
          <p:nvPr/>
        </p:nvSpPr>
        <p:spPr>
          <a:xfrm>
            <a:off x="365760" y="2761488"/>
            <a:ext cx="2011680" cy="365760"/>
          </a:xfrm>
          <a:prstGeom prst="rect">
            <a:avLst/>
          </a:prstGeom>
          <a:noFill/>
          <a:ln/>
        </p:spPr>
        <p:txBody>
          <a:bodyPr wrap="square" rtlCol="0" anchor="ctr"/>
          <a:lstStyle/>
          <a:p>
            <a:pPr marL="0" indent="0" algn="l">
              <a:buNone/>
            </a:pPr>
            <a:r>
              <a:rPr lang="en-US" sz="1100" b="1" dirty="0">
                <a:solidFill>
                  <a:srgbClr val="FFFFFF"/>
                </a:solidFill>
              </a:rPr>
              <a:t>Model</a:t>
            </a:r>
            <a:endParaRPr lang="en-US" sz="1100" dirty="0"/>
          </a:p>
        </p:txBody>
      </p:sp>
      <p:sp>
        <p:nvSpPr>
          <p:cNvPr id="20" name="Text 18"/>
          <p:cNvSpPr/>
          <p:nvPr/>
        </p:nvSpPr>
        <p:spPr>
          <a:xfrm>
            <a:off x="2377440" y="2761488"/>
            <a:ext cx="1645920" cy="365760"/>
          </a:xfrm>
          <a:prstGeom prst="rect">
            <a:avLst/>
          </a:prstGeom>
          <a:noFill/>
          <a:ln/>
        </p:spPr>
        <p:txBody>
          <a:bodyPr wrap="square" rtlCol="0" anchor="ctr"/>
          <a:lstStyle/>
          <a:p>
            <a:pPr marL="0" indent="0" algn="ctr">
              <a:buNone/>
            </a:pPr>
            <a:r>
              <a:rPr lang="en-US" sz="1100" b="1" dirty="0">
                <a:solidFill>
                  <a:srgbClr val="FFFFFF"/>
                </a:solidFill>
              </a:rPr>
              <a:t>Accuracy (%)</a:t>
            </a:r>
            <a:endParaRPr lang="en-US" sz="1100" dirty="0"/>
          </a:p>
        </p:txBody>
      </p:sp>
      <p:sp>
        <p:nvSpPr>
          <p:cNvPr id="21" name="Text 19"/>
          <p:cNvSpPr/>
          <p:nvPr/>
        </p:nvSpPr>
        <p:spPr>
          <a:xfrm>
            <a:off x="4023360" y="2761488"/>
            <a:ext cx="1645920" cy="365760"/>
          </a:xfrm>
          <a:prstGeom prst="rect">
            <a:avLst/>
          </a:prstGeom>
          <a:noFill/>
          <a:ln/>
        </p:spPr>
        <p:txBody>
          <a:bodyPr wrap="square" rtlCol="0" anchor="ctr"/>
          <a:lstStyle/>
          <a:p>
            <a:pPr marL="0" indent="0" algn="ctr">
              <a:buNone/>
            </a:pPr>
            <a:r>
              <a:rPr lang="en-US" sz="1100" b="1" dirty="0">
                <a:solidFill>
                  <a:srgbClr val="FFFFFF"/>
                </a:solidFill>
              </a:rPr>
              <a:t>Precision (%)</a:t>
            </a:r>
            <a:endParaRPr lang="en-US" sz="1100" dirty="0"/>
          </a:p>
        </p:txBody>
      </p:sp>
      <p:sp>
        <p:nvSpPr>
          <p:cNvPr id="22" name="Text 20"/>
          <p:cNvSpPr/>
          <p:nvPr/>
        </p:nvSpPr>
        <p:spPr>
          <a:xfrm>
            <a:off x="5669280" y="2761488"/>
            <a:ext cx="1645920" cy="365760"/>
          </a:xfrm>
          <a:prstGeom prst="rect">
            <a:avLst/>
          </a:prstGeom>
          <a:noFill/>
          <a:ln/>
        </p:spPr>
        <p:txBody>
          <a:bodyPr wrap="square" rtlCol="0" anchor="ctr"/>
          <a:lstStyle/>
          <a:p>
            <a:pPr marL="0" indent="0" algn="ctr">
              <a:buNone/>
            </a:pPr>
            <a:r>
              <a:rPr lang="en-US" sz="1100" b="1" dirty="0">
                <a:solidFill>
                  <a:srgbClr val="FFFFFF"/>
                </a:solidFill>
              </a:rPr>
              <a:t>Recall (%)</a:t>
            </a:r>
            <a:endParaRPr lang="en-US" sz="1100" dirty="0"/>
          </a:p>
        </p:txBody>
      </p:sp>
      <p:sp>
        <p:nvSpPr>
          <p:cNvPr id="23" name="Text 21"/>
          <p:cNvSpPr/>
          <p:nvPr/>
        </p:nvSpPr>
        <p:spPr>
          <a:xfrm>
            <a:off x="7315200" y="2761488"/>
            <a:ext cx="1645920" cy="365760"/>
          </a:xfrm>
          <a:prstGeom prst="rect">
            <a:avLst/>
          </a:prstGeom>
          <a:noFill/>
          <a:ln/>
        </p:spPr>
        <p:txBody>
          <a:bodyPr wrap="square" rtlCol="0" anchor="ctr"/>
          <a:lstStyle/>
          <a:p>
            <a:pPr marL="0" indent="0" algn="ctr">
              <a:buNone/>
            </a:pPr>
            <a:r>
              <a:rPr lang="en-US" sz="1100" b="1" dirty="0">
                <a:solidFill>
                  <a:srgbClr val="FFFFFF"/>
                </a:solidFill>
              </a:rPr>
              <a:t>Weighted F1 (%)</a:t>
            </a:r>
            <a:endParaRPr lang="en-US" sz="1100" dirty="0"/>
          </a:p>
        </p:txBody>
      </p:sp>
      <p:sp>
        <p:nvSpPr>
          <p:cNvPr id="24" name="Shape 22"/>
          <p:cNvSpPr/>
          <p:nvPr/>
        </p:nvSpPr>
        <p:spPr>
          <a:xfrm>
            <a:off x="274320" y="3182112"/>
            <a:ext cx="8595360" cy="621792"/>
          </a:xfrm>
          <a:prstGeom prst="rect">
            <a:avLst/>
          </a:prstGeom>
          <a:solidFill>
            <a:srgbClr val="F0FFF4"/>
          </a:solidFill>
          <a:ln w="12700">
            <a:solidFill>
              <a:srgbClr val="E3EAF5"/>
            </a:solidFill>
            <a:prstDash val="solid"/>
          </a:ln>
        </p:spPr>
      </p:sp>
      <p:sp>
        <p:nvSpPr>
          <p:cNvPr id="25" name="Shape 23"/>
          <p:cNvSpPr/>
          <p:nvPr/>
        </p:nvSpPr>
        <p:spPr>
          <a:xfrm>
            <a:off x="274320" y="3182112"/>
            <a:ext cx="54864" cy="621792"/>
          </a:xfrm>
          <a:prstGeom prst="rect">
            <a:avLst/>
          </a:prstGeom>
          <a:solidFill>
            <a:srgbClr val="00897B"/>
          </a:solidFill>
          <a:ln w="12700">
            <a:solidFill>
              <a:srgbClr val="00897B"/>
            </a:solidFill>
            <a:prstDash val="solid"/>
          </a:ln>
        </p:spPr>
      </p:sp>
      <p:sp>
        <p:nvSpPr>
          <p:cNvPr id="26" name="Text 24"/>
          <p:cNvSpPr/>
          <p:nvPr/>
        </p:nvSpPr>
        <p:spPr>
          <a:xfrm>
            <a:off x="365760" y="3291840"/>
            <a:ext cx="1920240" cy="402336"/>
          </a:xfrm>
          <a:prstGeom prst="rect">
            <a:avLst/>
          </a:prstGeom>
          <a:noFill/>
          <a:ln/>
        </p:spPr>
        <p:txBody>
          <a:bodyPr wrap="square" rtlCol="0" anchor="ctr"/>
          <a:lstStyle/>
          <a:p>
            <a:pPr marL="0" indent="0">
              <a:buNone/>
            </a:pPr>
            <a:r>
              <a:rPr lang="en-US" sz="1150" b="1" dirty="0">
                <a:solidFill>
                  <a:srgbClr val="00897B"/>
                </a:solidFill>
              </a:rPr>
              <a:t>🏆  Random Forest</a:t>
            </a:r>
            <a:endParaRPr lang="en-US" sz="1150" dirty="0"/>
          </a:p>
        </p:txBody>
      </p:sp>
      <p:sp>
        <p:nvSpPr>
          <p:cNvPr id="27" name="Text 25"/>
          <p:cNvSpPr/>
          <p:nvPr/>
        </p:nvSpPr>
        <p:spPr>
          <a:xfrm>
            <a:off x="237744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28" name="Text 26"/>
          <p:cNvSpPr/>
          <p:nvPr/>
        </p:nvSpPr>
        <p:spPr>
          <a:xfrm>
            <a:off x="4023360" y="3291840"/>
            <a:ext cx="1645920" cy="402336"/>
          </a:xfrm>
          <a:prstGeom prst="rect">
            <a:avLst/>
          </a:prstGeom>
          <a:noFill/>
          <a:ln/>
        </p:spPr>
        <p:txBody>
          <a:bodyPr wrap="square" rtlCol="0" anchor="ctr"/>
          <a:lstStyle/>
          <a:p>
            <a:pPr marL="0" indent="0" algn="ctr">
              <a:buNone/>
            </a:pPr>
            <a:r>
              <a:rPr lang="en-US" sz="1300" b="1" dirty="0">
                <a:solidFill>
                  <a:srgbClr val="00897B"/>
                </a:solidFill>
              </a:rPr>
              <a:t>97.62</a:t>
            </a:r>
            <a:endParaRPr lang="en-US" sz="1300" dirty="0"/>
          </a:p>
        </p:txBody>
      </p:sp>
      <p:sp>
        <p:nvSpPr>
          <p:cNvPr id="29" name="Text 27"/>
          <p:cNvSpPr/>
          <p:nvPr/>
        </p:nvSpPr>
        <p:spPr>
          <a:xfrm>
            <a:off x="566928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0" name="Text 28"/>
          <p:cNvSpPr/>
          <p:nvPr/>
        </p:nvSpPr>
        <p:spPr>
          <a:xfrm>
            <a:off x="731520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1" name="Shape 29"/>
          <p:cNvSpPr/>
          <p:nvPr/>
        </p:nvSpPr>
        <p:spPr>
          <a:xfrm>
            <a:off x="274320" y="3840480"/>
            <a:ext cx="8595360" cy="621792"/>
          </a:xfrm>
          <a:prstGeom prst="rect">
            <a:avLst/>
          </a:prstGeom>
          <a:solidFill>
            <a:srgbClr val="FAFAFA"/>
          </a:solidFill>
          <a:ln w="12700">
            <a:solidFill>
              <a:srgbClr val="E3EAF5"/>
            </a:solidFill>
            <a:prstDash val="solid"/>
          </a:ln>
        </p:spPr>
      </p:sp>
      <p:sp>
        <p:nvSpPr>
          <p:cNvPr id="32" name="Text 30"/>
          <p:cNvSpPr/>
          <p:nvPr/>
        </p:nvSpPr>
        <p:spPr>
          <a:xfrm>
            <a:off x="365760" y="3950208"/>
            <a:ext cx="1920240" cy="402336"/>
          </a:xfrm>
          <a:prstGeom prst="rect">
            <a:avLst/>
          </a:prstGeom>
          <a:noFill/>
          <a:ln/>
        </p:spPr>
        <p:txBody>
          <a:bodyPr wrap="square" rtlCol="0" anchor="ctr"/>
          <a:lstStyle/>
          <a:p>
            <a:pPr marL="0" indent="0">
              <a:buNone/>
            </a:pPr>
            <a:r>
              <a:rPr lang="en-US" sz="1150" dirty="0">
                <a:solidFill>
                  <a:srgbClr val="0A1628"/>
                </a:solidFill>
              </a:rPr>
              <a:t>SVM (RBF)</a:t>
            </a:r>
            <a:endParaRPr lang="en-US" sz="1150" dirty="0"/>
          </a:p>
        </p:txBody>
      </p:sp>
      <p:sp>
        <p:nvSpPr>
          <p:cNvPr id="33" name="Text 31"/>
          <p:cNvSpPr/>
          <p:nvPr/>
        </p:nvSpPr>
        <p:spPr>
          <a:xfrm>
            <a:off x="237744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4" name="Text 32"/>
          <p:cNvSpPr/>
          <p:nvPr/>
        </p:nvSpPr>
        <p:spPr>
          <a:xfrm>
            <a:off x="4023360" y="3950208"/>
            <a:ext cx="1645920" cy="402336"/>
          </a:xfrm>
          <a:prstGeom prst="rect">
            <a:avLst/>
          </a:prstGeom>
          <a:noFill/>
          <a:ln/>
        </p:spPr>
        <p:txBody>
          <a:bodyPr wrap="square" rtlCol="0" anchor="ctr"/>
          <a:lstStyle/>
          <a:p>
            <a:pPr marL="0" indent="0" algn="ctr">
              <a:buNone/>
            </a:pPr>
            <a:r>
              <a:rPr lang="en-US" sz="1300" dirty="0">
                <a:solidFill>
                  <a:srgbClr val="0A1628"/>
                </a:solidFill>
              </a:rPr>
              <a:t>97.50</a:t>
            </a:r>
            <a:endParaRPr lang="en-US" sz="1300" dirty="0"/>
          </a:p>
        </p:txBody>
      </p:sp>
      <p:sp>
        <p:nvSpPr>
          <p:cNvPr id="35" name="Text 33"/>
          <p:cNvSpPr/>
          <p:nvPr/>
        </p:nvSpPr>
        <p:spPr>
          <a:xfrm>
            <a:off x="566928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6" name="Text 34"/>
          <p:cNvSpPr/>
          <p:nvPr/>
        </p:nvSpPr>
        <p:spPr>
          <a:xfrm>
            <a:off x="7315200" y="3950208"/>
            <a:ext cx="1645920" cy="402336"/>
          </a:xfrm>
          <a:prstGeom prst="rect">
            <a:avLst/>
          </a:prstGeom>
          <a:noFill/>
          <a:ln/>
        </p:spPr>
        <p:txBody>
          <a:bodyPr wrap="square" rtlCol="0" anchor="ctr"/>
          <a:lstStyle/>
          <a:p>
            <a:pPr marL="0" indent="0" algn="ctr">
              <a:buNone/>
            </a:pPr>
            <a:r>
              <a:rPr lang="en-US" sz="1300" dirty="0">
                <a:solidFill>
                  <a:srgbClr val="0A1628"/>
                </a:solidFill>
              </a:rPr>
              <a:t>97.49</a:t>
            </a:r>
            <a:endParaRPr lang="en-US" sz="1300" dirty="0"/>
          </a:p>
        </p:txBody>
      </p:sp>
      <p:sp>
        <p:nvSpPr>
          <p:cNvPr id="37" name="Text 35"/>
          <p:cNvSpPr/>
          <p:nvPr/>
        </p:nvSpPr>
        <p:spPr>
          <a:xfrm>
            <a:off x="365760" y="4800600"/>
            <a:ext cx="8412480" cy="228600"/>
          </a:xfrm>
          <a:prstGeom prst="rect">
            <a:avLst/>
          </a:prstGeom>
          <a:noFill/>
          <a:ln/>
        </p:spPr>
        <p:txBody>
          <a:bodyPr wrap="square" rtlCol="0" anchor="ctr"/>
          <a:lstStyle/>
          <a:p>
            <a:pPr marL="0" indent="0" algn="ctr">
              <a:buNone/>
            </a:pPr>
            <a:r>
              <a:rPr lang="en-US" sz="850" i="1" dirty="0">
                <a:solidFill>
                  <a:srgbClr val="78909C"/>
                </a:solidFill>
              </a:rPr>
              <a:t>Metric: Accuracy &amp; Weighted F1-Score on held-out 20% test set  •  Stratified split  •  Random Forest selected as final deployment model</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RESULTS: Confusion Matrix &amp; Feature Importance</a:t>
            </a:r>
            <a:endParaRPr lang="en-US" sz="2400" dirty="0"/>
          </a:p>
        </p:txBody>
      </p:sp>
      <p:sp>
        <p:nvSpPr>
          <p:cNvPr id="5" name="Shape 3"/>
          <p:cNvSpPr/>
          <p:nvPr/>
        </p:nvSpPr>
        <p:spPr>
          <a:xfrm>
            <a:off x="128016" y="1064160"/>
            <a:ext cx="416052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6" name="Text 4"/>
          <p:cNvSpPr/>
          <p:nvPr/>
        </p:nvSpPr>
        <p:spPr>
          <a:xfrm>
            <a:off x="365760" y="1207008"/>
            <a:ext cx="3977640" cy="274320"/>
          </a:xfrm>
          <a:prstGeom prst="rect">
            <a:avLst/>
          </a:prstGeom>
          <a:noFill/>
          <a:ln/>
        </p:spPr>
        <p:txBody>
          <a:bodyPr wrap="square" rtlCol="0" anchor="ctr"/>
          <a:lstStyle/>
          <a:p>
            <a:pPr marL="0" indent="0">
              <a:buNone/>
            </a:pPr>
            <a:r>
              <a:rPr lang="en-US" sz="1000" b="1" kern="0" spc="50" dirty="0">
                <a:solidFill>
                  <a:srgbClr val="0A1628"/>
                </a:solidFill>
              </a:rPr>
              <a:t>CONFUSION MATRIX — Random Forest</a:t>
            </a:r>
            <a:endParaRPr lang="en-US" sz="1000" dirty="0"/>
          </a:p>
        </p:txBody>
      </p:sp>
      <p:sp>
        <p:nvSpPr>
          <p:cNvPr id="7" name="Text 5"/>
          <p:cNvSpPr/>
          <p:nvPr/>
        </p:nvSpPr>
        <p:spPr>
          <a:xfrm>
            <a:off x="347472" y="1719072"/>
            <a:ext cx="914400" cy="548640"/>
          </a:xfrm>
          <a:prstGeom prst="rect">
            <a:avLst/>
          </a:prstGeom>
          <a:noFill/>
          <a:ln/>
        </p:spPr>
        <p:txBody>
          <a:bodyPr wrap="square" rtlCol="0" anchor="ctr"/>
          <a:lstStyle/>
          <a:p>
            <a:pPr marL="0" indent="0" algn="r">
              <a:buNone/>
            </a:pPr>
            <a:r>
              <a:rPr lang="en-US" sz="800" dirty="0">
                <a:solidFill>
                  <a:srgbClr val="37474F"/>
                </a:solidFill>
              </a:rPr>
              <a:t>Ball Fault</a:t>
            </a:r>
            <a:endParaRPr lang="en-US" sz="800" dirty="0"/>
          </a:p>
        </p:txBody>
      </p:sp>
      <p:sp>
        <p:nvSpPr>
          <p:cNvPr id="8" name="Text 6"/>
          <p:cNvSpPr/>
          <p:nvPr/>
        </p:nvSpPr>
        <p:spPr>
          <a:xfrm>
            <a:off x="1298448" y="1581912"/>
            <a:ext cx="658368" cy="274320"/>
          </a:xfrm>
          <a:prstGeom prst="rect">
            <a:avLst/>
          </a:prstGeom>
          <a:noFill/>
          <a:ln/>
        </p:spPr>
        <p:txBody>
          <a:bodyPr wrap="square" rtlCol="0" anchor="ctr"/>
          <a:lstStyle/>
          <a:p>
            <a:pPr marL="0" indent="0" algn="ctr">
              <a:buNone/>
            </a:pPr>
            <a:r>
              <a:rPr lang="en-US" sz="750" dirty="0">
                <a:solidFill>
                  <a:srgbClr val="37474F"/>
                </a:solidFill>
              </a:rPr>
              <a:t>Ball Fault</a:t>
            </a:r>
            <a:endParaRPr lang="en-US" sz="750" dirty="0"/>
          </a:p>
        </p:txBody>
      </p:sp>
      <p:sp>
        <p:nvSpPr>
          <p:cNvPr id="9" name="Text 7"/>
          <p:cNvSpPr/>
          <p:nvPr/>
        </p:nvSpPr>
        <p:spPr>
          <a:xfrm>
            <a:off x="347472" y="2377440"/>
            <a:ext cx="914400" cy="548640"/>
          </a:xfrm>
          <a:prstGeom prst="rect">
            <a:avLst/>
          </a:prstGeom>
          <a:noFill/>
          <a:ln/>
        </p:spPr>
        <p:txBody>
          <a:bodyPr wrap="square" rtlCol="0" anchor="ctr"/>
          <a:lstStyle/>
          <a:p>
            <a:pPr marL="0" indent="0" algn="r">
              <a:buNone/>
            </a:pPr>
            <a:r>
              <a:rPr lang="en-US" sz="800" dirty="0">
                <a:solidFill>
                  <a:srgbClr val="37474F"/>
                </a:solidFill>
              </a:rPr>
              <a:t>Inner Race</a:t>
            </a:r>
            <a:endParaRPr lang="en-US" sz="800" dirty="0"/>
          </a:p>
        </p:txBody>
      </p:sp>
      <p:sp>
        <p:nvSpPr>
          <p:cNvPr id="10" name="Text 8"/>
          <p:cNvSpPr/>
          <p:nvPr/>
        </p:nvSpPr>
        <p:spPr>
          <a:xfrm>
            <a:off x="1956816" y="1581912"/>
            <a:ext cx="658368" cy="274320"/>
          </a:xfrm>
          <a:prstGeom prst="rect">
            <a:avLst/>
          </a:prstGeom>
          <a:noFill/>
          <a:ln/>
        </p:spPr>
        <p:txBody>
          <a:bodyPr wrap="square" rtlCol="0" anchor="ctr"/>
          <a:lstStyle/>
          <a:p>
            <a:pPr marL="0" indent="0" algn="ctr">
              <a:buNone/>
            </a:pPr>
            <a:r>
              <a:rPr lang="en-US" sz="750" dirty="0">
                <a:solidFill>
                  <a:srgbClr val="37474F"/>
                </a:solidFill>
              </a:rPr>
              <a:t>Inner Race</a:t>
            </a:r>
            <a:endParaRPr lang="en-US" sz="750" dirty="0"/>
          </a:p>
        </p:txBody>
      </p:sp>
      <p:sp>
        <p:nvSpPr>
          <p:cNvPr id="11" name="Text 9"/>
          <p:cNvSpPr/>
          <p:nvPr/>
        </p:nvSpPr>
        <p:spPr>
          <a:xfrm>
            <a:off x="347472" y="3035808"/>
            <a:ext cx="914400" cy="548640"/>
          </a:xfrm>
          <a:prstGeom prst="rect">
            <a:avLst/>
          </a:prstGeom>
          <a:noFill/>
          <a:ln/>
        </p:spPr>
        <p:txBody>
          <a:bodyPr wrap="square" rtlCol="0" anchor="ctr"/>
          <a:lstStyle/>
          <a:p>
            <a:pPr marL="0" indent="0" algn="r">
              <a:buNone/>
            </a:pPr>
            <a:r>
              <a:rPr lang="en-US" sz="800" dirty="0">
                <a:solidFill>
                  <a:srgbClr val="37474F"/>
                </a:solidFill>
              </a:rPr>
              <a:t>Normal</a:t>
            </a:r>
            <a:endParaRPr lang="en-US" sz="800" dirty="0"/>
          </a:p>
        </p:txBody>
      </p:sp>
      <p:sp>
        <p:nvSpPr>
          <p:cNvPr id="12" name="Text 10"/>
          <p:cNvSpPr/>
          <p:nvPr/>
        </p:nvSpPr>
        <p:spPr>
          <a:xfrm>
            <a:off x="2615184" y="1581912"/>
            <a:ext cx="658368" cy="274320"/>
          </a:xfrm>
          <a:prstGeom prst="rect">
            <a:avLst/>
          </a:prstGeom>
          <a:noFill/>
          <a:ln/>
        </p:spPr>
        <p:txBody>
          <a:bodyPr wrap="square" rtlCol="0" anchor="ctr"/>
          <a:lstStyle/>
          <a:p>
            <a:pPr marL="0" indent="0" algn="ctr">
              <a:buNone/>
            </a:pPr>
            <a:r>
              <a:rPr lang="en-US" sz="750" dirty="0">
                <a:solidFill>
                  <a:srgbClr val="37474F"/>
                </a:solidFill>
              </a:rPr>
              <a:t>Normal</a:t>
            </a:r>
            <a:endParaRPr lang="en-US" sz="750" dirty="0"/>
          </a:p>
        </p:txBody>
      </p:sp>
      <p:sp>
        <p:nvSpPr>
          <p:cNvPr id="13" name="Text 11"/>
          <p:cNvSpPr/>
          <p:nvPr/>
        </p:nvSpPr>
        <p:spPr>
          <a:xfrm>
            <a:off x="347472" y="3694176"/>
            <a:ext cx="914400" cy="548640"/>
          </a:xfrm>
          <a:prstGeom prst="rect">
            <a:avLst/>
          </a:prstGeom>
          <a:noFill/>
          <a:ln/>
        </p:spPr>
        <p:txBody>
          <a:bodyPr wrap="square" rtlCol="0" anchor="ctr"/>
          <a:lstStyle/>
          <a:p>
            <a:pPr marL="0" indent="0" algn="r">
              <a:buNone/>
            </a:pPr>
            <a:r>
              <a:rPr lang="en-US" sz="800" dirty="0">
                <a:solidFill>
                  <a:srgbClr val="37474F"/>
                </a:solidFill>
              </a:rPr>
              <a:t>Outer Race</a:t>
            </a:r>
            <a:endParaRPr lang="en-US" sz="800" dirty="0"/>
          </a:p>
        </p:txBody>
      </p:sp>
      <p:sp>
        <p:nvSpPr>
          <p:cNvPr id="14" name="Text 12"/>
          <p:cNvSpPr/>
          <p:nvPr/>
        </p:nvSpPr>
        <p:spPr>
          <a:xfrm>
            <a:off x="3273552" y="1581912"/>
            <a:ext cx="658368" cy="274320"/>
          </a:xfrm>
          <a:prstGeom prst="rect">
            <a:avLst/>
          </a:prstGeom>
          <a:noFill/>
          <a:ln/>
        </p:spPr>
        <p:txBody>
          <a:bodyPr wrap="square" rtlCol="0" anchor="ctr"/>
          <a:lstStyle/>
          <a:p>
            <a:pPr marL="0" indent="0" algn="ctr">
              <a:buNone/>
            </a:pPr>
            <a:r>
              <a:rPr lang="en-US" sz="750" dirty="0">
                <a:solidFill>
                  <a:srgbClr val="37474F"/>
                </a:solidFill>
              </a:rPr>
              <a:t>Outer Race</a:t>
            </a:r>
            <a:endParaRPr lang="en-US" sz="750" dirty="0"/>
          </a:p>
        </p:txBody>
      </p:sp>
      <p:sp>
        <p:nvSpPr>
          <p:cNvPr id="15" name="Shape 13"/>
          <p:cNvSpPr/>
          <p:nvPr/>
        </p:nvSpPr>
        <p:spPr>
          <a:xfrm>
            <a:off x="1305393" y="1944270"/>
            <a:ext cx="640080" cy="594360"/>
          </a:xfrm>
          <a:prstGeom prst="rect">
            <a:avLst/>
          </a:prstGeom>
          <a:solidFill>
            <a:srgbClr val="1565C0"/>
          </a:solidFill>
          <a:ln w="12700">
            <a:solidFill>
              <a:srgbClr val="E3EAF5"/>
            </a:solidFill>
            <a:prstDash val="solid"/>
          </a:ln>
        </p:spPr>
      </p:sp>
      <p:sp>
        <p:nvSpPr>
          <p:cNvPr id="16" name="Text 14"/>
          <p:cNvSpPr/>
          <p:nvPr/>
        </p:nvSpPr>
        <p:spPr>
          <a:xfrm>
            <a:off x="1298448" y="1719072"/>
            <a:ext cx="640080" cy="594360"/>
          </a:xfrm>
          <a:prstGeom prst="rect">
            <a:avLst/>
          </a:prstGeom>
          <a:noFill/>
          <a:ln/>
        </p:spPr>
        <p:txBody>
          <a:bodyPr wrap="square" rtlCol="0" anchor="ctr"/>
          <a:lstStyle/>
          <a:p>
            <a:pPr marL="0" indent="0" algn="ctr">
              <a:buNone/>
            </a:pPr>
            <a:r>
              <a:rPr lang="en-US" sz="1400" b="1" dirty="0">
                <a:solidFill>
                  <a:srgbClr val="FFFFFF"/>
                </a:solidFill>
              </a:rPr>
              <a:t>558</a:t>
            </a:r>
            <a:endParaRPr lang="en-US" sz="1400" dirty="0"/>
          </a:p>
        </p:txBody>
      </p:sp>
      <p:sp>
        <p:nvSpPr>
          <p:cNvPr id="17" name="Shape 15"/>
          <p:cNvSpPr/>
          <p:nvPr/>
        </p:nvSpPr>
        <p:spPr>
          <a:xfrm>
            <a:off x="1949871" y="1949112"/>
            <a:ext cx="640080" cy="594360"/>
          </a:xfrm>
          <a:prstGeom prst="rect">
            <a:avLst/>
          </a:prstGeom>
          <a:solidFill>
            <a:srgbClr val="FFB3B3"/>
          </a:solidFill>
          <a:ln w="12700">
            <a:solidFill>
              <a:srgbClr val="E3EAF5"/>
            </a:solidFill>
            <a:prstDash val="solid"/>
          </a:ln>
        </p:spPr>
      </p:sp>
      <p:sp>
        <p:nvSpPr>
          <p:cNvPr id="18" name="Text 16"/>
          <p:cNvSpPr/>
          <p:nvPr/>
        </p:nvSpPr>
        <p:spPr>
          <a:xfrm>
            <a:off x="1956816" y="1719072"/>
            <a:ext cx="640080" cy="594360"/>
          </a:xfrm>
          <a:prstGeom prst="rect">
            <a:avLst/>
          </a:prstGeom>
          <a:noFill/>
          <a:ln/>
        </p:spPr>
        <p:txBody>
          <a:bodyPr wrap="square" rtlCol="0" anchor="ctr"/>
          <a:lstStyle/>
          <a:p>
            <a:pPr marL="0" indent="0" algn="ctr">
              <a:buNone/>
            </a:pPr>
            <a:r>
              <a:rPr lang="en-US" sz="1100" dirty="0">
                <a:solidFill>
                  <a:srgbClr val="C62828"/>
                </a:solidFill>
              </a:rPr>
              <a:t>6</a:t>
            </a:r>
            <a:endParaRPr lang="en-US" sz="1100" dirty="0"/>
          </a:p>
        </p:txBody>
      </p:sp>
      <p:sp>
        <p:nvSpPr>
          <p:cNvPr id="19" name="Shape 17"/>
          <p:cNvSpPr/>
          <p:nvPr/>
        </p:nvSpPr>
        <p:spPr>
          <a:xfrm>
            <a:off x="2576409" y="1947096"/>
            <a:ext cx="640080" cy="594360"/>
          </a:xfrm>
          <a:prstGeom prst="rect">
            <a:avLst/>
          </a:prstGeom>
          <a:solidFill>
            <a:srgbClr val="F5F5F5"/>
          </a:solidFill>
          <a:ln w="12700">
            <a:solidFill>
              <a:srgbClr val="E3EAF5"/>
            </a:solidFill>
            <a:prstDash val="solid"/>
          </a:ln>
        </p:spPr>
      </p:sp>
      <p:sp>
        <p:nvSpPr>
          <p:cNvPr id="20" name="Text 18"/>
          <p:cNvSpPr/>
          <p:nvPr/>
        </p:nvSpPr>
        <p:spPr>
          <a:xfrm>
            <a:off x="2615184" y="1719072"/>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1" name="Shape 19"/>
          <p:cNvSpPr/>
          <p:nvPr/>
        </p:nvSpPr>
        <p:spPr>
          <a:xfrm>
            <a:off x="3230031" y="1954170"/>
            <a:ext cx="640080" cy="594360"/>
          </a:xfrm>
          <a:prstGeom prst="rect">
            <a:avLst/>
          </a:prstGeom>
          <a:solidFill>
            <a:srgbClr val="FFB3B3"/>
          </a:solidFill>
          <a:ln w="12700">
            <a:solidFill>
              <a:srgbClr val="E3EAF5"/>
            </a:solidFill>
            <a:prstDash val="solid"/>
          </a:ln>
        </p:spPr>
      </p:sp>
      <p:sp>
        <p:nvSpPr>
          <p:cNvPr id="22" name="Text 20"/>
          <p:cNvSpPr/>
          <p:nvPr/>
        </p:nvSpPr>
        <p:spPr>
          <a:xfrm>
            <a:off x="3273552" y="1719072"/>
            <a:ext cx="640080" cy="594360"/>
          </a:xfrm>
          <a:prstGeom prst="rect">
            <a:avLst/>
          </a:prstGeom>
          <a:noFill/>
          <a:ln/>
        </p:spPr>
        <p:txBody>
          <a:bodyPr wrap="square" rtlCol="0" anchor="ctr"/>
          <a:lstStyle/>
          <a:p>
            <a:pPr marL="0" indent="0" algn="ctr">
              <a:buNone/>
            </a:pPr>
            <a:r>
              <a:rPr lang="en-US" sz="1100" dirty="0">
                <a:solidFill>
                  <a:srgbClr val="C62828"/>
                </a:solidFill>
              </a:rPr>
              <a:t>5</a:t>
            </a:r>
            <a:endParaRPr lang="en-US" sz="1100" dirty="0"/>
          </a:p>
        </p:txBody>
      </p:sp>
      <p:sp>
        <p:nvSpPr>
          <p:cNvPr id="23" name="Shape 21"/>
          <p:cNvSpPr/>
          <p:nvPr/>
        </p:nvSpPr>
        <p:spPr>
          <a:xfrm>
            <a:off x="1298448" y="2579274"/>
            <a:ext cx="640080" cy="594360"/>
          </a:xfrm>
          <a:prstGeom prst="rect">
            <a:avLst/>
          </a:prstGeom>
          <a:solidFill>
            <a:srgbClr val="FFB3B3"/>
          </a:solidFill>
          <a:ln w="12700">
            <a:solidFill>
              <a:srgbClr val="E3EAF5"/>
            </a:solidFill>
            <a:prstDash val="solid"/>
          </a:ln>
        </p:spPr>
      </p:sp>
      <p:sp>
        <p:nvSpPr>
          <p:cNvPr id="24" name="Text 22"/>
          <p:cNvSpPr/>
          <p:nvPr/>
        </p:nvSpPr>
        <p:spPr>
          <a:xfrm>
            <a:off x="1298448" y="2377440"/>
            <a:ext cx="640080" cy="594360"/>
          </a:xfrm>
          <a:prstGeom prst="rect">
            <a:avLst/>
          </a:prstGeom>
          <a:noFill/>
          <a:ln/>
        </p:spPr>
        <p:txBody>
          <a:bodyPr wrap="square" rtlCol="0" anchor="ctr"/>
          <a:lstStyle/>
          <a:p>
            <a:pPr marL="0" indent="0" algn="ctr">
              <a:buNone/>
            </a:pPr>
            <a:r>
              <a:rPr lang="en-US" sz="1100" dirty="0">
                <a:solidFill>
                  <a:srgbClr val="C62828"/>
                </a:solidFill>
              </a:rPr>
              <a:t>14</a:t>
            </a:r>
            <a:endParaRPr lang="en-US" sz="1100" dirty="0"/>
          </a:p>
        </p:txBody>
      </p:sp>
      <p:sp>
        <p:nvSpPr>
          <p:cNvPr id="25" name="Shape 23"/>
          <p:cNvSpPr/>
          <p:nvPr/>
        </p:nvSpPr>
        <p:spPr>
          <a:xfrm>
            <a:off x="1952244" y="2578608"/>
            <a:ext cx="640080" cy="594360"/>
          </a:xfrm>
          <a:prstGeom prst="rect">
            <a:avLst/>
          </a:prstGeom>
          <a:solidFill>
            <a:srgbClr val="1565C0"/>
          </a:solidFill>
          <a:ln w="12700">
            <a:solidFill>
              <a:srgbClr val="E3EAF5"/>
            </a:solidFill>
            <a:prstDash val="solid"/>
          </a:ln>
        </p:spPr>
      </p:sp>
      <p:sp>
        <p:nvSpPr>
          <p:cNvPr id="26" name="Text 24"/>
          <p:cNvSpPr/>
          <p:nvPr/>
        </p:nvSpPr>
        <p:spPr>
          <a:xfrm>
            <a:off x="1956816" y="2377440"/>
            <a:ext cx="640080" cy="594360"/>
          </a:xfrm>
          <a:prstGeom prst="rect">
            <a:avLst/>
          </a:prstGeom>
          <a:noFill/>
          <a:ln/>
        </p:spPr>
        <p:txBody>
          <a:bodyPr wrap="square" rtlCol="0" anchor="ctr"/>
          <a:lstStyle/>
          <a:p>
            <a:pPr marL="0" indent="0" algn="ctr">
              <a:buNone/>
            </a:pPr>
            <a:r>
              <a:rPr lang="en-US" sz="1400" b="1" dirty="0">
                <a:solidFill>
                  <a:srgbClr val="FFFFFF"/>
                </a:solidFill>
              </a:rPr>
              <a:t>606</a:t>
            </a:r>
            <a:endParaRPr lang="en-US" sz="1400" dirty="0"/>
          </a:p>
        </p:txBody>
      </p:sp>
      <p:sp>
        <p:nvSpPr>
          <p:cNvPr id="27" name="Shape 25"/>
          <p:cNvSpPr/>
          <p:nvPr/>
        </p:nvSpPr>
        <p:spPr>
          <a:xfrm>
            <a:off x="2615184" y="2543472"/>
            <a:ext cx="640080" cy="594360"/>
          </a:xfrm>
          <a:prstGeom prst="rect">
            <a:avLst/>
          </a:prstGeom>
          <a:solidFill>
            <a:srgbClr val="F5F5F5"/>
          </a:solidFill>
          <a:ln w="12700">
            <a:solidFill>
              <a:srgbClr val="E3EAF5"/>
            </a:solidFill>
            <a:prstDash val="solid"/>
          </a:ln>
        </p:spPr>
      </p:sp>
      <p:sp>
        <p:nvSpPr>
          <p:cNvPr id="28" name="Text 26"/>
          <p:cNvSpPr/>
          <p:nvPr/>
        </p:nvSpPr>
        <p:spPr>
          <a:xfrm>
            <a:off x="2615184" y="2377440"/>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9" name="Shape 27"/>
          <p:cNvSpPr/>
          <p:nvPr/>
        </p:nvSpPr>
        <p:spPr>
          <a:xfrm>
            <a:off x="3230031" y="2556900"/>
            <a:ext cx="640080" cy="594360"/>
          </a:xfrm>
          <a:prstGeom prst="rect">
            <a:avLst/>
          </a:prstGeom>
          <a:solidFill>
            <a:srgbClr val="FFB3B3"/>
          </a:solidFill>
          <a:ln w="12700">
            <a:solidFill>
              <a:srgbClr val="E3EAF5"/>
            </a:solidFill>
            <a:prstDash val="solid"/>
          </a:ln>
        </p:spPr>
      </p:sp>
      <p:sp>
        <p:nvSpPr>
          <p:cNvPr id="30" name="Text 28"/>
          <p:cNvSpPr/>
          <p:nvPr/>
        </p:nvSpPr>
        <p:spPr>
          <a:xfrm>
            <a:off x="3273552" y="2377440"/>
            <a:ext cx="640080" cy="594360"/>
          </a:xfrm>
          <a:prstGeom prst="rect">
            <a:avLst/>
          </a:prstGeom>
          <a:noFill/>
          <a:ln/>
        </p:spPr>
        <p:txBody>
          <a:bodyPr wrap="square" rtlCol="0" anchor="ctr"/>
          <a:lstStyle/>
          <a:p>
            <a:pPr marL="0" indent="0" algn="ctr">
              <a:buNone/>
            </a:pPr>
            <a:r>
              <a:rPr lang="en-US" sz="1100" dirty="0">
                <a:solidFill>
                  <a:srgbClr val="C62828"/>
                </a:solidFill>
              </a:rPr>
              <a:t>2</a:t>
            </a:r>
            <a:endParaRPr lang="en-US" sz="1100" dirty="0"/>
          </a:p>
        </p:txBody>
      </p:sp>
      <p:sp>
        <p:nvSpPr>
          <p:cNvPr id="31" name="Shape 29"/>
          <p:cNvSpPr/>
          <p:nvPr/>
        </p:nvSpPr>
        <p:spPr>
          <a:xfrm>
            <a:off x="1298448" y="3214116"/>
            <a:ext cx="640080" cy="594360"/>
          </a:xfrm>
          <a:prstGeom prst="rect">
            <a:avLst/>
          </a:prstGeom>
          <a:solidFill>
            <a:srgbClr val="FFB3B3"/>
          </a:solidFill>
          <a:ln w="12700">
            <a:solidFill>
              <a:srgbClr val="E3EAF5"/>
            </a:solidFill>
            <a:prstDash val="solid"/>
          </a:ln>
        </p:spPr>
      </p:sp>
      <p:sp>
        <p:nvSpPr>
          <p:cNvPr id="32" name="Text 30"/>
          <p:cNvSpPr/>
          <p:nvPr/>
        </p:nvSpPr>
        <p:spPr>
          <a:xfrm>
            <a:off x="1298448" y="3035808"/>
            <a:ext cx="640080" cy="594360"/>
          </a:xfrm>
          <a:prstGeom prst="rect">
            <a:avLst/>
          </a:prstGeom>
          <a:noFill/>
          <a:ln/>
        </p:spPr>
        <p:txBody>
          <a:bodyPr wrap="square" rtlCol="0" anchor="ctr"/>
          <a:lstStyle/>
          <a:p>
            <a:pPr marL="0" indent="0" algn="ctr">
              <a:buNone/>
            </a:pPr>
            <a:r>
              <a:rPr lang="en-US" sz="1100" dirty="0">
                <a:solidFill>
                  <a:srgbClr val="C62828"/>
                </a:solidFill>
              </a:rPr>
              <a:t>1</a:t>
            </a:r>
            <a:endParaRPr lang="en-US" sz="1100" dirty="0"/>
          </a:p>
        </p:txBody>
      </p:sp>
      <p:sp>
        <p:nvSpPr>
          <p:cNvPr id="33" name="Shape 31"/>
          <p:cNvSpPr/>
          <p:nvPr/>
        </p:nvSpPr>
        <p:spPr>
          <a:xfrm>
            <a:off x="1929384" y="3187260"/>
            <a:ext cx="640080" cy="594360"/>
          </a:xfrm>
          <a:prstGeom prst="rect">
            <a:avLst/>
          </a:prstGeom>
          <a:solidFill>
            <a:srgbClr val="F5F5F5"/>
          </a:solidFill>
          <a:ln w="12700">
            <a:solidFill>
              <a:srgbClr val="E3EAF5"/>
            </a:solidFill>
            <a:prstDash val="solid"/>
          </a:ln>
        </p:spPr>
      </p:sp>
      <p:sp>
        <p:nvSpPr>
          <p:cNvPr id="34" name="Text 32"/>
          <p:cNvSpPr/>
          <p:nvPr/>
        </p:nvSpPr>
        <p:spPr>
          <a:xfrm>
            <a:off x="1956816"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5" name="Shape 33"/>
          <p:cNvSpPr/>
          <p:nvPr/>
        </p:nvSpPr>
        <p:spPr>
          <a:xfrm>
            <a:off x="2615184" y="3164688"/>
            <a:ext cx="640080" cy="594360"/>
          </a:xfrm>
          <a:prstGeom prst="rect">
            <a:avLst/>
          </a:prstGeom>
          <a:solidFill>
            <a:srgbClr val="1565C0"/>
          </a:solidFill>
          <a:ln w="12700">
            <a:solidFill>
              <a:srgbClr val="E3EAF5"/>
            </a:solidFill>
            <a:prstDash val="solid"/>
          </a:ln>
        </p:spPr>
      </p:sp>
      <p:sp>
        <p:nvSpPr>
          <p:cNvPr id="36" name="Text 34"/>
          <p:cNvSpPr/>
          <p:nvPr/>
        </p:nvSpPr>
        <p:spPr>
          <a:xfrm>
            <a:off x="2615184" y="3035808"/>
            <a:ext cx="640080" cy="594360"/>
          </a:xfrm>
          <a:prstGeom prst="rect">
            <a:avLst/>
          </a:prstGeom>
          <a:noFill/>
          <a:ln/>
        </p:spPr>
        <p:txBody>
          <a:bodyPr wrap="square" rtlCol="0" anchor="ctr"/>
          <a:lstStyle/>
          <a:p>
            <a:pPr marL="0" indent="0" algn="ctr">
              <a:buNone/>
            </a:pPr>
            <a:r>
              <a:rPr lang="en-US" sz="1400" b="1" dirty="0">
                <a:solidFill>
                  <a:srgbClr val="FFFFFF"/>
                </a:solidFill>
              </a:rPr>
              <a:t>187</a:t>
            </a:r>
            <a:endParaRPr lang="en-US" sz="1400" dirty="0"/>
          </a:p>
        </p:txBody>
      </p:sp>
      <p:sp>
        <p:nvSpPr>
          <p:cNvPr id="37" name="Shape 35"/>
          <p:cNvSpPr/>
          <p:nvPr/>
        </p:nvSpPr>
        <p:spPr>
          <a:xfrm>
            <a:off x="3273552" y="3193992"/>
            <a:ext cx="640080" cy="594360"/>
          </a:xfrm>
          <a:prstGeom prst="rect">
            <a:avLst/>
          </a:prstGeom>
          <a:solidFill>
            <a:srgbClr val="F5F5F5"/>
          </a:solidFill>
          <a:ln w="12700">
            <a:solidFill>
              <a:srgbClr val="E3EAF5"/>
            </a:solidFill>
            <a:prstDash val="solid"/>
          </a:ln>
        </p:spPr>
      </p:sp>
      <p:sp>
        <p:nvSpPr>
          <p:cNvPr id="38" name="Text 36"/>
          <p:cNvSpPr/>
          <p:nvPr/>
        </p:nvSpPr>
        <p:spPr>
          <a:xfrm>
            <a:off x="3273552"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9" name="Shape 37"/>
          <p:cNvSpPr/>
          <p:nvPr/>
        </p:nvSpPr>
        <p:spPr>
          <a:xfrm>
            <a:off x="1298448" y="3817188"/>
            <a:ext cx="640080" cy="594360"/>
          </a:xfrm>
          <a:prstGeom prst="rect">
            <a:avLst/>
          </a:prstGeom>
          <a:solidFill>
            <a:srgbClr val="FFB3B3"/>
          </a:solidFill>
          <a:ln w="12700">
            <a:solidFill>
              <a:srgbClr val="E3EAF5"/>
            </a:solidFill>
            <a:prstDash val="solid"/>
          </a:ln>
        </p:spPr>
      </p:sp>
      <p:sp>
        <p:nvSpPr>
          <p:cNvPr id="40" name="Text 38"/>
          <p:cNvSpPr/>
          <p:nvPr/>
        </p:nvSpPr>
        <p:spPr>
          <a:xfrm>
            <a:off x="1298448" y="3694176"/>
            <a:ext cx="640080" cy="594360"/>
          </a:xfrm>
          <a:prstGeom prst="rect">
            <a:avLst/>
          </a:prstGeom>
          <a:noFill/>
          <a:ln/>
        </p:spPr>
        <p:txBody>
          <a:bodyPr wrap="square" rtlCol="0" anchor="ctr"/>
          <a:lstStyle/>
          <a:p>
            <a:pPr marL="0" indent="0" algn="ctr">
              <a:buNone/>
            </a:pPr>
            <a:r>
              <a:rPr lang="en-US" sz="1100" dirty="0">
                <a:solidFill>
                  <a:srgbClr val="C62828"/>
                </a:solidFill>
              </a:rPr>
              <a:t>15</a:t>
            </a:r>
            <a:endParaRPr lang="en-US" sz="1100" dirty="0"/>
          </a:p>
        </p:txBody>
      </p:sp>
      <p:sp>
        <p:nvSpPr>
          <p:cNvPr id="41" name="Shape 39"/>
          <p:cNvSpPr/>
          <p:nvPr/>
        </p:nvSpPr>
        <p:spPr>
          <a:xfrm>
            <a:off x="1956816" y="3801636"/>
            <a:ext cx="640080" cy="594360"/>
          </a:xfrm>
          <a:prstGeom prst="rect">
            <a:avLst/>
          </a:prstGeom>
          <a:solidFill>
            <a:srgbClr val="FFB3B3"/>
          </a:solidFill>
          <a:ln w="12700">
            <a:solidFill>
              <a:srgbClr val="E3EAF5"/>
            </a:solidFill>
            <a:prstDash val="solid"/>
          </a:ln>
        </p:spPr>
      </p:sp>
      <p:sp>
        <p:nvSpPr>
          <p:cNvPr id="42" name="Text 40"/>
          <p:cNvSpPr/>
          <p:nvPr/>
        </p:nvSpPr>
        <p:spPr>
          <a:xfrm>
            <a:off x="1956816" y="3694176"/>
            <a:ext cx="640080" cy="594360"/>
          </a:xfrm>
          <a:prstGeom prst="rect">
            <a:avLst/>
          </a:prstGeom>
          <a:noFill/>
          <a:ln/>
        </p:spPr>
        <p:txBody>
          <a:bodyPr wrap="square" rtlCol="0" anchor="ctr"/>
          <a:lstStyle/>
          <a:p>
            <a:pPr marL="0" indent="0" algn="ctr">
              <a:buNone/>
            </a:pPr>
            <a:r>
              <a:rPr lang="en-US" sz="1100" dirty="0">
                <a:solidFill>
                  <a:srgbClr val="C62828"/>
                </a:solidFill>
              </a:rPr>
              <a:t>4</a:t>
            </a:r>
            <a:endParaRPr lang="en-US" sz="1100" dirty="0"/>
          </a:p>
        </p:txBody>
      </p:sp>
      <p:sp>
        <p:nvSpPr>
          <p:cNvPr id="43" name="Shape 41"/>
          <p:cNvSpPr/>
          <p:nvPr/>
        </p:nvSpPr>
        <p:spPr>
          <a:xfrm>
            <a:off x="2624328" y="3793032"/>
            <a:ext cx="640080" cy="594360"/>
          </a:xfrm>
          <a:prstGeom prst="rect">
            <a:avLst/>
          </a:prstGeom>
          <a:solidFill>
            <a:srgbClr val="F5F5F5"/>
          </a:solidFill>
          <a:ln w="12700">
            <a:solidFill>
              <a:srgbClr val="E3EAF5"/>
            </a:solidFill>
            <a:prstDash val="solid"/>
          </a:ln>
        </p:spPr>
      </p:sp>
      <p:sp>
        <p:nvSpPr>
          <p:cNvPr id="44" name="Text 42"/>
          <p:cNvSpPr/>
          <p:nvPr/>
        </p:nvSpPr>
        <p:spPr>
          <a:xfrm>
            <a:off x="2615184" y="3694176"/>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45" name="Shape 43"/>
          <p:cNvSpPr/>
          <p:nvPr/>
        </p:nvSpPr>
        <p:spPr>
          <a:xfrm>
            <a:off x="3273552" y="3801636"/>
            <a:ext cx="640080" cy="594360"/>
          </a:xfrm>
          <a:prstGeom prst="rect">
            <a:avLst/>
          </a:prstGeom>
          <a:solidFill>
            <a:srgbClr val="1565C0"/>
          </a:solidFill>
          <a:ln w="12700">
            <a:solidFill>
              <a:srgbClr val="E3EAF5"/>
            </a:solidFill>
            <a:prstDash val="solid"/>
          </a:ln>
        </p:spPr>
      </p:sp>
      <p:sp>
        <p:nvSpPr>
          <p:cNvPr id="46" name="Text 44"/>
          <p:cNvSpPr/>
          <p:nvPr/>
        </p:nvSpPr>
        <p:spPr>
          <a:xfrm>
            <a:off x="3273552" y="3694176"/>
            <a:ext cx="640080" cy="594360"/>
          </a:xfrm>
          <a:prstGeom prst="rect">
            <a:avLst/>
          </a:prstGeom>
          <a:noFill/>
          <a:ln/>
        </p:spPr>
        <p:txBody>
          <a:bodyPr wrap="square" rtlCol="0" anchor="ctr"/>
          <a:lstStyle/>
          <a:p>
            <a:pPr marL="0" indent="0" algn="ctr">
              <a:buNone/>
            </a:pPr>
            <a:r>
              <a:rPr lang="en-US" sz="1400" b="1" dirty="0">
                <a:solidFill>
                  <a:srgbClr val="FFFFFF"/>
                </a:solidFill>
              </a:rPr>
              <a:t>550</a:t>
            </a:r>
            <a:endParaRPr lang="en-US" sz="1400" dirty="0"/>
          </a:p>
        </p:txBody>
      </p:sp>
      <p:sp>
        <p:nvSpPr>
          <p:cNvPr id="47" name="Text 45"/>
          <p:cNvSpPr/>
          <p:nvPr/>
        </p:nvSpPr>
        <p:spPr>
          <a:xfrm rot="16200000">
            <a:off x="85827" y="2547645"/>
            <a:ext cx="512064" cy="1268933"/>
          </a:xfrm>
          <a:prstGeom prst="rect">
            <a:avLst/>
          </a:prstGeom>
          <a:noFill/>
          <a:ln/>
        </p:spPr>
        <p:txBody>
          <a:bodyPr wrap="square" rtlCol="0" anchor="ctr"/>
          <a:lstStyle/>
          <a:p>
            <a:pPr marL="0" indent="0" algn="ctr">
              <a:buNone/>
            </a:pPr>
            <a:r>
              <a:rPr lang="en-US" sz="800" dirty="0">
                <a:solidFill>
                  <a:srgbClr val="37474F"/>
                </a:solidFill>
              </a:rPr>
              <a:t> True Label</a:t>
            </a:r>
            <a:endParaRPr lang="en-US" sz="800" dirty="0"/>
          </a:p>
        </p:txBody>
      </p:sp>
      <p:sp>
        <p:nvSpPr>
          <p:cNvPr id="48" name="Text 46"/>
          <p:cNvSpPr/>
          <p:nvPr/>
        </p:nvSpPr>
        <p:spPr>
          <a:xfrm>
            <a:off x="1371600" y="4407408"/>
            <a:ext cx="2468880" cy="274320"/>
          </a:xfrm>
          <a:prstGeom prst="rect">
            <a:avLst/>
          </a:prstGeom>
          <a:noFill/>
          <a:ln/>
        </p:spPr>
        <p:txBody>
          <a:bodyPr wrap="square" rtlCol="0" anchor="ctr"/>
          <a:lstStyle/>
          <a:p>
            <a:pPr marL="0" indent="0" algn="ctr">
              <a:buNone/>
            </a:pPr>
            <a:r>
              <a:rPr lang="en-US" sz="800" dirty="0">
                <a:solidFill>
                  <a:srgbClr val="37474F"/>
                </a:solidFill>
              </a:rPr>
              <a:t>Predicted Label</a:t>
            </a:r>
            <a:endParaRPr lang="en-US" sz="800" dirty="0"/>
          </a:p>
        </p:txBody>
      </p:sp>
      <p:sp>
        <p:nvSpPr>
          <p:cNvPr id="49" name="Shape 47"/>
          <p:cNvSpPr/>
          <p:nvPr/>
        </p:nvSpPr>
        <p:spPr>
          <a:xfrm>
            <a:off x="4663440" y="1143000"/>
            <a:ext cx="429768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50" name="Text 48"/>
          <p:cNvSpPr/>
          <p:nvPr/>
        </p:nvSpPr>
        <p:spPr>
          <a:xfrm>
            <a:off x="4754880" y="1207008"/>
            <a:ext cx="4114800" cy="274320"/>
          </a:xfrm>
          <a:prstGeom prst="rect">
            <a:avLst/>
          </a:prstGeom>
          <a:noFill/>
          <a:ln/>
        </p:spPr>
        <p:txBody>
          <a:bodyPr wrap="square" rtlCol="0" anchor="ctr"/>
          <a:lstStyle/>
          <a:p>
            <a:pPr marL="0" indent="0">
              <a:buNone/>
            </a:pPr>
            <a:r>
              <a:rPr lang="en-US" sz="950" b="1" kern="0" spc="50" dirty="0">
                <a:solidFill>
                  <a:srgbClr val="0A1628"/>
                </a:solidFill>
              </a:rPr>
              <a:t>TOP FEATURE IMPORTANCES — Random Forest</a:t>
            </a:r>
            <a:endParaRPr lang="en-US" sz="950" dirty="0"/>
          </a:p>
        </p:txBody>
      </p:sp>
      <p:sp>
        <p:nvSpPr>
          <p:cNvPr id="51" name="Text 49"/>
          <p:cNvSpPr/>
          <p:nvPr/>
        </p:nvSpPr>
        <p:spPr>
          <a:xfrm>
            <a:off x="4754880" y="1636776"/>
            <a:ext cx="1234440" cy="274320"/>
          </a:xfrm>
          <a:prstGeom prst="rect">
            <a:avLst/>
          </a:prstGeom>
          <a:noFill/>
          <a:ln/>
        </p:spPr>
        <p:txBody>
          <a:bodyPr wrap="square" rtlCol="0" anchor="ctr"/>
          <a:lstStyle/>
          <a:p>
            <a:pPr marL="0" indent="0" algn="r">
              <a:buNone/>
            </a:pPr>
            <a:r>
              <a:rPr lang="en-US" sz="900" dirty="0">
                <a:solidFill>
                  <a:srgbClr val="37474F"/>
                </a:solidFill>
              </a:rPr>
              <a:t>Spectral Mean</a:t>
            </a:r>
            <a:endParaRPr lang="en-US" sz="900" dirty="0"/>
          </a:p>
        </p:txBody>
      </p:sp>
      <p:sp>
        <p:nvSpPr>
          <p:cNvPr id="52" name="Shape 50"/>
          <p:cNvSpPr/>
          <p:nvPr/>
        </p:nvSpPr>
        <p:spPr>
          <a:xfrm>
            <a:off x="6035040" y="1645920"/>
            <a:ext cx="2926080" cy="256032"/>
          </a:xfrm>
          <a:prstGeom prst="rect">
            <a:avLst/>
          </a:prstGeom>
          <a:solidFill>
            <a:srgbClr val="00897B"/>
          </a:solidFill>
          <a:ln w="12700">
            <a:solidFill>
              <a:srgbClr val="000000"/>
            </a:solidFill>
            <a:prstDash val="solid"/>
          </a:ln>
        </p:spPr>
      </p:sp>
      <p:sp>
        <p:nvSpPr>
          <p:cNvPr id="53" name="Text 51"/>
          <p:cNvSpPr/>
          <p:nvPr/>
        </p:nvSpPr>
        <p:spPr>
          <a:xfrm>
            <a:off x="9006840" y="1645920"/>
            <a:ext cx="457200" cy="256032"/>
          </a:xfrm>
          <a:prstGeom prst="rect">
            <a:avLst/>
          </a:prstGeom>
          <a:noFill/>
          <a:ln/>
        </p:spPr>
        <p:txBody>
          <a:bodyPr wrap="square" rtlCol="0" anchor="ctr"/>
          <a:lstStyle/>
          <a:p>
            <a:pPr marL="0" indent="0">
              <a:buNone/>
            </a:pPr>
            <a:r>
              <a:rPr lang="en-US" sz="900" dirty="0">
                <a:solidFill>
                  <a:srgbClr val="37474F"/>
                </a:solidFill>
              </a:rPr>
              <a:t>0.158</a:t>
            </a:r>
            <a:endParaRPr lang="en-US" sz="900" dirty="0"/>
          </a:p>
        </p:txBody>
      </p:sp>
      <p:sp>
        <p:nvSpPr>
          <p:cNvPr id="54" name="Text 52"/>
          <p:cNvSpPr/>
          <p:nvPr/>
        </p:nvSpPr>
        <p:spPr>
          <a:xfrm>
            <a:off x="4754880" y="2020824"/>
            <a:ext cx="1234440" cy="274320"/>
          </a:xfrm>
          <a:prstGeom prst="rect">
            <a:avLst/>
          </a:prstGeom>
          <a:noFill/>
          <a:ln/>
        </p:spPr>
        <p:txBody>
          <a:bodyPr wrap="square" rtlCol="0" anchor="ctr"/>
          <a:lstStyle/>
          <a:p>
            <a:pPr marL="0" indent="0" algn="r">
              <a:buNone/>
            </a:pPr>
            <a:r>
              <a:rPr lang="en-US" sz="900" dirty="0">
                <a:solidFill>
                  <a:srgbClr val="37474F"/>
                </a:solidFill>
              </a:rPr>
              <a:t>Impulse Factor</a:t>
            </a:r>
            <a:endParaRPr lang="en-US" sz="900" dirty="0"/>
          </a:p>
        </p:txBody>
      </p:sp>
      <p:sp>
        <p:nvSpPr>
          <p:cNvPr id="55" name="Shape 53"/>
          <p:cNvSpPr/>
          <p:nvPr/>
        </p:nvSpPr>
        <p:spPr>
          <a:xfrm>
            <a:off x="6035040" y="2029968"/>
            <a:ext cx="1814910" cy="256032"/>
          </a:xfrm>
          <a:prstGeom prst="rect">
            <a:avLst/>
          </a:prstGeom>
          <a:solidFill>
            <a:srgbClr val="1565C0"/>
          </a:solidFill>
          <a:ln w="12700">
            <a:solidFill>
              <a:srgbClr val="000000"/>
            </a:solidFill>
            <a:prstDash val="solid"/>
          </a:ln>
        </p:spPr>
      </p:sp>
      <p:sp>
        <p:nvSpPr>
          <p:cNvPr id="56" name="Text 54"/>
          <p:cNvSpPr/>
          <p:nvPr/>
        </p:nvSpPr>
        <p:spPr>
          <a:xfrm>
            <a:off x="7895670" y="2029968"/>
            <a:ext cx="457200" cy="256032"/>
          </a:xfrm>
          <a:prstGeom prst="rect">
            <a:avLst/>
          </a:prstGeom>
          <a:noFill/>
          <a:ln/>
        </p:spPr>
        <p:txBody>
          <a:bodyPr wrap="square" rtlCol="0" anchor="ctr"/>
          <a:lstStyle/>
          <a:p>
            <a:pPr marL="0" indent="0">
              <a:buNone/>
            </a:pPr>
            <a:r>
              <a:rPr lang="en-US" sz="900" dirty="0">
                <a:solidFill>
                  <a:srgbClr val="37474F"/>
                </a:solidFill>
              </a:rPr>
              <a:t>0.098</a:t>
            </a:r>
            <a:endParaRPr lang="en-US" sz="900" dirty="0"/>
          </a:p>
        </p:txBody>
      </p:sp>
      <p:sp>
        <p:nvSpPr>
          <p:cNvPr id="57" name="Text 55"/>
          <p:cNvSpPr/>
          <p:nvPr/>
        </p:nvSpPr>
        <p:spPr>
          <a:xfrm>
            <a:off x="4754880" y="2404872"/>
            <a:ext cx="1234440" cy="274320"/>
          </a:xfrm>
          <a:prstGeom prst="rect">
            <a:avLst/>
          </a:prstGeom>
          <a:noFill/>
          <a:ln/>
        </p:spPr>
        <p:txBody>
          <a:bodyPr wrap="square" rtlCol="0" anchor="ctr"/>
          <a:lstStyle/>
          <a:p>
            <a:pPr marL="0" indent="0" algn="r">
              <a:buNone/>
            </a:pPr>
            <a:r>
              <a:rPr lang="en-US" sz="900" dirty="0">
                <a:solidFill>
                  <a:srgbClr val="37474F"/>
                </a:solidFill>
              </a:rPr>
              <a:t>Std Deviation</a:t>
            </a:r>
            <a:endParaRPr lang="en-US" sz="900" dirty="0"/>
          </a:p>
        </p:txBody>
      </p:sp>
      <p:sp>
        <p:nvSpPr>
          <p:cNvPr id="58" name="Shape 56"/>
          <p:cNvSpPr/>
          <p:nvPr/>
        </p:nvSpPr>
        <p:spPr>
          <a:xfrm>
            <a:off x="6035040" y="2414016"/>
            <a:ext cx="1703793" cy="256032"/>
          </a:xfrm>
          <a:prstGeom prst="rect">
            <a:avLst/>
          </a:prstGeom>
          <a:solidFill>
            <a:srgbClr val="1565C0"/>
          </a:solidFill>
          <a:ln w="12700">
            <a:solidFill>
              <a:srgbClr val="000000"/>
            </a:solidFill>
            <a:prstDash val="solid"/>
          </a:ln>
        </p:spPr>
      </p:sp>
      <p:sp>
        <p:nvSpPr>
          <p:cNvPr id="59" name="Text 57"/>
          <p:cNvSpPr/>
          <p:nvPr/>
        </p:nvSpPr>
        <p:spPr>
          <a:xfrm>
            <a:off x="7784553" y="2414016"/>
            <a:ext cx="457200" cy="256032"/>
          </a:xfrm>
          <a:prstGeom prst="rect">
            <a:avLst/>
          </a:prstGeom>
          <a:noFill/>
          <a:ln/>
        </p:spPr>
        <p:txBody>
          <a:bodyPr wrap="square" rtlCol="0" anchor="ctr"/>
          <a:lstStyle/>
          <a:p>
            <a:pPr marL="0" indent="0">
              <a:buNone/>
            </a:pPr>
            <a:r>
              <a:rPr lang="en-US" sz="900" dirty="0">
                <a:solidFill>
                  <a:srgbClr val="37474F"/>
                </a:solidFill>
              </a:rPr>
              <a:t>0.092</a:t>
            </a:r>
            <a:endParaRPr lang="en-US" sz="900" dirty="0"/>
          </a:p>
        </p:txBody>
      </p:sp>
      <p:sp>
        <p:nvSpPr>
          <p:cNvPr id="60" name="Text 58"/>
          <p:cNvSpPr/>
          <p:nvPr/>
        </p:nvSpPr>
        <p:spPr>
          <a:xfrm>
            <a:off x="4754880" y="2788920"/>
            <a:ext cx="1234440" cy="274320"/>
          </a:xfrm>
          <a:prstGeom prst="rect">
            <a:avLst/>
          </a:prstGeom>
          <a:noFill/>
          <a:ln/>
        </p:spPr>
        <p:txBody>
          <a:bodyPr wrap="square" rtlCol="0" anchor="ctr"/>
          <a:lstStyle/>
          <a:p>
            <a:pPr marL="0" indent="0" algn="r">
              <a:buNone/>
            </a:pPr>
            <a:r>
              <a:rPr lang="en-US" sz="900" dirty="0">
                <a:solidFill>
                  <a:srgbClr val="37474F"/>
                </a:solidFill>
              </a:rPr>
              <a:t>Freq. Variation</a:t>
            </a:r>
            <a:endParaRPr lang="en-US" sz="900" dirty="0"/>
          </a:p>
        </p:txBody>
      </p:sp>
      <p:sp>
        <p:nvSpPr>
          <p:cNvPr id="61" name="Shape 59"/>
          <p:cNvSpPr/>
          <p:nvPr/>
        </p:nvSpPr>
        <p:spPr>
          <a:xfrm>
            <a:off x="6035040" y="2798064"/>
            <a:ext cx="1629715" cy="256032"/>
          </a:xfrm>
          <a:prstGeom prst="rect">
            <a:avLst/>
          </a:prstGeom>
          <a:solidFill>
            <a:srgbClr val="1565C0"/>
          </a:solidFill>
          <a:ln w="12700">
            <a:solidFill>
              <a:srgbClr val="000000"/>
            </a:solidFill>
            <a:prstDash val="solid"/>
          </a:ln>
        </p:spPr>
      </p:sp>
      <p:sp>
        <p:nvSpPr>
          <p:cNvPr id="62" name="Text 60"/>
          <p:cNvSpPr/>
          <p:nvPr/>
        </p:nvSpPr>
        <p:spPr>
          <a:xfrm>
            <a:off x="7710475" y="2798064"/>
            <a:ext cx="457200" cy="256032"/>
          </a:xfrm>
          <a:prstGeom prst="rect">
            <a:avLst/>
          </a:prstGeom>
          <a:noFill/>
          <a:ln/>
        </p:spPr>
        <p:txBody>
          <a:bodyPr wrap="square" rtlCol="0" anchor="ctr"/>
          <a:lstStyle/>
          <a:p>
            <a:pPr marL="0" indent="0">
              <a:buNone/>
            </a:pPr>
            <a:r>
              <a:rPr lang="en-US" sz="900" dirty="0">
                <a:solidFill>
                  <a:srgbClr val="37474F"/>
                </a:solidFill>
              </a:rPr>
              <a:t>0.088</a:t>
            </a:r>
            <a:endParaRPr lang="en-US" sz="900" dirty="0"/>
          </a:p>
        </p:txBody>
      </p:sp>
      <p:sp>
        <p:nvSpPr>
          <p:cNvPr id="63" name="Text 61"/>
          <p:cNvSpPr/>
          <p:nvPr/>
        </p:nvSpPr>
        <p:spPr>
          <a:xfrm>
            <a:off x="4754880" y="3172968"/>
            <a:ext cx="1234440" cy="274320"/>
          </a:xfrm>
          <a:prstGeom prst="rect">
            <a:avLst/>
          </a:prstGeom>
          <a:noFill/>
          <a:ln/>
        </p:spPr>
        <p:txBody>
          <a:bodyPr wrap="square" rtlCol="0" anchor="ctr"/>
          <a:lstStyle/>
          <a:p>
            <a:pPr marL="0" indent="0" algn="r">
              <a:buNone/>
            </a:pPr>
            <a:r>
              <a:rPr lang="en-US" sz="900" dirty="0">
                <a:solidFill>
                  <a:srgbClr val="37474F"/>
                </a:solidFill>
              </a:rPr>
              <a:t>Max Absolute</a:t>
            </a:r>
            <a:endParaRPr lang="en-US" sz="900" dirty="0"/>
          </a:p>
        </p:txBody>
      </p:sp>
      <p:sp>
        <p:nvSpPr>
          <p:cNvPr id="64" name="Shape 62"/>
          <p:cNvSpPr/>
          <p:nvPr/>
        </p:nvSpPr>
        <p:spPr>
          <a:xfrm>
            <a:off x="6035040" y="3182112"/>
            <a:ext cx="1518598" cy="256032"/>
          </a:xfrm>
          <a:prstGeom prst="rect">
            <a:avLst/>
          </a:prstGeom>
          <a:solidFill>
            <a:srgbClr val="1565C0"/>
          </a:solidFill>
          <a:ln w="12700">
            <a:solidFill>
              <a:srgbClr val="000000"/>
            </a:solidFill>
            <a:prstDash val="solid"/>
          </a:ln>
        </p:spPr>
      </p:sp>
      <p:sp>
        <p:nvSpPr>
          <p:cNvPr id="65" name="Text 63"/>
          <p:cNvSpPr/>
          <p:nvPr/>
        </p:nvSpPr>
        <p:spPr>
          <a:xfrm>
            <a:off x="7599358" y="3182112"/>
            <a:ext cx="457200" cy="256032"/>
          </a:xfrm>
          <a:prstGeom prst="rect">
            <a:avLst/>
          </a:prstGeom>
          <a:noFill/>
          <a:ln/>
        </p:spPr>
        <p:txBody>
          <a:bodyPr wrap="square" rtlCol="0" anchor="ctr"/>
          <a:lstStyle/>
          <a:p>
            <a:pPr marL="0" indent="0">
              <a:buNone/>
            </a:pPr>
            <a:r>
              <a:rPr lang="en-US" sz="900" dirty="0">
                <a:solidFill>
                  <a:srgbClr val="37474F"/>
                </a:solidFill>
              </a:rPr>
              <a:t>0.082</a:t>
            </a:r>
            <a:endParaRPr lang="en-US" sz="900" dirty="0"/>
          </a:p>
        </p:txBody>
      </p:sp>
      <p:sp>
        <p:nvSpPr>
          <p:cNvPr id="66" name="Text 64"/>
          <p:cNvSpPr/>
          <p:nvPr/>
        </p:nvSpPr>
        <p:spPr>
          <a:xfrm>
            <a:off x="4754880" y="3557016"/>
            <a:ext cx="1234440" cy="274320"/>
          </a:xfrm>
          <a:prstGeom prst="rect">
            <a:avLst/>
          </a:prstGeom>
          <a:noFill/>
          <a:ln/>
        </p:spPr>
        <p:txBody>
          <a:bodyPr wrap="square" rtlCol="0" anchor="ctr"/>
          <a:lstStyle/>
          <a:p>
            <a:pPr marL="0" indent="0" algn="r">
              <a:buNone/>
            </a:pPr>
            <a:r>
              <a:rPr lang="en-US" sz="900" dirty="0">
                <a:solidFill>
                  <a:srgbClr val="37474F"/>
                </a:solidFill>
              </a:rPr>
              <a:t>RMS</a:t>
            </a:r>
            <a:endParaRPr lang="en-US" sz="900" dirty="0"/>
          </a:p>
        </p:txBody>
      </p:sp>
      <p:sp>
        <p:nvSpPr>
          <p:cNvPr id="67" name="Shape 65"/>
          <p:cNvSpPr/>
          <p:nvPr/>
        </p:nvSpPr>
        <p:spPr>
          <a:xfrm>
            <a:off x="6035040" y="3566160"/>
            <a:ext cx="1388962" cy="256032"/>
          </a:xfrm>
          <a:prstGeom prst="rect">
            <a:avLst/>
          </a:prstGeom>
          <a:solidFill>
            <a:srgbClr val="1565C0"/>
          </a:solidFill>
          <a:ln w="12700">
            <a:solidFill>
              <a:srgbClr val="000000"/>
            </a:solidFill>
            <a:prstDash val="solid"/>
          </a:ln>
        </p:spPr>
      </p:sp>
      <p:sp>
        <p:nvSpPr>
          <p:cNvPr id="68" name="Text 66"/>
          <p:cNvSpPr/>
          <p:nvPr/>
        </p:nvSpPr>
        <p:spPr>
          <a:xfrm>
            <a:off x="7469722" y="3566160"/>
            <a:ext cx="457200" cy="256032"/>
          </a:xfrm>
          <a:prstGeom prst="rect">
            <a:avLst/>
          </a:prstGeom>
          <a:noFill/>
          <a:ln/>
        </p:spPr>
        <p:txBody>
          <a:bodyPr wrap="square" rtlCol="0" anchor="ctr"/>
          <a:lstStyle/>
          <a:p>
            <a:pPr marL="0" indent="0">
              <a:buNone/>
            </a:pPr>
            <a:r>
              <a:rPr lang="en-US" sz="900" dirty="0">
                <a:solidFill>
                  <a:srgbClr val="37474F"/>
                </a:solidFill>
              </a:rPr>
              <a:t>0.075</a:t>
            </a:r>
            <a:endParaRPr lang="en-US" sz="900" dirty="0"/>
          </a:p>
        </p:txBody>
      </p:sp>
      <p:sp>
        <p:nvSpPr>
          <p:cNvPr id="69" name="Text 67"/>
          <p:cNvSpPr/>
          <p:nvPr/>
        </p:nvSpPr>
        <p:spPr>
          <a:xfrm>
            <a:off x="4754880" y="3941064"/>
            <a:ext cx="1234440" cy="274320"/>
          </a:xfrm>
          <a:prstGeom prst="rect">
            <a:avLst/>
          </a:prstGeom>
          <a:noFill/>
          <a:ln/>
        </p:spPr>
        <p:txBody>
          <a:bodyPr wrap="square" rtlCol="0" anchor="ctr"/>
          <a:lstStyle/>
          <a:p>
            <a:pPr marL="0" indent="0" algn="r">
              <a:buNone/>
            </a:pPr>
            <a:r>
              <a:rPr lang="en-US" sz="900" dirty="0">
                <a:solidFill>
                  <a:srgbClr val="37474F"/>
                </a:solidFill>
              </a:rPr>
              <a:t>Mean Abs Dev</a:t>
            </a:r>
            <a:endParaRPr lang="en-US" sz="900" dirty="0"/>
          </a:p>
        </p:txBody>
      </p:sp>
      <p:sp>
        <p:nvSpPr>
          <p:cNvPr id="70" name="Shape 68"/>
          <p:cNvSpPr/>
          <p:nvPr/>
        </p:nvSpPr>
        <p:spPr>
          <a:xfrm>
            <a:off x="6035040" y="3950208"/>
            <a:ext cx="1203767" cy="256032"/>
          </a:xfrm>
          <a:prstGeom prst="rect">
            <a:avLst/>
          </a:prstGeom>
          <a:solidFill>
            <a:srgbClr val="1565C0"/>
          </a:solidFill>
          <a:ln w="12700">
            <a:solidFill>
              <a:srgbClr val="000000"/>
            </a:solidFill>
            <a:prstDash val="solid"/>
          </a:ln>
        </p:spPr>
      </p:sp>
      <p:sp>
        <p:nvSpPr>
          <p:cNvPr id="71" name="Text 69"/>
          <p:cNvSpPr/>
          <p:nvPr/>
        </p:nvSpPr>
        <p:spPr>
          <a:xfrm>
            <a:off x="7284527" y="3950208"/>
            <a:ext cx="457200" cy="256032"/>
          </a:xfrm>
          <a:prstGeom prst="rect">
            <a:avLst/>
          </a:prstGeom>
          <a:noFill/>
          <a:ln/>
        </p:spPr>
        <p:txBody>
          <a:bodyPr wrap="square" rtlCol="0" anchor="ctr"/>
          <a:lstStyle/>
          <a:p>
            <a:pPr marL="0" indent="0">
              <a:buNone/>
            </a:pPr>
            <a:r>
              <a:rPr lang="en-US" sz="900" dirty="0">
                <a:solidFill>
                  <a:srgbClr val="37474F"/>
                </a:solidFill>
              </a:rPr>
              <a:t>0.065</a:t>
            </a:r>
            <a:endParaRPr lang="en-US" sz="900" dirty="0"/>
          </a:p>
        </p:txBody>
      </p:sp>
      <p:sp>
        <p:nvSpPr>
          <p:cNvPr id="72" name="Text 70"/>
          <p:cNvSpPr/>
          <p:nvPr/>
        </p:nvSpPr>
        <p:spPr>
          <a:xfrm>
            <a:off x="4754880" y="4325112"/>
            <a:ext cx="1234440" cy="274320"/>
          </a:xfrm>
          <a:prstGeom prst="rect">
            <a:avLst/>
          </a:prstGeom>
          <a:noFill/>
          <a:ln/>
        </p:spPr>
        <p:txBody>
          <a:bodyPr wrap="square" rtlCol="0" anchor="ctr"/>
          <a:lstStyle/>
          <a:p>
            <a:pPr marL="0" indent="0" algn="r">
              <a:buNone/>
            </a:pPr>
            <a:r>
              <a:rPr lang="en-US" sz="900" dirty="0">
                <a:solidFill>
                  <a:srgbClr val="37474F"/>
                </a:solidFill>
              </a:rPr>
              <a:t>Spectral Std</a:t>
            </a:r>
            <a:endParaRPr lang="en-US" sz="900" dirty="0"/>
          </a:p>
        </p:txBody>
      </p:sp>
      <p:sp>
        <p:nvSpPr>
          <p:cNvPr id="73" name="Shape 71"/>
          <p:cNvSpPr/>
          <p:nvPr/>
        </p:nvSpPr>
        <p:spPr>
          <a:xfrm>
            <a:off x="6035040" y="4334256"/>
            <a:ext cx="1018572" cy="256032"/>
          </a:xfrm>
          <a:prstGeom prst="rect">
            <a:avLst/>
          </a:prstGeom>
          <a:solidFill>
            <a:srgbClr val="1565C0"/>
          </a:solidFill>
          <a:ln w="12700">
            <a:solidFill>
              <a:srgbClr val="000000"/>
            </a:solidFill>
            <a:prstDash val="solid"/>
          </a:ln>
        </p:spPr>
      </p:sp>
      <p:sp>
        <p:nvSpPr>
          <p:cNvPr id="74" name="Text 72"/>
          <p:cNvSpPr/>
          <p:nvPr/>
        </p:nvSpPr>
        <p:spPr>
          <a:xfrm>
            <a:off x="7099332" y="4334256"/>
            <a:ext cx="457200" cy="256032"/>
          </a:xfrm>
          <a:prstGeom prst="rect">
            <a:avLst/>
          </a:prstGeom>
          <a:noFill/>
          <a:ln/>
        </p:spPr>
        <p:txBody>
          <a:bodyPr wrap="square" rtlCol="0" anchor="ctr"/>
          <a:lstStyle/>
          <a:p>
            <a:pPr marL="0" indent="0">
              <a:buNone/>
            </a:pPr>
            <a:r>
              <a:rPr lang="en-US" sz="900" dirty="0">
                <a:solidFill>
                  <a:srgbClr val="37474F"/>
                </a:solidFill>
              </a:rPr>
              <a:t>0.055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D2547"/>
          </a:solidFill>
          <a:ln w="12700">
            <a:solidFill>
              <a:srgbClr val="0D2547"/>
            </a:solidFill>
            <a:prstDash val="solid"/>
          </a:ln>
        </p:spPr>
      </p:sp>
      <p:sp>
        <p:nvSpPr>
          <p:cNvPr id="3" name="Shape 1"/>
          <p:cNvSpPr/>
          <p:nvPr/>
        </p:nvSpPr>
        <p:spPr>
          <a:xfrm>
            <a:off x="5486400" y="2743200"/>
            <a:ext cx="4572000" cy="4572000"/>
          </a:xfrm>
          <a:prstGeom prst="ellipse">
            <a:avLst/>
          </a:prstGeom>
          <a:solidFill>
            <a:srgbClr val="0D2547"/>
          </a:solidFill>
          <a:ln w="12700">
            <a:solidFill>
              <a:srgbClr val="0D2547"/>
            </a:solidFill>
            <a:prstDash val="solid"/>
          </a:ln>
        </p:spPr>
      </p:sp>
      <p:sp>
        <p:nvSpPr>
          <p:cNvPr id="4" name="Text 2"/>
          <p:cNvSpPr/>
          <p:nvPr/>
        </p:nvSpPr>
        <p:spPr>
          <a:xfrm>
            <a:off x="914400" y="274320"/>
            <a:ext cx="7315200" cy="64008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SUMMARY &amp;</a:t>
            </a:r>
            <a:endParaRPr lang="en-US" sz="4200" dirty="0"/>
          </a:p>
        </p:txBody>
      </p:sp>
      <p:sp>
        <p:nvSpPr>
          <p:cNvPr id="5" name="Text 3"/>
          <p:cNvSpPr/>
          <p:nvPr/>
        </p:nvSpPr>
        <p:spPr>
          <a:xfrm>
            <a:off x="914400" y="722376"/>
            <a:ext cx="7315200" cy="640080"/>
          </a:xfrm>
          <a:prstGeom prst="rect">
            <a:avLst/>
          </a:prstGeom>
          <a:noFill/>
          <a:ln/>
        </p:spPr>
        <p:txBody>
          <a:bodyPr wrap="square" rtlCol="0" anchor="ctr"/>
          <a:lstStyle/>
          <a:p>
            <a:pPr marL="0" indent="0" algn="ctr">
              <a:buNone/>
            </a:pPr>
            <a:r>
              <a:rPr lang="en-US" sz="4200" b="1" dirty="0">
                <a:solidFill>
                  <a:srgbClr val="00BCD4"/>
                </a:solidFill>
                <a:latin typeface="Calibri" pitchFamily="34" charset="0"/>
                <a:ea typeface="Calibri" pitchFamily="34" charset="-122"/>
                <a:cs typeface="Calibri" pitchFamily="34" charset="-120"/>
              </a:rPr>
              <a:t>CONCLUSION</a:t>
            </a:r>
            <a:endParaRPr lang="en-US" sz="4200" dirty="0"/>
          </a:p>
        </p:txBody>
      </p:sp>
      <p:sp>
        <p:nvSpPr>
          <p:cNvPr id="6" name="Shape 4"/>
          <p:cNvSpPr/>
          <p:nvPr/>
        </p:nvSpPr>
        <p:spPr>
          <a:xfrm>
            <a:off x="274320" y="1600200"/>
            <a:ext cx="4160520" cy="2697480"/>
          </a:xfrm>
          <a:prstGeom prst="rect">
            <a:avLst/>
          </a:prstGeom>
          <a:solidFill>
            <a:srgbClr val="0D2547"/>
          </a:solidFill>
          <a:ln w="12700">
            <a:solidFill>
              <a:srgbClr val="1E88E5"/>
            </a:solidFill>
            <a:prstDash val="solid"/>
          </a:ln>
        </p:spPr>
      </p:sp>
      <p:sp>
        <p:nvSpPr>
          <p:cNvPr id="7" name="Text 5"/>
          <p:cNvSpPr/>
          <p:nvPr/>
        </p:nvSpPr>
        <p:spPr>
          <a:xfrm>
            <a:off x="457200" y="1709928"/>
            <a:ext cx="3794760" cy="320040"/>
          </a:xfrm>
          <a:prstGeom prst="rect">
            <a:avLst/>
          </a:prstGeom>
          <a:noFill/>
          <a:ln/>
        </p:spPr>
        <p:txBody>
          <a:bodyPr wrap="square" rtlCol="0" anchor="ctr"/>
          <a:lstStyle/>
          <a:p>
            <a:pPr marL="0" indent="0">
              <a:buNone/>
            </a:pPr>
            <a:r>
              <a:rPr lang="en-US" sz="1100" b="1" kern="0" spc="200" dirty="0">
                <a:solidFill>
                  <a:srgbClr val="00BCD4"/>
                </a:solidFill>
              </a:rPr>
              <a:t>KEY ACHIEVEMENTS</a:t>
            </a:r>
            <a:endParaRPr lang="en-US" sz="1100" dirty="0"/>
          </a:p>
        </p:txBody>
      </p:sp>
      <p:sp>
        <p:nvSpPr>
          <p:cNvPr id="8" name="Shape 6"/>
          <p:cNvSpPr/>
          <p:nvPr/>
        </p:nvSpPr>
        <p:spPr>
          <a:xfrm>
            <a:off x="457200" y="2011680"/>
            <a:ext cx="3749040" cy="36576"/>
          </a:xfrm>
          <a:prstGeom prst="rect">
            <a:avLst/>
          </a:prstGeom>
          <a:solidFill>
            <a:srgbClr val="00BCD4"/>
          </a:solidFill>
          <a:ln w="12700">
            <a:solidFill>
              <a:srgbClr val="00BCD4"/>
            </a:solidFill>
            <a:prstDash val="solid"/>
          </a:ln>
        </p:spPr>
      </p:sp>
      <p:sp>
        <p:nvSpPr>
          <p:cNvPr id="9" name="Shape 7"/>
          <p:cNvSpPr/>
          <p:nvPr/>
        </p:nvSpPr>
        <p:spPr>
          <a:xfrm>
            <a:off x="457200" y="2148840"/>
            <a:ext cx="182880" cy="182880"/>
          </a:xfrm>
          <a:prstGeom prst="ellipse">
            <a:avLst/>
          </a:prstGeom>
          <a:solidFill>
            <a:srgbClr val="00897B"/>
          </a:solidFill>
          <a:ln w="12700">
            <a:solidFill>
              <a:srgbClr val="00897B"/>
            </a:solidFill>
            <a:prstDash val="solid"/>
          </a:ln>
        </p:spPr>
      </p:sp>
      <p:sp>
        <p:nvSpPr>
          <p:cNvPr id="10" name="Text 8"/>
          <p:cNvSpPr/>
          <p:nvPr/>
        </p:nvSpPr>
        <p:spPr>
          <a:xfrm>
            <a:off x="71323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Integrated mechanical vibration analysis with explainable ML pipeline</a:t>
            </a:r>
            <a:endParaRPr lang="en-US" sz="1000" dirty="0"/>
          </a:p>
        </p:txBody>
      </p:sp>
      <p:sp>
        <p:nvSpPr>
          <p:cNvPr id="11" name="Shape 9"/>
          <p:cNvSpPr/>
          <p:nvPr/>
        </p:nvSpPr>
        <p:spPr>
          <a:xfrm>
            <a:off x="457200" y="2660904"/>
            <a:ext cx="182880" cy="182880"/>
          </a:xfrm>
          <a:prstGeom prst="ellipse">
            <a:avLst/>
          </a:prstGeom>
          <a:solidFill>
            <a:srgbClr val="00897B"/>
          </a:solidFill>
          <a:ln w="12700">
            <a:solidFill>
              <a:srgbClr val="00897B"/>
            </a:solidFill>
            <a:prstDash val="solid"/>
          </a:ln>
        </p:spPr>
      </p:sp>
      <p:sp>
        <p:nvSpPr>
          <p:cNvPr id="12" name="Text 10"/>
          <p:cNvSpPr/>
          <p:nvPr/>
        </p:nvSpPr>
        <p:spPr>
          <a:xfrm>
            <a:off x="71323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Developed practical tool bridging academia and industry deployment</a:t>
            </a:r>
            <a:endParaRPr lang="en-US" sz="1000" dirty="0"/>
          </a:p>
        </p:txBody>
      </p:sp>
      <p:sp>
        <p:nvSpPr>
          <p:cNvPr id="13" name="Shape 11"/>
          <p:cNvSpPr/>
          <p:nvPr/>
        </p:nvSpPr>
        <p:spPr>
          <a:xfrm>
            <a:off x="457200" y="3172968"/>
            <a:ext cx="182880" cy="182880"/>
          </a:xfrm>
          <a:prstGeom prst="ellipse">
            <a:avLst/>
          </a:prstGeom>
          <a:solidFill>
            <a:srgbClr val="00897B"/>
          </a:solidFill>
          <a:ln w="12700">
            <a:solidFill>
              <a:srgbClr val="00897B"/>
            </a:solidFill>
            <a:prstDash val="solid"/>
          </a:ln>
        </p:spPr>
      </p:sp>
      <p:sp>
        <p:nvSpPr>
          <p:cNvPr id="14" name="Text 12"/>
          <p:cNvSpPr/>
          <p:nvPr/>
        </p:nvSpPr>
        <p:spPr>
          <a:xfrm>
            <a:off x="71323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97.59% accuracy with Random Forest on CWRU benchmark dataset</a:t>
            </a:r>
            <a:endParaRPr lang="en-US" sz="1000" dirty="0"/>
          </a:p>
        </p:txBody>
      </p:sp>
      <p:sp>
        <p:nvSpPr>
          <p:cNvPr id="15" name="Shape 13"/>
          <p:cNvSpPr/>
          <p:nvPr/>
        </p:nvSpPr>
        <p:spPr>
          <a:xfrm>
            <a:off x="457200" y="3685032"/>
            <a:ext cx="182880" cy="182880"/>
          </a:xfrm>
          <a:prstGeom prst="ellipse">
            <a:avLst/>
          </a:prstGeom>
          <a:solidFill>
            <a:srgbClr val="00897B"/>
          </a:solidFill>
          <a:ln w="12700">
            <a:solidFill>
              <a:srgbClr val="00897B"/>
            </a:solidFill>
            <a:prstDash val="solid"/>
          </a:ln>
        </p:spPr>
      </p:sp>
      <p:sp>
        <p:nvSpPr>
          <p:cNvPr id="16" name="Text 14"/>
          <p:cNvSpPr/>
          <p:nvPr/>
        </p:nvSpPr>
        <p:spPr>
          <a:xfrm>
            <a:off x="71323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Interactive Streamlit dashboard for live inference &amp; demo</a:t>
            </a:r>
            <a:endParaRPr lang="en-US" sz="1000" dirty="0"/>
          </a:p>
        </p:txBody>
      </p:sp>
      <p:sp>
        <p:nvSpPr>
          <p:cNvPr id="17" name="Shape 15"/>
          <p:cNvSpPr/>
          <p:nvPr/>
        </p:nvSpPr>
        <p:spPr>
          <a:xfrm>
            <a:off x="4709160" y="1600200"/>
            <a:ext cx="4160520" cy="2697480"/>
          </a:xfrm>
          <a:prstGeom prst="rect">
            <a:avLst/>
          </a:prstGeom>
          <a:solidFill>
            <a:srgbClr val="0D2547"/>
          </a:solidFill>
          <a:ln w="12700">
            <a:solidFill>
              <a:srgbClr val="FF6F00"/>
            </a:solidFill>
            <a:prstDash val="solid"/>
          </a:ln>
        </p:spPr>
      </p:sp>
      <p:sp>
        <p:nvSpPr>
          <p:cNvPr id="18" name="Text 16"/>
          <p:cNvSpPr/>
          <p:nvPr/>
        </p:nvSpPr>
        <p:spPr>
          <a:xfrm>
            <a:off x="4892040" y="1709928"/>
            <a:ext cx="3794760" cy="320040"/>
          </a:xfrm>
          <a:prstGeom prst="rect">
            <a:avLst/>
          </a:prstGeom>
          <a:noFill/>
          <a:ln/>
        </p:spPr>
        <p:txBody>
          <a:bodyPr wrap="square" rtlCol="0" anchor="ctr"/>
          <a:lstStyle/>
          <a:p>
            <a:pPr marL="0" indent="0">
              <a:buNone/>
            </a:pPr>
            <a:r>
              <a:rPr lang="en-US" sz="1100" b="1" kern="0" spc="200" dirty="0">
                <a:solidFill>
                  <a:srgbClr val="FF6F00"/>
                </a:solidFill>
              </a:rPr>
              <a:t>FUTURE SCOPE</a:t>
            </a:r>
            <a:endParaRPr lang="en-US" sz="1100" dirty="0"/>
          </a:p>
        </p:txBody>
      </p:sp>
      <p:sp>
        <p:nvSpPr>
          <p:cNvPr id="19" name="Shape 17"/>
          <p:cNvSpPr/>
          <p:nvPr/>
        </p:nvSpPr>
        <p:spPr>
          <a:xfrm>
            <a:off x="4892040" y="2011680"/>
            <a:ext cx="3749040" cy="36576"/>
          </a:xfrm>
          <a:prstGeom prst="rect">
            <a:avLst/>
          </a:prstGeom>
          <a:solidFill>
            <a:srgbClr val="FF6F00"/>
          </a:solidFill>
          <a:ln w="12700">
            <a:solidFill>
              <a:srgbClr val="FF6F00"/>
            </a:solidFill>
            <a:prstDash val="solid"/>
          </a:ln>
        </p:spPr>
      </p:sp>
      <p:sp>
        <p:nvSpPr>
          <p:cNvPr id="20" name="Shape 18"/>
          <p:cNvSpPr/>
          <p:nvPr/>
        </p:nvSpPr>
        <p:spPr>
          <a:xfrm>
            <a:off x="4892040" y="2148840"/>
            <a:ext cx="182880" cy="164592"/>
          </a:xfrm>
          <a:prstGeom prst="rect">
            <a:avLst/>
          </a:prstGeom>
          <a:solidFill>
            <a:srgbClr val="FF6F00"/>
          </a:solidFill>
          <a:ln w="12700">
            <a:solidFill>
              <a:srgbClr val="FF6F00"/>
            </a:solidFill>
            <a:prstDash val="solid"/>
          </a:ln>
        </p:spPr>
      </p:sp>
      <p:sp>
        <p:nvSpPr>
          <p:cNvPr id="21" name="Text 19"/>
          <p:cNvSpPr/>
          <p:nvPr/>
        </p:nvSpPr>
        <p:spPr>
          <a:xfrm>
            <a:off x="514807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Validate on additional industrial real-world datasets</a:t>
            </a:r>
            <a:endParaRPr lang="en-US" sz="1000" dirty="0"/>
          </a:p>
        </p:txBody>
      </p:sp>
      <p:sp>
        <p:nvSpPr>
          <p:cNvPr id="22" name="Shape 20"/>
          <p:cNvSpPr/>
          <p:nvPr/>
        </p:nvSpPr>
        <p:spPr>
          <a:xfrm>
            <a:off x="4892040" y="2660904"/>
            <a:ext cx="182880" cy="164592"/>
          </a:xfrm>
          <a:prstGeom prst="rect">
            <a:avLst/>
          </a:prstGeom>
          <a:solidFill>
            <a:srgbClr val="FF6F00"/>
          </a:solidFill>
          <a:ln w="12700">
            <a:solidFill>
              <a:srgbClr val="FF6F00"/>
            </a:solidFill>
            <a:prstDash val="solid"/>
          </a:ln>
        </p:spPr>
      </p:sp>
      <p:sp>
        <p:nvSpPr>
          <p:cNvPr id="23" name="Text 21"/>
          <p:cNvSpPr/>
          <p:nvPr/>
        </p:nvSpPr>
        <p:spPr>
          <a:xfrm>
            <a:off x="514807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Extend to XGBoost, 1D-CNN for higher accuracy</a:t>
            </a:r>
            <a:endParaRPr lang="en-US" sz="1000" dirty="0"/>
          </a:p>
        </p:txBody>
      </p:sp>
      <p:sp>
        <p:nvSpPr>
          <p:cNvPr id="24" name="Shape 22"/>
          <p:cNvSpPr/>
          <p:nvPr/>
        </p:nvSpPr>
        <p:spPr>
          <a:xfrm>
            <a:off x="4892040" y="3172968"/>
            <a:ext cx="182880" cy="164592"/>
          </a:xfrm>
          <a:prstGeom prst="rect">
            <a:avLst/>
          </a:prstGeom>
          <a:solidFill>
            <a:srgbClr val="FF6F00"/>
          </a:solidFill>
          <a:ln w="12700">
            <a:solidFill>
              <a:srgbClr val="FF6F00"/>
            </a:solidFill>
            <a:prstDash val="solid"/>
          </a:ln>
        </p:spPr>
      </p:sp>
      <p:sp>
        <p:nvSpPr>
          <p:cNvPr id="25" name="Text 23"/>
          <p:cNvSpPr/>
          <p:nvPr/>
        </p:nvSpPr>
        <p:spPr>
          <a:xfrm>
            <a:off x="514807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Fault severity estimation and remaining useful life (RUL)</a:t>
            </a:r>
            <a:endParaRPr lang="en-US" sz="1000" dirty="0"/>
          </a:p>
        </p:txBody>
      </p:sp>
      <p:sp>
        <p:nvSpPr>
          <p:cNvPr id="26" name="Shape 24"/>
          <p:cNvSpPr/>
          <p:nvPr/>
        </p:nvSpPr>
        <p:spPr>
          <a:xfrm>
            <a:off x="4892040" y="3685032"/>
            <a:ext cx="182880" cy="164592"/>
          </a:xfrm>
          <a:prstGeom prst="rect">
            <a:avLst/>
          </a:prstGeom>
          <a:solidFill>
            <a:srgbClr val="FF6F00"/>
          </a:solidFill>
          <a:ln w="12700">
            <a:solidFill>
              <a:srgbClr val="FF6F00"/>
            </a:solidFill>
            <a:prstDash val="solid"/>
          </a:ln>
        </p:spPr>
      </p:sp>
      <p:sp>
        <p:nvSpPr>
          <p:cNvPr id="27" name="Text 25"/>
          <p:cNvSpPr/>
          <p:nvPr/>
        </p:nvSpPr>
        <p:spPr>
          <a:xfrm>
            <a:off x="514807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Deployment on edge computing IoT devices</a:t>
            </a:r>
            <a:endParaRPr lang="en-US" sz="1000" dirty="0"/>
          </a:p>
        </p:txBody>
      </p:sp>
      <p:sp>
        <p:nvSpPr>
          <p:cNvPr id="28" name="Shape 26"/>
          <p:cNvSpPr/>
          <p:nvPr/>
        </p:nvSpPr>
        <p:spPr>
          <a:xfrm>
            <a:off x="0" y="4480560"/>
            <a:ext cx="9144000" cy="662940"/>
          </a:xfrm>
          <a:prstGeom prst="rect">
            <a:avLst/>
          </a:prstGeom>
          <a:solidFill>
            <a:srgbClr val="061020"/>
          </a:solidFill>
          <a:ln w="12700">
            <a:solidFill>
              <a:srgbClr val="061020"/>
            </a:solidFill>
            <a:prstDash val="solid"/>
          </a:ln>
        </p:spPr>
      </p:sp>
      <p:sp>
        <p:nvSpPr>
          <p:cNvPr id="29" name="Text 27"/>
          <p:cNvSpPr/>
          <p:nvPr/>
        </p:nvSpPr>
        <p:spPr>
          <a:xfrm>
            <a:off x="457200" y="4544568"/>
            <a:ext cx="8229600" cy="347472"/>
          </a:xfrm>
          <a:prstGeom prst="rect">
            <a:avLst/>
          </a:prstGeom>
          <a:noFill/>
          <a:ln/>
        </p:spPr>
        <p:txBody>
          <a:bodyPr wrap="square" rtlCol="0" anchor="ctr"/>
          <a:lstStyle/>
          <a:p>
            <a:pPr marL="0" indent="0" algn="ctr">
              <a:buNone/>
            </a:pPr>
            <a:r>
              <a:rPr lang="en-US" sz="1600" b="1" dirty="0">
                <a:solidFill>
                  <a:srgbClr val="00BCD4"/>
                </a:solidFill>
              </a:rPr>
              <a:t>Thank You for Your Attention!</a:t>
            </a:r>
            <a:endParaRPr lang="en-US" sz="1600" dirty="0"/>
          </a:p>
        </p:txBody>
      </p:sp>
      <p:sp>
        <p:nvSpPr>
          <p:cNvPr id="30" name="Text 28"/>
          <p:cNvSpPr/>
          <p:nvPr/>
        </p:nvSpPr>
        <p:spPr>
          <a:xfrm>
            <a:off x="457200" y="4828032"/>
            <a:ext cx="8229600" cy="228600"/>
          </a:xfrm>
          <a:prstGeom prst="rect">
            <a:avLst/>
          </a:prstGeom>
          <a:noFill/>
          <a:ln/>
        </p:spPr>
        <p:txBody>
          <a:bodyPr wrap="square" rtlCol="0" anchor="ctr"/>
          <a:lstStyle/>
          <a:p>
            <a:pPr marL="0" indent="0" algn="ctr">
              <a:buNone/>
            </a:pPr>
            <a:r>
              <a:rPr lang="en-US" sz="900" dirty="0">
                <a:solidFill>
                  <a:srgbClr val="8ECAE6"/>
                </a:solidFill>
              </a:rPr>
              <a:t>Pradeep Modak &amp; Ashwini Kumar  |  Dept. of Mechanical Engineering, NIT Jamshedpur  |  April 2026</a:t>
            </a:r>
            <a:endParaRPr lang="en-US" sz="900" dirty="0"/>
          </a:p>
        </p:txBody>
      </p:sp>
    </p:spTree>
  </p:cSld>
  <p:clrMapOvr>
    <a:masterClrMapping/>
  </p:clrMapOvr>
</p:sld>
</file>

<file path=ppt/slides/slide14.xml><?xml version="1.0" encoding="utf-8"?>
<ns0:sld xmlns:ns0="http://schemas.openxmlformats.org/presentationml/2006/main" xmlns:ns1="http://schemas.openxmlformats.org/drawingml/2006/main" xmlns:ns2="http://schemas.openxmlformats.org/markup-compatibility/2006" xmlns:ns3="http://schemas.microsoft.com/office/powerpoint/2010/main" xmlns:ns4="http://schemas.openxmlformats.org/officeDocument/2006/relationships" xmlns:ns5="http://schemas.microsoft.com/office/drawing/2014/main">
  <ns0:cSld>
    <ns0:spTree>
      <ns0:nvGrpSpPr>
        <ns0:cNvPr id="1" name=""/>
        <ns0:cNvGrpSpPr/>
        <ns0:nvPr/>
      </ns0:nvGrpSpPr>
      <ns0:grpSpPr>
        <ns1:xfrm>
          <ns1:off x="0" y="0"/>
          <ns1:ext cx="0" cy="0"/>
          <ns1:chOff x="0" y="0"/>
          <ns1:chExt cx="0" cy="0"/>
        </ns1:xfrm>
      </ns0:grpSpPr>
      <ns2:AlternateContent>
        <ns2:Choice Requires="p14">
          <ns0:contentPart ns3:bwMode="auto" ns4:id="rId2">
            <ns3:nvContentPartPr>
              <ns3:cNvPr id="6" name="Ink 5">
                <ns1:extLst>
                  <ns1:ext uri="{FF2B5EF4-FFF2-40B4-BE49-F238E27FC236}">
                    <ns5:creationId id="{EB9434AF-FD83-CA1B-8D0F-FB44F21336FF}"/>
                  </ns1:ext>
                </ns1:extLst>
              </ns3:cNvPr>
              <ns3:cNvContentPartPr/>
              <ns3:nvPr/>
            </ns3:nvContentPartPr>
            <ns3:xfrm>
              <ns1:off x="7457253" y="1347827"/>
              <ns1:ext cx="360" cy="360"/>
            </ns3:xfrm>
          </ns0:contentPart>
        </ns2:Choice>
        <ns2:Fallback>
          <ns0:pic>
            <ns0:nvPicPr>
              <ns0:cNvPr id="6" name="Ink 5">
                <ns1:extLst>
                  <ns1:ext uri="{FF2B5EF4-FFF2-40B4-BE49-F238E27FC236}">
                    <ns5:creationId id="{EB9434AF-FD83-CA1B-8D0F-FB44F21336FF}"/>
                  </ns1:ext>
                </ns1:extLst>
              </ns0:cNvPr>
              <ns0:cNvPicPr/>
              <ns0:nvPr/>
            </ns0:nvPicPr>
            <ns0:blipFill>
              <ns1:blip ns4:embed="rId3"/>
              <ns1:stretch>
                <ns1:fillRect/>
              </ns1:stretch>
            </ns0:blipFill>
            <ns0:spPr>
              <ns1:xfrm>
                <ns1:off x="7451133" y="1341707"/>
                <ns1:ext cx="12600" cy="12600"/>
              </ns1:xfrm>
              <ns1:prstGeom prst="rect">
                <ns1:avLst/>
              </ns1:prstGeom>
            </ns0:spPr>
          </ns0:pic>
        </ns2:Fallback>
      </ns2:AlternateContent>
      <ns0:sp>
        <ns0:nvSpPr>
          <ns0:cNvPr id="8" name="TextBox 7">
            <ns1:extLst>
              <ns1:ext uri="{FF2B5EF4-FFF2-40B4-BE49-F238E27FC236}">
                <ns5:creationId id="{E77B9DFE-D00C-BA3D-EF4A-065C02EF6D2E}"/>
              </ns1:ext>
            </ns1:extLst>
          </ns0:cNvPr>
          <ns0:cNvSpPr txBox="1"/>
          <ns0:nvPr/>
        </ns0:nvSpPr>
        <ns0:spPr>
          <ns1:xfrm>
            <ns1:off x="1396800" y="597600"/>
            <ns1:ext cx="2983509" cy="738664"/>
          </ns1:xfrm>
          <ns1:prstGeom prst="rect">
            <ns1:avLst/>
          </ns1:prstGeom>
          <ns1:noFill/>
        </ns0:spPr>
        <ns0:txBody>
          <ns1:bodyPr wrap="none" rtlCol="0">
            <ns1:spAutoFit/>
          </ns1:bodyPr>
          <ns1:lstStyle/>
          <ns1:p>
            <ns1:r>
              <ns1:rPr lang="en-US" sz="4200" b="1" dirty="0">
                <ns1:latin typeface="Calibri" panose="020F0502020204030204" pitchFamily="34" charset="0"/>
                <ns1:ea typeface="Calibri" panose="020F0502020204030204" pitchFamily="34" charset="0"/>
                <ns1:cs typeface="Calibri" panose="020F0502020204030204" pitchFamily="34" charset="0"/>
              </ns1:rPr>
              <ns1:t>REFERENCES</ns1:t>
            </ns1:r>
            <ns1:endParaRPr lang="en-IN" sz="4200" b="1" dirty="0">
              <ns1:latin typeface="Calibri" panose="020F0502020204030204" pitchFamily="34" charset="0"/>
              <ns1:ea typeface="Calibri" panose="020F0502020204030204" pitchFamily="34" charset="0"/>
              <ns1:cs typeface="Calibri" panose="020F0502020204030204" pitchFamily="34" charset="0"/>
            </ns1:endParaRPr>
          </ns1:p>
        </ns0:txBody>
      </ns0:sp>
      <ns0:sp>
        <ns0:nvSpPr>
          <ns0:cNvPr id="9" name="TextBox 8">
            <ns1:extLst>
              <ns1:ext uri="{FF2B5EF4-FFF2-40B4-BE49-F238E27FC236}">
                <ns5:creationId id="{37CFE2F5-6099-FF37-1934-849F2B34F02E}"/>
              </ns1:ext>
            </ns1:extLst>
          </ns0:cNvPr>
          <ns0:cNvSpPr txBox="1"/>
          <ns0:nvPr/>
        </ns0:nvSpPr>
        <ns0:spPr>
          <ns1:xfrm>
            <ns1:off x="1123200" y="1735920"/>
            <ns1:ext cx="7732800" cy="2123658"/>
          </ns1:xfrm>
          <ns1:prstGeom prst="rect">
            <ns1:avLst/>
          </ns1:prstGeom>
          <ns1:noFill/>
        </ns0:spPr>
        <ns0:txBody>
          <ns1:bodyPr wrap="square" rtlCol="0">
            <ns1:spAutoFit/>
          </ns1:bodyPr>
          <ns1:lstStyle/>
          <ns1:p>
            <ns1:r>
              <ns1:rPr lang="en-IN" sz="1200" dirty="0">
                <ns1:solidFill>
                  <ns1:schemeClr val="bg2">
                    <ns1:lumMod val="60000"/>
                    <ns1:lumOff val="40000"/>
                  </ns1:schemeClr>
                </ns1:solidFill>
              </ns1:rPr>
              <ns1:t>[1] Case Western Reserve University Bearing Data Center, "Bearing Data Center," [Online]. Available:</ns1:t>
            </ns1:r>
            <ns1:r>
              <ns1:rPr lang="en-IN" sz="1200" dirty="0" err="1">
                <ns1:solidFill>
                  <ns1:schemeClr val="bg2">
                    <ns1:lumMod val="60000"/>
                    <ns1:lumOff val="40000"/>
                  </ns1:schemeClr>
                </ns1:solidFill>
              </ns1:rPr>
              <ns1:t/>
            </ns1:r>
            <ns1:r>
              <ns1:rPr lang="en-IN" sz="1200" dirty="0">
                <ns1:solidFill>
                  <ns1:schemeClr val="bg2">
                    <ns1:lumMod val="60000"/>
                    <ns1:lumOff val="40000"/>
                  </ns1:schemeClr>
                </ns1:solidFill>
              </ns1:rPr>
              <ns1:t/>
            </ns1:r>
            <ns1:r>
              <ns1:rPr lang="en-IN" sz="1200" dirty="0" err="1">
                <ns1:solidFill>
                  <ns1:schemeClr val="bg2">
                    <ns1:lumMod val="60000"/>
                    <ns1:lumOff val="40000"/>
                  </ns1:schemeClr>
                </ns1:solidFill>
              </ns1:rPr>
              <ns1:t>https://engineering.case.edu/bearingdatacenter</ns1:t>
            </ns1:r>
            <ns1:r>
              <ns1:rPr lang="en-IN" sz="1200" dirty="0">
                <ns1:solidFill>
                  <ns1:schemeClr val="bg2">
                    <ns1:lumMod val="60000"/>
                    <ns1:lumOff val="40000"/>
                  </ns1:schemeClr>
                </ns1:solidFill>
              </ns1:rPr>
              <ns1:t/>
            </ns1:r>
            <ns1:r>
              <ns1:rPr lang="en-IN" sz="1200" dirty="0" err="1">
                <ns1:solidFill>
                  <ns1:schemeClr val="bg2">
                    <ns1:lumMod val="60000"/>
                    <ns1:lumOff val="40000"/>
                  </ns1:schemeClr>
                </ns1:solidFill>
              </ns1:rPr>
              <ns1:t/>
            </ns1:r>
            <ns1:endParaRPr lang="en-IN" sz="1200" dirty="0">
              <ns1:solidFill>
                <ns1:schemeClr val="bg2">
                  <ns1:lumMod val="60000"/>
                  <ns1:lumOff val="40000"/>
                </ns1:schemeClr>
              </ns1:solidFill>
            </ns1:endParaRPr>
          </ns1:p>
          <ns1:p>
            <ns1:r>
              <ns1:rPr lang="en-IN" sz="1200" dirty="0">
                <ns1:solidFill>
                  <ns1:schemeClr val="bg2">
                    <ns1:lumMod val="60000"/>
                    <ns1:lumOff val="40000"/>
                  </ns1:schemeClr>
                </ns1:solidFill>
                <ns1:highlight>
                  <ns1:srgbClr val="000000"/>
                </ns1:highlight>
              </ns1:rPr>
              <ns1:t>[2] P. K. Kankar, S. C. Sharma, and S. P. Harsha,</ns1:t>
            </ns1:r>
            <ns1:r>
              <ns1:rPr lang="en-IN" sz="1200" dirty="0" err="1">
                <ns1:solidFill>
                  <ns1:schemeClr val="bg2">
                    <ns1:lumMod val="60000"/>
                    <ns1:lumOff val="40000"/>
                  </ns1:schemeClr>
                </ns1:solidFill>
                <ns1:highlight>
                  <ns1:srgbClr val="000000"/>
                </ns1:highlight>
              </ns1:rPr>
              <ns1:t/>
            </ns1:r>
            <ns1:r>
              <ns1:rPr lang="en-IN" sz="1200" dirty="0">
                <ns1:solidFill>
                  <ns1:schemeClr val="bg2">
                    <ns1:lumMod val="60000"/>
                    <ns1:lumOff val="40000"/>
                  </ns1:schemeClr>
                </ns1:solidFill>
                <ns1:highlight>
                  <ns1:srgbClr val="000000"/>
                </ns1:highlight>
              </ns1:rPr>
              <ns1:t>"Fault diagnosis of ball bearings using machine learning methods," Expert Systems with Applications, 2011.</ns1:t>
            </ns1:r>
          </ns1:p>
          <ns1:p>
            <ns1:r>
              <ns1:rPr lang="en-IN" sz="1200" dirty="0">
                <ns1:solidFill>
                  <ns1:schemeClr val="bg2">
                    <ns1:lumMod val="60000"/>
                    <ns1:lumOff val="40000"/>
                  </ns1:schemeClr>
                </ns1:solidFill>
              </ns1:rPr>
              <ns1:t>[3] C. S. Rajeswari, S. Sathiyabama, and S. Devendiran, "Bearing fault diagnosis using wavelet packet transform, hybrid PSO and support vector machine," Procedia Engineering, 2014.</ns1:t>
            </ns1:r>
            <ns1:r>
              <ns1:rPr lang="en-IN" sz="1200" dirty="0">
                <ns1:hlinkClick ns4:id="rId4"/>
              </ns1:rPr>
              <ns1:t/>
            </ns1:r>
            <ns1:endParaRPr lang="en-IN" sz="1200" dirty="0"/>
          </ns1:p>
          <ns1:p>
            <ns1:r>
              <ns1:rPr lang="en-IN" sz="1200" dirty="0">
                <ns1:solidFill>
                  <ns1:schemeClr val="bg2">
                    <ns1:lumMod val="60000"/>
                    <ns1:lumOff val="40000"/>
                  </ns1:schemeClr>
                </ns1:solidFill>
              </ns1:rPr>
              <ns1:t>[4]</ns1:t>
            </ns1:r>
            <ns1:r>
              <ns1:rPr lang="en-IN" sz="1200" dirty="0" err="1">
                <ns1:solidFill>
                  <ns1:schemeClr val="bg2">
                    <ns1:lumMod val="60000"/>
                    <ns1:lumOff val="40000"/>
                  </ns1:schemeClr>
                </ns1:solidFill>
              </ns1:rPr>
              <ns1:t>Streamlit Documentation,</ns1:t>
            </ns1:r>
            <ns1:r>
              <ns1:rPr lang="en-IN" sz="1200" dirty="0">
                <ns1:solidFill>
                  <ns1:schemeClr val="bg2">
                    <ns1:lumMod val="60000"/>
                    <ns1:lumOff val="40000"/>
                  </ns1:schemeClr>
                </ns1:solidFill>
              </ns1:rPr>
              <ns1:t>[Online]. Available: https://docs.streamlit.io/</ns1:t>
            </ns1:r>
          </ns1:p>
        </ns0:txBody>
      </ns0:sp>
    </ns0:spTree>
    <ns0:extLst>
      <ns0:ext uri="{BB962C8B-B14F-4D97-AF65-F5344CB8AC3E}">
        <ns3:creationId val="3717431265"/>
      </ns0:ext>
    </ns0:extLst>
  </ns0:cSld>
  <ns0:clrMapOvr>
    <ns1:masterClrMapping/>
  </ns0:clrMapOvr>
</ns0:sld>
</file>

<file path=ppt/slides/slide15.xml><?xml version="1.0" encoding="utf-8"?>
<ns0:sld xmlns:ns0="http://schemas.openxmlformats.org/presentationml/2006/main" xmlns:ns1="http://schemas.openxmlformats.org/drawingml/2006/main" xmlns:ns2="http://schemas.microsoft.com/office/drawing/2014/main" xmlns:ns3="http://schemas.microsoft.com/office/powerpoint/2010/main">
  <ns0:cSld>
    <ns0:spTree>
      <ns0:nvGrpSpPr>
        <ns0:cNvPr id="1" name=""/>
        <ns0:cNvGrpSpPr/>
        <ns0:nvPr/>
      </ns0:nvGrpSpPr>
      <ns0:grpSpPr>
        <ns1:xfrm>
          <ns1:off x="0" y="0"/>
          <ns1:ext cx="0" cy="0"/>
          <ns1:chOff x="0" y="0"/>
          <ns1:chExt cx="0" cy="0"/>
        </ns1:xfrm>
      </ns0:grpSpPr>
      <ns0:sp>
        <ns0:nvSpPr>
          <ns0:cNvPr id="2" name="Text 3">
            <ns1:extLst>
              <ns1:ext uri="{FF2B5EF4-FFF2-40B4-BE49-F238E27FC236}">
                <ns2:creationId id="{79625E96-62E1-BD5F-7704-722BADDBF1A5}"/>
              </ns1:ext>
            </ns1:extLst>
          </ns0:cNvPr>
          <ns0:cNvSpPr/>
          <ns0:nvPr/>
        </ns0:nvSpPr>
        <ns0:spPr>
          <ns1:xfrm>
            <ns1:off x="365760" y="1097280"/>
            <ns1:ext cx="8412480" cy="1097280"/>
          </ns1:xfrm>
          <ns1:prstGeom prst="rect">
            <ns1:avLst/>
          </ns1:prstGeom>
          <ns1:noFill/>
          <ns1:ln/>
        </ns0:spPr>
        <ns0:txBody>
          <ns1:bodyPr wrap="square" rtlCol="0" anchor="ctr"/>
          <ns1:lstStyle/>
          <ns1:p>
            <ns1:pPr marL="0" indent="0">
              <ns1:buNone/>
            </ns1:pPr>
            <ns1:r>
              <ns1:rPr lang="en-US" sz="5600" b="1" dirty="0">
                <ns1:solidFill>
                  <ns1:srgbClr val="FFFFFF"/>
                </ns1:solidFill>
                <ns1:latin typeface="Calibri" pitchFamily="34" charset="0"/>
                <ns1:ea typeface="Calibri" pitchFamily="34" charset="-122"/>
                <ns1:cs typeface="Calibri" pitchFamily="34" charset="-120"/>
              </ns1:rPr>
              <ns1:t>Thank You</ns1:t>
            </ns1:r>
            <ns1:endParaRPr lang="en-US" sz="5600" dirty="0"/>
          </ns1:p>
        </ns0:txBody>
      </ns0:sp>
      <ns0:sp>
        <ns0:nvSpPr>
          <ns0:cNvPr id="3" name="Text 4">
            <ns1:extLst>
              <ns1:ext uri="{FF2B5EF4-FFF2-40B4-BE49-F238E27FC236}">
                <ns2:creationId id="{07B57C81-F72D-A4E4-4BC3-1B5E7ECE20CB}"/>
              </ns1:ext>
            </ns1:extLst>
          </ns0:cNvPr>
          <ns0:cNvSpPr/>
          <ns0:nvPr/>
        </ns0:nvSpPr>
        <ns0:spPr>
          <ns1:xfrm>
            <ns1:off x="365760" y="2240280"/>
            <ns1:ext cx="8412480" cy="548640"/>
          </ns1:xfrm>
          <ns1:prstGeom prst="rect">
            <ns1:avLst/>
          </ns1:prstGeom>
          <ns1:noFill/>
          <ns1:ln/>
        </ns0:spPr>
        <ns0:txBody>
          <ns1:bodyPr wrap="square" rtlCol="0" anchor="ctr"/>
          <ns1:lstStyle/>
          <ns1:p>
            <ns1:pPr marL="0" indent="0">
              <ns1:buNone/>
            </ns1:pPr>
            <ns1:r>
              <ns1:rPr lang="en-US" sz="2200" dirty="0">
                <ns1:solidFill>
                  <ns1:srgbClr val="00C9D4"/>
                </ns1:solidFill>
                <ns1:latin typeface="Calibri" pitchFamily="34" charset="0"/>
                <ns1:ea typeface="Calibri" pitchFamily="34" charset="-122"/>
                <ns1:cs typeface="Calibri" pitchFamily="34" charset="-120"/>
              </ns1:rPr>
              <ns1:t>Questions &amp; Discussion</ns1:t>
            </ns1:r>
            <ns1:endParaRPr lang="en-US" sz="2200" dirty="0"/>
          </ns1:p>
        </ns0:txBody>
      </ns0:sp>
      <ns0:sp>
        <ns0:nvSpPr>
          <ns0:cNvPr id="4" name="Shape 5">
            <ns1:extLst>
              <ns1:ext uri="{FF2B5EF4-FFF2-40B4-BE49-F238E27FC236}">
                <ns2:creationId id="{6EFC6F50-4E4D-3805-518E-8089F47FBC4F}"/>
              </ns1:ext>
            </ns1:extLst>
          </ns0:cNvPr>
          <ns0:cNvSpPr/>
          <ns0:nvPr/>
        </ns0:nvSpPr>
        <ns0:spPr>
          <ns1:xfrm>
            <ns1:off x="365760" y="2834640"/>
            <ns1:ext cx="4572000" cy="27432"/>
          </ns1:xfrm>
          <ns1:prstGeom prst="rect">
            <ns1:avLst/>
          </ns1:prstGeom>
          <ns1:solidFill>
            <ns1:srgbClr val="148A9C"/>
          </ns1:solidFill>
          <ns1:ln/>
        </ns0:spPr>
        <ns0:txBody>
          <ns1:bodyPr/>
          <ns1:lstStyle/>
          <ns1:p>
            <ns1:endParaRPr/>
          </ns1:p>
        </ns0:txBody>
      </ns0:sp>
      <ns0:sp>
        <ns0:nvSpPr>
          <ns0:cNvPr id="5" name="Text 6">
            <ns1:extLst>
              <ns1:ext uri="{FF2B5EF4-FFF2-40B4-BE49-F238E27FC236}">
                <ns2:creationId id="{FDAC5B15-4E01-B36F-3C94-89AEC01CAAE6}"/>
              </ns1:ext>
            </ns1:extLst>
          </ns0:cNvPr>
          <ns0:cNvSpPr/>
          <ns0:nvPr/>
        </ns0:nvSpPr>
        <ns0:spPr>
          <ns1:xfrm>
            <ns1:off x="365760" y="2971800"/>
            <ns1:ext cx="8412480" cy="320040"/>
          </ns1:xfrm>
          <ns1:prstGeom prst="rect">
            <ns1:avLst/>
          </ns1:prstGeom>
          <ns1:noFill/>
          <ns1:ln/>
        </ns0:spPr>
        <ns0:txBody>
          <ns1:bodyPr wrap="square" rtlCol="0" anchor="ctr"/>
          <ns1:lstStyle/>
          <ns1:p>
            <ns1:pPr marL="0" indent="0">
              <ns1:buNone/>
            </ns1:pPr>
            <ns1:r>
              <ns1:rPr lang="en-US" sz="1300" b="1" dirty="0">
                <ns1:solidFill>
                  <ns1:srgbClr val="FFFFFF"/>
                </ns1:solidFill>
                <ns1:latin typeface="Calibri" pitchFamily="34" charset="0"/>
                <ns1:ea typeface="Calibri" pitchFamily="34" charset="-122"/>
                <ns1:cs typeface="Calibri" pitchFamily="34" charset="-120"/>
              </ns1:rPr>
              <ns1:t>Ashwini Kumar (2023UGCM004)  | Pradeep Modak (2023UGCM026)</ns1:t>
            </ns1:r>
            <ns1:endParaRPr lang="en-US" sz="1300" dirty="0"/>
          </ns1:p>
        </ns0:txBody>
      </ns0:sp>
      <ns0:sp>
        <ns0:nvSpPr>
          <ns0:cNvPr id="6" name="Text 7">
            <ns1:extLst>
              <ns1:ext uri="{FF2B5EF4-FFF2-40B4-BE49-F238E27FC236}">
                <ns2:creationId id="{F6E2B91B-3357-DFCA-57EF-A782ACADC0B5}"/>
              </ns1:ext>
            </ns1:extLst>
          </ns0:cNvPr>
          <ns0:cNvSpPr/>
          <ns0:nvPr/>
        </ns0:nvSpPr>
        <ns0:spPr>
          <ns1:xfrm>
            <ns1:off x="365760" y="3337560"/>
            <ns1:ext cx="8412480" cy="274320"/>
          </ns1:xfrm>
          <ns1:prstGeom prst="rect">
            <ns1:avLst/>
          </ns1:prstGeom>
          <ns1:noFill/>
          <ns1:ln/>
        </ns0:spPr>
        <ns0:txBody>
          <ns1:bodyPr wrap="square" rtlCol="0" anchor="ctr"/>
          <ns1:lstStyle/>
          <ns1:p>
            <ns1:pPr marL="0" indent="0">
              <ns1:buNone/>
            </ns1:pPr>
            <ns1:r>
              <ns1:rPr lang="en-US" sz="1150" dirty="0">
                <ns1:solidFill>
                  <ns1:srgbClr val="A0C4CF"/>
                </ns1:solidFill>
                <ns1:latin typeface="Calibri" pitchFamily="34" charset="0"/>
                <ns1:ea typeface="Calibri" pitchFamily="34" charset="-122"/>
                <ns1:cs typeface="Calibri" pitchFamily="34" charset="-120"/>
              </ns1:rPr>
              <ns1:t>Supervisors: Dr. Saroj Sarangi  |  Dr. Abhijit Dey</ns1:t>
            </ns1:r>
            <ns1:endParaRPr lang="en-US" sz="1150" dirty="0"/>
          </ns1:p>
        </ns0:txBody>
      </ns0:sp>
      <ns0:sp>
        <ns0:nvSpPr>
          <ns0:cNvPr id="7" name="Text 8">
            <ns1:extLst>
              <ns1:ext uri="{FF2B5EF4-FFF2-40B4-BE49-F238E27FC236}">
                <ns2:creationId id="{972E8628-FBF6-B3CD-C421-48AAF36D0C79}"/>
              </ns1:ext>
            </ns1:extLst>
          </ns0:cNvPr>
          <ns0:cNvSpPr/>
          <ns0:nvPr/>
        </ns0:nvSpPr>
        <ns0:spPr>
          <ns1:xfrm>
            <ns1:off x="365760" y="4709160"/>
            <ns1:ext cx="8412480" cy="256032"/>
          </ns1:xfrm>
          <ns1:prstGeom prst="rect">
            <ns1:avLst/>
          </ns1:prstGeom>
          <ns1:noFill/>
          <ns1:ln/>
        </ns0:spPr>
        <ns0:txBody>
          <ns1:bodyPr wrap="square" rtlCol="0" anchor="ctr"/>
          <ns1:lstStyle/>
          <ns1:p>
            <ns1:pPr marL="0" indent="0">
              <ns1:buNone/>
            </ns1:pPr>
            <ns1:r>
              <ns1:rPr lang="en-US" sz="1000" dirty="0">
                <ns1:solidFill>
                  <ns1:srgbClr val="607D8B"/>
                </ns1:solidFill>
                <ns1:latin typeface="Calibri" pitchFamily="34" charset="0"/>
                <ns1:ea typeface="Calibri" pitchFamily="34" charset="-122"/>
                <ns1:cs typeface="Calibri" pitchFamily="34" charset="-120"/>
              </ns1:rPr>
              <ns1:t>NIT Jamshedpur · Dept. of Mechanical Engineering · April 2026</ns1:t>
            </ns1:r>
            <ns1:endParaRPr lang="en-US" sz="1000" dirty="0"/>
          </ns1:p>
        </ns0:txBody>
      </ns0:sp>
    </ns0:spTree>
    <ns0:extLst>
      <ns0:ext uri="{BB962C8B-B14F-4D97-AF65-F5344CB8AC3E}">
        <ns3:creationId val="2612931164"/>
      </ns0:ext>
    </ns0:extLst>
  </ns0:cSld>
  <ns0:clrMapOvr>
    <ns1:masterClrMapping/>
  </ns0:clrMapOvr>
</ns0: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57</TotalTime>
  <Words>1361</Words>
  <Application>Microsoft Office PowerPoint</Application>
  <PresentationFormat>On-screen Show (16:9)</PresentationFormat>
  <Paragraphs>294</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Bearing Fault Diagnosis</dc:title>
  <dc:subject>PptxGenJS Presentation</dc:subject>
  <dc:creator>PptxGenJS</dc:creator>
  <cp:lastModifiedBy>Ashwini Kumar  chandravanshi</cp:lastModifiedBy>
  <cp:revision>5</cp:revision>
  <dcterms:created xsi:type="dcterms:W3CDTF">2026-04-27T05:25:31Z</dcterms:created>
  <dcterms:modified xsi:type="dcterms:W3CDTF">2026-04-27T06:38:09Z</dcterms:modified>
</cp:coreProperties>
</file>